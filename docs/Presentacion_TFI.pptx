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4.xml" ContentType="application/vnd.openxmlformats-officedocument.drawingml.chart+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icio" id="{77BF6A15-0D9A-1CD7-FB18-A77D4EF6C83B}">
          <p14:sldIdLst>
            <p14:sldId id="256"/>
            <p14:sldId id="257"/>
          </p14:sldIdLst>
        </p14:section>
        <p14:section name="Parte 1 · Red Carpenter-Grossberg" id="{0645148D-6A0C-DC4A-2DC3-3EB6757064B8}">
          <p14:sldIdLst>
            <p14:sldId id="258"/>
            <p14:sldId id="259"/>
            <p14:sldId id="260"/>
            <p14:sldId id="261"/>
            <p14:sldId id="262"/>
          </p14:sldIdLst>
        </p14:section>
        <p14:section name="Parte 2 · Nuestro predictor" id="{FB648B79-7858-CC6A-952D-0F184DA789F6}">
          <p14:sldIdLst>
            <p14:sldId id="263"/>
            <p14:sldId id="264"/>
            <p14:sldId id="265"/>
            <p14:sldId id="266"/>
            <p14:sldId id="267"/>
            <p14:sldId id="268"/>
            <p14:sldId id="269"/>
            <p14:sldId id="270"/>
            <p14:sldId id="271"/>
            <p14:sldId id="272"/>
            <p14:sldId id="273"/>
            <p14:sldId id="274"/>
            <p14:sldId id="275"/>
            <p14:sldId id="276"/>
            <p14:sldId id="27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1F3A"/>
                </a:solidFill>
                <a:latin typeface="+mn-lt"/>
              </a:defRPr>
            </a:pPr>
            <a:r>
              <a:rPr lang="es-AR" sz="1300" b="0" i="0" u="none" strike="noStrike">
                <a:solidFill>
                  <a:srgbClr val="0B1F3A"/>
                </a:solidFill>
                <a:latin typeface="+mn-lt"/>
              </a:rPr>
              <a:t>Pureza respecto de EM (%) ↑</a:t>
            </a:r>
          </a:p>
        </c:rich>
      </c:tx>
      <c:overlay val="0"/>
    </c:title>
    <c:autoTitleDeleted val="0"/>
    <c:plotArea>
      <c:layout/>
      <c:lineChart>
        <c:grouping val="standard"/>
        <c:varyColors val="0"/>
        <c:ser>
          <c:idx val="0"/>
          <c:order val="0"/>
          <c:tx>
            <c:strRef>
              <c:f>Sheet1!$B$1</c:f>
              <c:strCache>
                <c:ptCount val="1"/>
                <c:pt idx="0">
                  <c:v>Pureza respecto de EM (%) ↑</c:v>
                </c:pt>
              </c:strCache>
            </c:strRef>
          </c:tx>
          <c:spPr>
            <a:ln w="31750" cap="flat">
              <a:solidFill>
                <a:srgbClr val="16A34A"/>
              </a:solidFill>
              <a:prstDash val="solid"/>
              <a:round/>
            </a:ln>
            <a:effectLst/>
          </c:spPr>
          <c:marker>
            <c:symbol val="circle"/>
            <c:size val="5"/>
            <c:spPr>
              <a:solidFill>
                <a:srgbClr val="16A34A"/>
              </a:solidFill>
              <a:ln w="9525" cap="flat">
                <a:solidFill>
                  <a:srgbClr val="16A34A"/>
                </a:solidFill>
                <a:prstDash val="solid"/>
                <a:round/>
              </a:ln>
              <a:effectLst/>
            </c:spPr>
          </c:marker>
          <c:cat>
            <c:strRef>
              <c:f>Sheet1!$A$2:$A$17</c:f>
              <c:strCache>
                <c:ptCount val="16"/>
                <c:pt idx="0">
                  <c:v>0,10</c:v>
                </c:pt>
                <c:pt idx="1">
                  <c:v>0,15</c:v>
                </c:pt>
                <c:pt idx="2">
                  <c:v>0,20</c:v>
                </c:pt>
                <c:pt idx="3">
                  <c:v>0,25</c:v>
                </c:pt>
                <c:pt idx="4">
                  <c:v>0,30</c:v>
                </c:pt>
                <c:pt idx="5">
                  <c:v>0,35</c:v>
                </c:pt>
                <c:pt idx="6">
                  <c:v>0,40</c:v>
                </c:pt>
                <c:pt idx="7">
                  <c:v>0,45</c:v>
                </c:pt>
                <c:pt idx="8">
                  <c:v>0,50</c:v>
                </c:pt>
                <c:pt idx="9">
                  <c:v>0,55</c:v>
                </c:pt>
                <c:pt idx="10">
                  <c:v>0,60</c:v>
                </c:pt>
                <c:pt idx="11">
                  <c:v>0,65</c:v>
                </c:pt>
                <c:pt idx="12">
                  <c:v>0,70</c:v>
                </c:pt>
                <c:pt idx="13">
                  <c:v>0,75</c:v>
                </c:pt>
                <c:pt idx="14">
                  <c:v>0,80</c:v>
                </c:pt>
                <c:pt idx="15">
                  <c:v>0,85</c:v>
                </c:pt>
              </c:strCache>
            </c:strRef>
          </c:cat>
          <c:val>
            <c:numRef>
              <c:f>Sheet1!$B$2:$B$17</c:f>
              <c:numCache>
                <c:formatCode>General</c:formatCode>
                <c:ptCount val="16"/>
                <c:pt idx="0">
                  <c:v>39.4</c:v>
                </c:pt>
                <c:pt idx="1">
                  <c:v>41.1</c:v>
                </c:pt>
                <c:pt idx="2">
                  <c:v>52.2</c:v>
                </c:pt>
                <c:pt idx="3">
                  <c:v>60.9</c:v>
                </c:pt>
                <c:pt idx="4">
                  <c:v>63.7</c:v>
                </c:pt>
                <c:pt idx="5">
                  <c:v>63.5</c:v>
                </c:pt>
                <c:pt idx="6">
                  <c:v>70.599999999999994</c:v>
                </c:pt>
                <c:pt idx="7">
                  <c:v>66.8</c:v>
                </c:pt>
                <c:pt idx="8">
                  <c:v>73.8</c:v>
                </c:pt>
                <c:pt idx="9">
                  <c:v>76.400000000000006</c:v>
                </c:pt>
                <c:pt idx="10">
                  <c:v>78.3</c:v>
                </c:pt>
                <c:pt idx="11">
                  <c:v>81.400000000000006</c:v>
                </c:pt>
                <c:pt idx="12">
                  <c:v>84.5</c:v>
                </c:pt>
                <c:pt idx="13">
                  <c:v>87.9</c:v>
                </c:pt>
                <c:pt idx="14">
                  <c:v>90.2</c:v>
                </c:pt>
                <c:pt idx="15">
                  <c:v>91.8</c:v>
                </c:pt>
              </c:numCache>
            </c:numRef>
          </c:val>
          <c:smooth val="0"/>
          <c:extLst>
            <c:ext xmlns:c16="http://schemas.microsoft.com/office/drawing/2014/chart" uri="{C3380CC4-5D6E-409C-BE32-E72D297353CC}">
              <c16:uniqueId val="{00000000-6FA2-4D6C-B64A-6B8FD2C4734A}"/>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mn-lt"/>
              </a:defRPr>
            </a:pPr>
            <a:endParaRPr lang="en-US"/>
          </a:p>
        </c:txPr>
        <c:crossAx val="2094734552"/>
        <c:crosses val="autoZero"/>
        <c:auto val="1"/>
        <c:lblAlgn val="ctr"/>
        <c:lblOffset val="100"/>
        <c:tickLblSkip val="3"/>
        <c:noMultiLvlLbl val="1"/>
      </c:catAx>
      <c:valAx>
        <c:axId val="2094734552"/>
        <c:scaling>
          <c:orientation val="minMax"/>
          <c:max val="100"/>
          <c:min val="30"/>
        </c:scaling>
        <c:delete val="0"/>
        <c:axPos val="l"/>
        <c:majorGridlines>
          <c:spPr>
            <a:ln w="6350"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1F3A"/>
                </a:solidFill>
                <a:latin typeface="+mn-lt"/>
              </a:defRPr>
            </a:pPr>
            <a:r>
              <a:rPr lang="es-AR" sz="1300" b="0" i="0" u="none" strike="noStrike">
                <a:solidFill>
                  <a:srgbClr val="0B1F3A"/>
                </a:solidFill>
                <a:latin typeface="+mn-lt"/>
              </a:rPr>
              <a:t>Nodos creados ↓</a:t>
            </a:r>
          </a:p>
        </c:rich>
      </c:tx>
      <c:overlay val="0"/>
    </c:title>
    <c:autoTitleDeleted val="0"/>
    <c:plotArea>
      <c:layout/>
      <c:lineChart>
        <c:grouping val="standard"/>
        <c:varyColors val="0"/>
        <c:ser>
          <c:idx val="0"/>
          <c:order val="0"/>
          <c:tx>
            <c:strRef>
              <c:f>Sheet1!$B$1</c:f>
              <c:strCache>
                <c:ptCount val="1"/>
                <c:pt idx="0">
                  <c:v>Nodos creados ↓</c:v>
                </c:pt>
              </c:strCache>
            </c:strRef>
          </c:tx>
          <c:spPr>
            <a:ln w="31750" cap="flat">
              <a:solidFill>
                <a:srgbClr val="6366F1"/>
              </a:solidFill>
              <a:prstDash val="solid"/>
              <a:round/>
            </a:ln>
            <a:effectLst/>
          </c:spPr>
          <c:marker>
            <c:symbol val="circle"/>
            <c:size val="5"/>
            <c:spPr>
              <a:solidFill>
                <a:srgbClr val="6366F1"/>
              </a:solidFill>
              <a:ln w="9525" cap="flat">
                <a:solidFill>
                  <a:srgbClr val="6366F1"/>
                </a:solidFill>
                <a:prstDash val="solid"/>
                <a:round/>
              </a:ln>
              <a:effectLst/>
            </c:spPr>
          </c:marker>
          <c:cat>
            <c:strRef>
              <c:f>Sheet1!$A$2:$A$17</c:f>
              <c:strCache>
                <c:ptCount val="16"/>
                <c:pt idx="0">
                  <c:v>0,10</c:v>
                </c:pt>
                <c:pt idx="1">
                  <c:v>0,15</c:v>
                </c:pt>
                <c:pt idx="2">
                  <c:v>0,20</c:v>
                </c:pt>
                <c:pt idx="3">
                  <c:v>0,25</c:v>
                </c:pt>
                <c:pt idx="4">
                  <c:v>0,30</c:v>
                </c:pt>
                <c:pt idx="5">
                  <c:v>0,35</c:v>
                </c:pt>
                <c:pt idx="6">
                  <c:v>0,40</c:v>
                </c:pt>
                <c:pt idx="7">
                  <c:v>0,45</c:v>
                </c:pt>
                <c:pt idx="8">
                  <c:v>0,50</c:v>
                </c:pt>
                <c:pt idx="9">
                  <c:v>0,55</c:v>
                </c:pt>
                <c:pt idx="10">
                  <c:v>0,60</c:v>
                </c:pt>
                <c:pt idx="11">
                  <c:v>0,65</c:v>
                </c:pt>
                <c:pt idx="12">
                  <c:v>0,70</c:v>
                </c:pt>
                <c:pt idx="13">
                  <c:v>0,75</c:v>
                </c:pt>
                <c:pt idx="14">
                  <c:v>0,80</c:v>
                </c:pt>
                <c:pt idx="15">
                  <c:v>0,85</c:v>
                </c:pt>
              </c:strCache>
            </c:strRef>
          </c:cat>
          <c:val>
            <c:numRef>
              <c:f>Sheet1!$B$2:$B$17</c:f>
              <c:numCache>
                <c:formatCode>General</c:formatCode>
                <c:ptCount val="16"/>
                <c:pt idx="0">
                  <c:v>15</c:v>
                </c:pt>
                <c:pt idx="1">
                  <c:v>21</c:v>
                </c:pt>
                <c:pt idx="2">
                  <c:v>39</c:v>
                </c:pt>
                <c:pt idx="3">
                  <c:v>64</c:v>
                </c:pt>
                <c:pt idx="4">
                  <c:v>89</c:v>
                </c:pt>
                <c:pt idx="5">
                  <c:v>130</c:v>
                </c:pt>
                <c:pt idx="6">
                  <c:v>189</c:v>
                </c:pt>
                <c:pt idx="7">
                  <c:v>275</c:v>
                </c:pt>
                <c:pt idx="8">
                  <c:v>419</c:v>
                </c:pt>
                <c:pt idx="9">
                  <c:v>461</c:v>
                </c:pt>
                <c:pt idx="10">
                  <c:v>690</c:v>
                </c:pt>
                <c:pt idx="11">
                  <c:v>871</c:v>
                </c:pt>
                <c:pt idx="12">
                  <c:v>1220</c:v>
                </c:pt>
                <c:pt idx="13">
                  <c:v>1709</c:v>
                </c:pt>
                <c:pt idx="14">
                  <c:v>2221</c:v>
                </c:pt>
                <c:pt idx="15">
                  <c:v>2593</c:v>
                </c:pt>
              </c:numCache>
            </c:numRef>
          </c:val>
          <c:smooth val="0"/>
          <c:extLst>
            <c:ext xmlns:c16="http://schemas.microsoft.com/office/drawing/2014/chart" uri="{C3380CC4-5D6E-409C-BE32-E72D297353CC}">
              <c16:uniqueId val="{00000000-1012-4095-8E47-0147FCD2D75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mn-lt"/>
              </a:defRPr>
            </a:pPr>
            <a:endParaRPr lang="en-US"/>
          </a:p>
        </c:txPr>
        <c:crossAx val="2094734552"/>
        <c:crosses val="autoZero"/>
        <c:auto val="1"/>
        <c:lblAlgn val="ctr"/>
        <c:lblOffset val="100"/>
        <c:tickLblSkip val="3"/>
        <c:noMultiLvlLbl val="1"/>
      </c:catAx>
      <c:valAx>
        <c:axId val="2094734552"/>
        <c:scaling>
          <c:orientation val="minMax"/>
          <c:max val="3000"/>
          <c:min val="0"/>
        </c:scaling>
        <c:delete val="0"/>
        <c:axPos val="l"/>
        <c:majorGridlines>
          <c:spPr>
            <a:ln w="6350" cap="flat">
              <a:solidFill>
                <a:srgbClr val="E2E8F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1F3A"/>
                </a:solidFill>
                <a:latin typeface="+mn-lt"/>
              </a:defRPr>
            </a:pPr>
            <a:r>
              <a:rPr lang="es-MX" sz="1300" b="0" i="0" u="none" strike="noStrike">
                <a:solidFill>
                  <a:srgbClr val="0B1F3A"/>
                </a:solidFill>
                <a:latin typeface="+mn-lt"/>
              </a:rPr>
              <a:t>Error MAE (puntos sobre 10) ↓</a:t>
            </a:r>
          </a:p>
        </c:rich>
      </c:tx>
      <c:overlay val="0"/>
    </c:title>
    <c:autoTitleDeleted val="0"/>
    <c:plotArea>
      <c:layout/>
      <c:lineChart>
        <c:grouping val="standard"/>
        <c:varyColors val="0"/>
        <c:ser>
          <c:idx val="0"/>
          <c:order val="0"/>
          <c:tx>
            <c:strRef>
              <c:f>Sheet1!$B$1</c:f>
              <c:strCache>
                <c:ptCount val="1"/>
                <c:pt idx="0">
                  <c:v>Error MAE (puntos sobre 10) ↓</c:v>
                </c:pt>
              </c:strCache>
            </c:strRef>
          </c:tx>
          <c:spPr>
            <a:ln w="31750" cap="flat">
              <a:solidFill>
                <a:srgbClr val="E5484D"/>
              </a:solidFill>
              <a:prstDash val="solid"/>
              <a:round/>
            </a:ln>
            <a:effectLst/>
          </c:spPr>
          <c:marker>
            <c:symbol val="circle"/>
            <c:size val="5"/>
            <c:spPr>
              <a:solidFill>
                <a:srgbClr val="E5484D"/>
              </a:solidFill>
              <a:ln w="9525" cap="flat">
                <a:solidFill>
                  <a:srgbClr val="E5484D"/>
                </a:solidFill>
                <a:prstDash val="solid"/>
                <a:round/>
              </a:ln>
              <a:effectLst/>
            </c:spPr>
          </c:marker>
          <c:cat>
            <c:strRef>
              <c:f>Sheet1!$A$2:$A$17</c:f>
              <c:strCache>
                <c:ptCount val="16"/>
                <c:pt idx="0">
                  <c:v>0,10</c:v>
                </c:pt>
                <c:pt idx="1">
                  <c:v>0,15</c:v>
                </c:pt>
                <c:pt idx="2">
                  <c:v>0,20</c:v>
                </c:pt>
                <c:pt idx="3">
                  <c:v>0,25</c:v>
                </c:pt>
                <c:pt idx="4">
                  <c:v>0,30</c:v>
                </c:pt>
                <c:pt idx="5">
                  <c:v>0,35</c:v>
                </c:pt>
                <c:pt idx="6">
                  <c:v>0,40</c:v>
                </c:pt>
                <c:pt idx="7">
                  <c:v>0,45</c:v>
                </c:pt>
                <c:pt idx="8">
                  <c:v>0,50</c:v>
                </c:pt>
                <c:pt idx="9">
                  <c:v>0,55</c:v>
                </c:pt>
                <c:pt idx="10">
                  <c:v>0,60</c:v>
                </c:pt>
                <c:pt idx="11">
                  <c:v>0,65</c:v>
                </c:pt>
                <c:pt idx="12">
                  <c:v>0,70</c:v>
                </c:pt>
                <c:pt idx="13">
                  <c:v>0,75</c:v>
                </c:pt>
                <c:pt idx="14">
                  <c:v>0,80</c:v>
                </c:pt>
                <c:pt idx="15">
                  <c:v>0,85</c:v>
                </c:pt>
              </c:strCache>
            </c:strRef>
          </c:cat>
          <c:val>
            <c:numRef>
              <c:f>Sheet1!$B$2:$B$17</c:f>
              <c:numCache>
                <c:formatCode>General</c:formatCode>
                <c:ptCount val="16"/>
                <c:pt idx="0">
                  <c:v>1.226</c:v>
                </c:pt>
                <c:pt idx="1">
                  <c:v>1.1659999999999999</c:v>
                </c:pt>
                <c:pt idx="2">
                  <c:v>1.147</c:v>
                </c:pt>
                <c:pt idx="3">
                  <c:v>1.1020000000000001</c:v>
                </c:pt>
                <c:pt idx="4">
                  <c:v>1.028</c:v>
                </c:pt>
                <c:pt idx="5">
                  <c:v>1.05</c:v>
                </c:pt>
                <c:pt idx="6">
                  <c:v>1.036</c:v>
                </c:pt>
                <c:pt idx="7">
                  <c:v>1.042</c:v>
                </c:pt>
                <c:pt idx="8">
                  <c:v>0.97799999999999998</c:v>
                </c:pt>
                <c:pt idx="9">
                  <c:v>1.0049999999999999</c:v>
                </c:pt>
                <c:pt idx="10">
                  <c:v>0.96499999999999997</c:v>
                </c:pt>
                <c:pt idx="11">
                  <c:v>0.93500000000000005</c:v>
                </c:pt>
                <c:pt idx="12">
                  <c:v>0.95499999999999996</c:v>
                </c:pt>
                <c:pt idx="13">
                  <c:v>0.97099999999999997</c:v>
                </c:pt>
                <c:pt idx="14">
                  <c:v>0.97799999999999998</c:v>
                </c:pt>
                <c:pt idx="15">
                  <c:v>0.98899999999999999</c:v>
                </c:pt>
              </c:numCache>
            </c:numRef>
          </c:val>
          <c:smooth val="0"/>
          <c:extLst>
            <c:ext xmlns:c16="http://schemas.microsoft.com/office/drawing/2014/chart" uri="{C3380CC4-5D6E-409C-BE32-E72D297353CC}">
              <c16:uniqueId val="{00000000-8664-407D-805B-93E753D4199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mn-lt"/>
              </a:defRPr>
            </a:pPr>
            <a:endParaRPr lang="en-US"/>
          </a:p>
        </c:txPr>
        <c:crossAx val="2094734552"/>
        <c:crosses val="autoZero"/>
        <c:auto val="1"/>
        <c:lblAlgn val="ctr"/>
        <c:lblOffset val="100"/>
        <c:tickLblSkip val="3"/>
        <c:noMultiLvlLbl val="1"/>
      </c:catAx>
      <c:valAx>
        <c:axId val="2094734552"/>
        <c:scaling>
          <c:orientation val="minMax"/>
          <c:max val="1.25"/>
          <c:min val="0.9"/>
        </c:scaling>
        <c:delete val="0"/>
        <c:axPos val="l"/>
        <c:majorGridlines>
          <c:spPr>
            <a:ln w="6350" cap="flat">
              <a:solidFill>
                <a:srgbClr val="E2E8F0"/>
              </a:solidFill>
              <a:prstDash val="solid"/>
              <a:round/>
            </a:ln>
          </c:spPr>
        </c:majorGridlines>
        <c:numFmt formatCode="0.00"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64748B"/>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0B1F3A"/>
                </a:solidFill>
                <a:latin typeface="+mn-lt"/>
              </a:defRPr>
            </a:pPr>
            <a:r>
              <a:rPr lang="es-MX" sz="1300" b="0" i="0" u="none" strike="noStrike">
                <a:solidFill>
                  <a:srgbClr val="0B1F3A"/>
                </a:solidFill>
                <a:latin typeface="+mn-lt"/>
              </a:rPr>
              <a:t>Error MAE en el dataset 1 (menor es mejor)</a:t>
            </a:r>
          </a:p>
        </c:rich>
      </c:tx>
      <c:overlay val="0"/>
    </c:title>
    <c:autoTitleDeleted val="0"/>
    <c:plotArea>
      <c:layout/>
      <c:barChart>
        <c:barDir val="bar"/>
        <c:grouping val="clustered"/>
        <c:varyColors val="0"/>
        <c:ser>
          <c:idx val="0"/>
          <c:order val="0"/>
          <c:tx>
            <c:strRef>
              <c:f>Sheet1!$B$1</c:f>
              <c:strCache>
                <c:ptCount val="1"/>
                <c:pt idx="0">
                  <c:v>MAE dataset 1</c:v>
                </c:pt>
              </c:strCache>
            </c:strRef>
          </c:tx>
          <c:spPr>
            <a:solidFill>
              <a:srgbClr val="94A3B8"/>
            </a:solidFill>
            <a:effectLst/>
          </c:spPr>
          <c:invertIfNegative val="0"/>
          <c:dPt>
            <c:idx val="0"/>
            <c:invertIfNegative val="0"/>
            <c:bubble3D val="0"/>
            <c:extLst>
              <c:ext xmlns:c16="http://schemas.microsoft.com/office/drawing/2014/chart" uri="{C3380CC4-5D6E-409C-BE32-E72D297353CC}">
                <c16:uniqueId val="{00000001-9A9C-4435-83DB-01E0E825E4F7}"/>
              </c:ext>
            </c:extLst>
          </c:dPt>
          <c:dPt>
            <c:idx val="1"/>
            <c:invertIfNegative val="0"/>
            <c:bubble3D val="0"/>
            <c:extLst>
              <c:ext xmlns:c16="http://schemas.microsoft.com/office/drawing/2014/chart" uri="{C3380CC4-5D6E-409C-BE32-E72D297353CC}">
                <c16:uniqueId val="{00000003-9A9C-4435-83DB-01E0E825E4F7}"/>
              </c:ext>
            </c:extLst>
          </c:dPt>
          <c:dPt>
            <c:idx val="2"/>
            <c:invertIfNegative val="0"/>
            <c:bubble3D val="0"/>
            <c:spPr>
              <a:solidFill>
                <a:srgbClr val="0EA5A4"/>
              </a:solidFill>
              <a:effectLst/>
            </c:spPr>
            <c:extLst>
              <c:ext xmlns:c16="http://schemas.microsoft.com/office/drawing/2014/chart" uri="{C3380CC4-5D6E-409C-BE32-E72D297353CC}">
                <c16:uniqueId val="{00000005-9A9C-4435-83DB-01E0E825E4F7}"/>
              </c:ext>
            </c:extLst>
          </c:dPt>
          <c:dPt>
            <c:idx val="3"/>
            <c:invertIfNegative val="0"/>
            <c:bubble3D val="0"/>
            <c:spPr>
              <a:solidFill>
                <a:srgbClr val="CBD5E1"/>
              </a:solidFill>
              <a:effectLst/>
            </c:spPr>
            <c:extLst>
              <c:ext xmlns:c16="http://schemas.microsoft.com/office/drawing/2014/chart" uri="{C3380CC4-5D6E-409C-BE32-E72D297353CC}">
                <c16:uniqueId val="{00000007-9A9C-4435-83DB-01E0E825E4F7}"/>
              </c:ext>
            </c:extLst>
          </c:dPt>
          <c:dLbls>
            <c:numFmt formatCode="0.00" sourceLinked="0"/>
            <c:spPr>
              <a:noFill/>
              <a:ln>
                <a:noFill/>
              </a:ln>
              <a:effectLst/>
            </c:spPr>
            <c:txPr>
              <a:bodyPr/>
              <a:lstStyle/>
              <a:p>
                <a:pPr>
                  <a:defRPr sz="1200" b="0" i="0" u="none" strike="noStrike">
                    <a:solidFill>
                      <a:srgbClr val="1E293B"/>
                    </a:solidFill>
                    <a:latin typeface="+mn-lt"/>
                  </a:defRPr>
                </a:pPr>
                <a:endParaRPr lang="es-AR"/>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Predecir la media</c:v>
                </c:pt>
                <c:pt idx="1">
                  <c:v>Solo EM</c:v>
                </c:pt>
                <c:pt idx="2">
                  <c:v>EM + ART 1 (sistema)</c:v>
                </c:pt>
                <c:pt idx="3">
                  <c:v>Regresión lineal (supervisada)</c:v>
                </c:pt>
              </c:strCache>
            </c:strRef>
          </c:cat>
          <c:val>
            <c:numRef>
              <c:f>Sheet1!$B$2:$B$5</c:f>
              <c:numCache>
                <c:formatCode>General</c:formatCode>
                <c:ptCount val="4"/>
                <c:pt idx="0">
                  <c:v>1.33</c:v>
                </c:pt>
                <c:pt idx="1">
                  <c:v>0.99</c:v>
                </c:pt>
                <c:pt idx="2">
                  <c:v>0.94</c:v>
                </c:pt>
                <c:pt idx="3">
                  <c:v>0.8</c:v>
                </c:pt>
              </c:numCache>
            </c:numRef>
          </c:val>
          <c:extLst>
            <c:ext xmlns:c16="http://schemas.microsoft.com/office/drawing/2014/chart" uri="{C3380CC4-5D6E-409C-BE32-E72D297353CC}">
              <c16:uniqueId val="{00000008-9A9C-4435-83DB-01E0E825E4F7}"/>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mn-lt"/>
              </a:defRPr>
            </a:pPr>
            <a:endParaRPr lang="en-US"/>
          </a:p>
        </c:txPr>
        <c:crossAx val="2094734552"/>
        <c:crosses val="autoZero"/>
        <c:auto val="1"/>
        <c:lblAlgn val="ctr"/>
        <c:lblOffset val="100"/>
        <c:noMultiLvlLbl val="1"/>
      </c:catAx>
      <c:valAx>
        <c:axId val="2094734552"/>
        <c:scaling>
          <c:orientation val="minMax"/>
          <c:max val="1.5"/>
          <c:min val="0"/>
        </c:scaling>
        <c:delete val="1"/>
        <c:axPos val="t"/>
        <c:majorGridlines>
          <c:spPr>
            <a:ln w="6350" cap="flat">
              <a:solidFill>
                <a:srgbClr val="E2E8F0"/>
              </a:solidFill>
              <a:prstDash val="solid"/>
              <a:round/>
            </a:ln>
          </c:spPr>
        </c:majorGridlines>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71619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0:20] Portada
Buenas tardes. Somos el equipo del TFI de Inteligencia Artificial. Vamos a presentar un predictor híbrido que estima la nota esperada y la categoría del próximo examen de un alumno a partir de sus hábitos y antecedentes, combinando el algoritmo EM con la red neuronal Carpenter-Grossberg, ART 1.</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 0:50] Hoja de ruta
La charla tiene dos partes. Primero presentamos la red Carpenter-Grossberg: qué es, cómo aprende, para qué sirve y cuáles son sus ventajas y límites. Después mostramos nuestro sistema concreto: el problema, los datos, la arquitectura y las decisiones, cada etapa, el parámetro de vigilancia rho, cómo se usa, una demo corta y los resultados.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 1:50] Qué es ART 1
ART viene de Adaptive Resonance Theory, la teoría de resonancia adaptativa de Stephen Grossberg. Gail Carpenter y Grossberg publicaron ART 1 en 1987, inspirados en cómo el cerebro aprende cosas nuevas sin borrar lo que ya sabe. Eso se conoce como el dilema estabilidad-plasticidad: una red tiene que ser plástica para aprender, pero estable para no olvidar.
La red tiene dos capas. F1 recibe el patrón de entrada, un bit por neurona. F2 tiene una neurona por categoría o nodo. Los pesos de abajo hacia arriba sirven para elegir el nodo más parecido y los de arriba hacia abajo guardan el prototipo del nodo. Un control de vigilancia, rho, decide si el parecido alcanza: si alcanza, la red resuena y aprende; si no, hay un reset y prueba otro nodo o crea uno nuevo. ART 1 trabaja con entradas binarias y sin supervisión. Nosotros seguimos el algoritmo del Box 3 del libro de Lau de 1992.</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 → 2:50] Cómo aprende
El algoritmo tiene cinco pasos. Primero se inicializan los pesos: los de abajo hacia arriba valen 1 sobre 1 más N, y los prototipos valen todos 1. Para cada alumno se presenta su vector de bits y se calcula la activación de cada nodo; se elige el más activado. Después viene la prueba de vigilancia: qué parte de los unos del alumno también está en el prototipo. Si supera rho, el nodo resuena y aprende: el prototipo se queda solo con los bits en común, un AND. Si no la supera, hay un reset: se descarta ese nodo y se prueba el siguiente; si ninguno sirve, se crea un nodo nuevo con el alumno como prototipo.
Es aprendizaje rápido: una sola pasada y los prototipos solo pueden perder unos, nunca ganar. Por eso no olvida, pero también por eso es sensible al ruido.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 → 3:35] Características y utilidad
Resumimos seis características. Es no supervisada. Aprende de forma incremental: cada patrón nuevo se procesa una vez y no hace falta reentrenar todo. Resuelve el dilema estabilidad-plasticidad. No hay que fijar de antemano cuántos grupos habrá: crea nodos cuando los necesita. El parámetro rho regula qué tan finos son los grupos. Y trabaja con entradas binarias.
Por eso se usa para agrupar patrones binarios, reconocer caracteres o imágenes en blanco y negro, detectar patrones nuevos o anómalos, y, como en nuestro caso, agrupar perfiles de alumnos codificados en bits.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[3:35 → 4:25] Pros y contras
A favor: no olvida lo aprendido, aprende en una sola pasada y es rápida, no necesita etiquetas ni fijar la cantidad de grupos, cada nodo es interpretable porque su prototipo son los bits en común, y un nodo nuevo indica un patrón nunca visto.
En contra: solo acepta entradas binarias, así que hay que codificar y se pierde información. El resultado depende del orden en que llegan los datos y del valor de rho: rho alto da muchos nodos chicos, rho bajo mezcla todo. El AND erosiona los prototipos con ruido. Y no entiende magnitudes: para la red, 0111 y 1000 no se parecen, aunque sean 7 y 8. Además, por sí sola no da una salida numérica: nosotros la calibramos con la nota media de cada nodo. Varias de estas limitaciones las vamos a ver en nuestros resultados.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 → 5:10] Comparación
Para ubicar a ART 1, la comparamos con tres redes conocidas. El perceptrón multicapa es supervisado: necesita la respuesta correcta, tiene una cantidad fija de salidas y, si se entrena con datos nuevos, puede olvidar lo anterior. El mapa de Kohonen también es no supervisado, pero la grilla de neuronas es fija y trabaja con valores continuos. Hopfield es una memoria asociativa: guarda patrones y su capacidad se satura cerca del 14% de la cantidad de neuronas.
ART 1 es la única de las cuatro que crea grupos a demanda y aprende patrones nuevos sin olvidar. Su costo es que solo trabaja con bits, y por eso necesitamos el codificador y el EM que vamos a ver en la segunda parte.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[5:10 → 5:50] El problema
Pasamos a nuestro sistema. Recibe cinco datos de un alumno: horas de estudio, asistencia, horas de internet, tareas completadas y nota previa. Devuelve dos cosas: la nota esperada del próximo examen, de 0 a 10, y su categoría: Desaprobado por debajo de 4, Recuperatorio de 4 a 6, Aprobado Regular de 6 a 8 y Promoción por encima de 8.
El alcance es solo predecir el desempeño en el próximo examen. Por corrección de la cátedra, el sistema no emite alertas de deserción ni da recomendaciones pedagógicas. Y es no supervisado: la nota real nunca entra a la red, solo se usa después para calibrar y medir.</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[5:50 → 6:35] Datasets
Usamos dos datasets, como pide la consigna. El primero es un dataset simulado de 10.000 alumnos que generamos con cuatro perfiles latentes; lo aprobó la docente porque el de Kaggle original era demasiado sintético y no tenía grupos. Sus notas se reparten en las cuatro categorías, y la variable más relacionada con la nota son las tareas.
El segundo es Student Performance Factors, de Kaggle, con 6.607 alumnos. Ahí las entradas cambian un poco: entran horas de sueño y tutorías. Como ven en el histograma de la derecha, el 98% de las notas cae en Aprobado Regular, y eso condiciona su evaluación. En los dos casos separamos 80% para entrenar y 20% que la red nunca ve, para medir.</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[6:35 → 7:25] Arquitectura
Este es el sistema en una imagen. Cada alumno recorre las etapas de izquierda a derecha. Los datos se limpian y se separan 80/20. EM descubre cuatro perfiles de alumnos sobre las variables sin transformar. El codificador pasa cada alumno a 20 bits, porque ART 1 solo entiende ceros y unos. La red ART 1, con rho 0,65, agrupa a los alumnos parecidos en 871 nodos. El predictor devuelve la nota media del nodo y su categoría, y al final medimos sobre el 20% reservado.
La idea clave del híbrido: las clases de EM etiquetan los nodos de ART 1 al entrenar, y la nota real solo se usa para calibrar y medir, nunca como entrada.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[7:25 → 8:15] Decisiones
Registramos veinte decisiones; acá están las que más pesan. Usamos solo cinco variables, para que el sistema sea portable. Las tareas quedan como una sola variable escalada a 100, porque el dataset no las trae por tipo y dividirlas sería inventar datos. Las horas se guardan de 000 a 024 con bins no uniformes, para distinguir cada hora entre 2 y 8. K igual a 4 en EM, elegido por BIC y coherente con las cuatro categorías. El dataset simulado, aprobado por la docente. La codificación binaria posicional de 4 bits que pide la cátedra. Rho igual a 0,65. La categoría sale de la nota esperada, lo que subió el acierto de 47 a 57%. Y la categoría más baja se llama Desaprobado, para no sugerir alertas de deserción, que están fuera de alcance.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[8:15 → 9:05] EM
EM supone que los alumnos vienen de K perfiles, cada uno con forma de campana de Gauss. En el paso E calcula la probabilidad de que cada alumno pertenezca a cada perfil; en el paso M recalcula cada campana con esas probabilidades, y repite hasta que no cambia. A diferencia de K-means, da probabilidades y admite grupos elípticos.
Trabaja sobre las variables sin adaptar, como pidió la cátedra. Probamos K de 2 a 7 y el BIC tiene su mínimo en 4. Después, el autovector principal de cada grupo da el índice de riesgo R, que ordena los perfiles: de 7,6 a 4,4 de nota media. Esas son las cuatro clases que va a aprender ART 1. Como punto débil, la silhouette es 0,19: los perfiles se superponen, como se simularon.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[9:05 → 9:40] Codificador
ART 1 solo entiende ceros y unos, así que hay que traducir. Cada variable pasa a un bin de 0 a 10 con un histograma de 10 bins, y el bin se escribe en binario posicional de 4 bits, como pidió la cátedra. Por ejemplo, 13 tareas de 20 se escalan a 65, caen en el bin 6 y se escriben 0110. Las horas usan bins no uniformes, porque con valor sobre 10 casi todas caerían en los bins 0 y 1. Cinco variables por cuatro bits dan 20 bits por alumno.</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[9:40 → 10:20] ART 1 en nuestro sistema
Cada alumno de entrenamiento entra a la red como sus 20 bits. La red prueba los nodos del más activado al menos activado. Si los bits en común con el prototipo superan rho, el alumno se une al nodo y el prototipo se queda con los bits compartidos; si ninguno resuena, se crea un nodo nuevo.
Con rho 0,65 la red forma 871 nodos para 8.000 alumnos, una compresión de 0,109, y el 81,4% de los alumnos comparte el perfil EM mayoritario de su nodo. Así la red aprende los patrones de cada clase de EM. A la derecha ven el barrido de rho, que es lo que explicamos a continuación.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[10:20 → 11:20] El valor de rho
Rho es la vigilancia: qué parte de los unos del alumno tiene que estar en el prototipo para que el nodo lo acepte. Con rho bajo la red es poco exigente: pocos nodos grandes que mezclan alumnos distintos. Con rho alto exige parecidos casi exactos: muchos nodos chicos, la red memoriza en vez de agrupar.
Barrimos rho de 0,10 a 0,85 en el dataset 1 y miramos tres cosas: la pureza, la cantidad de nodos y el error. Elegimos 0,65 porque es el primer valor con pureza de al menos 80%, deja 871 nodos, dentro del rango de compresión pedido, y tiene el menor error del barrido, 0,94 puntos. Con 0,70 la pureza sube a 84,5%, pero los nodos pasan a 1.220 y el error sube. En el dataset 2, con el mismo 0,65, también se cumplen las metas, lo que indica que el valor no quedó ajustado solo al primer dataset.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[11:20 → 12:10] Cómo se usa
Hay dos formas de usarlo y las dos dan los mismos números, porque comparten el mismo código de entrenamiento. La entrega oficial es la línea de comandos, CarGross.py, con cinco modos: demo, para probar en tres segundos; train, que entrena y guarda los nodos; eval, que mide con el 20% reservado; predict, que predice alumnos nuevos desde un CSV; y sweep, que hace el barrido de rho. Todo entra y sale en CSV.
Ante cualquier error el programa no muestra un traceback: escribe el motivo, muestra el manual man y sale con un código controlado: 2 si una opción está mal, 3 si falta un archivo, 4 si los datos son inválidos y 1 para lo inesperado.
La app visual, en Streamlit, sirve para mostrar el modelo: se mueven los hábitos de un alumno y se ve la nota, la categoría, el nodo y sus 20 bits.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[12:10 → 12:40] Demo (si hay tiempo, hasta 1 minuto más)
Si el tiempo lo permite, mostramos tres cosas. Uno: el modo demo de la CLI, que entrena con 2.000 alumnos y muestra las métricas en unos tres segundos. Dos: en la app, movemos las horas de estudio de un alumno y vemos cómo cambian la nota esperada, el nodo y los bits. Tres: provocamos un error a propósito, rho igual a 3, para mostrar que el programa responde con el mensaje, el manual y el código de salida 2.
Si no hay tiempo, esta captura muestra la salida real del modo eval.
Preparación: abrir la terminal en la carpeta TFI y dejar la app corriendo antes de empezar.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[12:40 → 13:50] Resultados
Medimos todo sobre el 20% que la red nunca vio. En el dataset 1, el error medio es 0,94 puntos sobre 10. Si a todos les dijéramos la nota promedio, el error sería 1,33; si usáramos solo EM, 0,99. O sea, el sistema baja el error un 30% respecto de la media. Una regresión lineal supervisada, que sí ve la nota, llega a 0,80: nosotros logramos el 75% de esa mejora sin supervisión.
En categorías acertamos el 57,2%, contra 43% de decir siempre la más común, y el 98% de los alumnos queda en su categoría o en la vecina. Con el mismo rho, la red cumple las metas de pureza y compresión en los dos datasets.
En el dataset 2 el error es 0,23 contra 0,29 de la media, pero ojo: el 98% de acierto no es un logro, porque el 98% de los alumnos es Aprobado Regular.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[13:50 → 14:35] Alcance y limitaciones
Dentro del alcance: predecir la nota y la categoría del próximo examen, con cinco variables, con los dos datasets, por CLI y app, y sin supervisión. Fuera: alertas de deserción, recomendaciones, alumnos reales de la facultad y uso en producción.
Las limitaciones principales: los dos datasets son simulados o sintéticos, así que mostramos que la arquitectura funciona, no que prediga a alumnos reales. Los perfiles de EM se superponen. La predicción suaviza los extremos, porque cada nodo da un promedio. La nota no siempre sube al mejorar un hábito: pasa en el 17,7% de los casos, porque ART 1 compara bits y el código binario no es ordinal; decidimos mantener el modelo y documentarlo. Casi la mitad de los nodos tienen menos de 5 alumnos. Y las tareas van en una sola variable porque el dataset no las separa por tipo.</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[14:35 → 15:15] Conclusiones
Para cerrar. La arquitectura híbrida funciona: EM descubre los perfiles con los datos completos y ART 1 los aprende en binario. Es portable: con la misma configuración, K 4 y rho 0,65, cumple las metas en los dos datasets. Predice mejor que las referencias no supervisadas, con menos de un punto de error en el dataset 1. Y documentamos con honestidad sus límites, que vienen de la propia ART 1: entradas binarias y prototipos que no entienden magnitudes.
Como trabajo futuro: probarlo con alumnos reales de la facultad, separar las tareas por tipo cuando haya datos, validar con varias particiones en lugar de una sola semilla, y explorar variantes de ART que aceptan valores continuos, como ART 2 o Fuzzy ART.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[15:15 → 15:25] Referencias
Estas son las referencias principales: el artículo original de Carpenter y Grossberg, el libro de Lau con el algoritmo del Box 3, y las fuentes de EM, BIC, AIC, silhouette, scikit-learn y el dataset 2. El detalle está en el manual de referencia.</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[15:25 → 15:30] Cierre
Gracias por su atención. Quedamos a disposición para preguntas. Preguntas probables: por qué combinar EM y ART 1, por qué es no supervisado si usamos la nota, qué pasa si cambio rho, por qué un alumno con más tareas puede tener menor nota esperada, y por qué el dataset 2 da 98% de acierto. Las respuestas están en el FAQ del manual de referencia.</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74520"/>
            <a:ext cx="6035040" cy="2103120"/>
          </a:xfrm>
          <a:prstGeom prst="rect">
            <a:avLst/>
          </a:prstGeom>
          <a:noFill/>
          <a:ln/>
        </p:spPr>
        <p:txBody>
          <a:bodyPr wrap="square" rtlCol="0"/>
          <a:lstStyle>
            <a:lvl1pPr marL="0" indent="0" algn="l">
              <a:buNone/>
              <a:defRPr lang="en-US" sz="4200" b="1" dirty="0">
                <a:solidFill>
                  <a:schemeClr val="bg1"/>
                </a:solidFill>
              </a:defRPr>
            </a:lvl1pPr>
          </a:lstStyle>
          <a:p>
            <a:pPr marL="0" indent="0" algn="l">
              <a:buNone/>
            </a:pPr>
            <a:endParaRPr lang="en-US" sz="4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OSCURA">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502920"/>
            <a:ext cx="10881360" cy="731520"/>
          </a:xfrm>
          <a:prstGeom prst="rect">
            <a:avLst/>
          </a:prstGeom>
          <a:noFill/>
          <a:ln/>
        </p:spPr>
        <p:txBody>
          <a:bodyPr wrap="square" rtlCol="0"/>
          <a:lstStyle>
            <a:lvl1pPr marL="0" indent="0" algn="l">
              <a:buNone/>
              <a:defRPr lang="en-US" sz="3200" b="1" dirty="0">
                <a:solidFill>
                  <a:schemeClr val="bg1"/>
                </a:solidFill>
              </a:defRPr>
            </a:lvl1pPr>
          </a:lstStyle>
          <a:p>
            <a:pPr marL="0" indent="0" algn="l">
              <a:buNone/>
            </a:pPr>
            <a:endParaRPr lang="en-US" sz="3200" dirty="0"/>
          </a:p>
        </p:txBody>
      </p:sp>
      <p:sp>
        <p:nvSpPr>
          <p:cNvPr id="3" name="Text 0"/>
          <p:cNvSpPr/>
          <p:nvPr/>
        </p:nvSpPr>
        <p:spPr>
          <a:xfrm>
            <a:off x="640080" y="6400800"/>
            <a:ext cx="8229600" cy="274320"/>
          </a:xfrm>
          <a:prstGeom prst="rect">
            <a:avLst/>
          </a:prstGeom>
          <a:noFill/>
          <a:ln/>
        </p:spPr>
        <p:txBody>
          <a:bodyPr wrap="square" lIns="0" tIns="0" rIns="0" bIns="0" rtlCol="0" anchor="ctr"/>
          <a:lstStyle/>
          <a:p>
            <a:pPr marL="0" indent="0">
              <a:buNone/>
            </a:pPr>
            <a:r>
              <a:rPr lang="en-US" sz="1000" dirty="0">
                <a:solidFill>
                  <a:srgbClr val="94A3B8"/>
                </a:solidFill>
              </a:rPr>
              <a:t>Predictor híbrido EM + ART 1 · TFI Inteligencia Artificial · UADER FCyT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11018520" y="365760"/>
            <a:ext cx="731520" cy="457200"/>
          </a:xfrm>
          <a:prstGeom prst="rect">
            <a:avLst/>
          </a:prstGeom>
        </p:spPr>
      </p:pic>
      <p:sp>
        <p:nvSpPr>
          <p:cNvPr id="3" name="Text 0"/>
          <p:cNvSpPr>
            <a:spLocks noGrp="1"/>
          </p:cNvSpPr>
          <p:nvPr>
            <p:ph type="title" idx="101" hasCustomPrompt="1"/>
          </p:nvPr>
        </p:nvSpPr>
        <p:spPr>
          <a:xfrm>
            <a:off x="548640" y="566928"/>
            <a:ext cx="10241280" cy="68580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4"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rgbClr val="64748B"/>
                </a:solidFill>
              </a:rPr>
              <a:t>Predictor híbrido EM + ART 1 · TFI Inteligencia Artificial · UADER FCyT</a:t>
            </a:r>
            <a:endParaRPr lang="en-US" sz="1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4.xml"/><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8.xml"/><Relationship Id="rId1" Type="http://schemas.openxmlformats.org/officeDocument/2006/relationships/slideLayout" Target="../slideLayouts/slideLayout4.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4.xml"/><Relationship Id="rId5" Type="http://schemas.openxmlformats.org/officeDocument/2006/relationships/chart" Target="../charts/chart3.xml"/><Relationship Id="rId4" Type="http://schemas.openxmlformats.org/officeDocument/2006/relationships/chart" Target="../charts/chart2.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4.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a:spLocks noGrp="1"/>
          </p:cNvSpPr>
          <p:nvPr>
            <p:ph type="title" idx="100" hasCustomPrompt="1"/>
          </p:nvPr>
        </p:nvSpPr>
        <p:spPr>
          <a:xfrm>
            <a:off x="640080" y="1874520"/>
            <a:ext cx="6035040" cy="2103120"/>
          </a:xfrm>
          <a:prstGeom prst="rect">
            <a:avLst/>
          </a:prstGeom>
          <a:noFill/>
          <a:ln/>
        </p:spPr>
        <p:txBody>
          <a:bodyPr wrap="square" lIns="0" tIns="0" rIns="0" bIns="0" rtlCol="0" anchor="t"/>
          <a:lstStyle/>
          <a:p>
            <a:pPr marL="0" indent="0" algn="l">
              <a:buNone/>
            </a:pPr>
            <a:r>
              <a:rPr lang="en-US" sz="4200" b="1" dirty="0">
                <a:solidFill>
                  <a:schemeClr val="bg1"/>
                </a:solidFill>
              </a:rPr>
              <a:t>Predictor híbrido</a:t>
            </a:r>
            <a:endParaRPr lang="en-US" sz="4200" dirty="0"/>
          </a:p>
          <a:p>
            <a:pPr marL="0" indent="0" algn="l">
              <a:buNone/>
            </a:pPr>
            <a:r>
              <a:rPr lang="en-US" sz="4200" b="1" dirty="0">
                <a:solidFill>
                  <a:srgbClr val="5EEAD4"/>
                </a:solidFill>
              </a:rPr>
              <a:t>EM + ART 1</a:t>
            </a:r>
            <a:endParaRPr lang="en-US" sz="4200" dirty="0"/>
          </a:p>
          <a:p>
            <a:pPr marL="0" indent="0" algn="l">
              <a:buNone/>
            </a:pPr>
            <a:r>
              <a:rPr lang="en-US" sz="4200" b="1" dirty="0">
                <a:solidFill>
                  <a:schemeClr val="bg1"/>
                </a:solidFill>
              </a:rPr>
              <a:t>del próximo examen</a:t>
            </a:r>
            <a:endParaRPr lang="en-US" sz="4200" dirty="0"/>
          </a:p>
        </p:txBody>
      </p:sp>
      <p:sp>
        <p:nvSpPr>
          <p:cNvPr id="4" name="Text 1"/>
          <p:cNvSpPr txBox="1"/>
          <p:nvPr/>
        </p:nvSpPr>
        <p:spPr>
          <a:xfrm>
            <a:off x="640080" y="1371600"/>
            <a:ext cx="6858000" cy="320040"/>
          </a:xfrm>
          <a:prstGeom prst="rect">
            <a:avLst/>
          </a:prstGeom>
          <a:noFill/>
          <a:ln/>
        </p:spPr>
        <p:txBody>
          <a:bodyPr wrap="square" lIns="0" tIns="0" rIns="0" bIns="0" rtlCol="0" anchor="t"/>
          <a:lstStyle/>
          <a:p>
            <a:pPr marL="0" indent="0">
              <a:buNone/>
            </a:pPr>
            <a:r>
              <a:rPr lang="en-US" sz="1300" b="1" kern="0" spc="200" dirty="0">
                <a:solidFill>
                  <a:srgbClr val="5EEAD4"/>
                </a:solidFill>
              </a:rPr>
              <a:t>TRABAJO FINAL INTEGRADOR · INTELIGENCIA ARTIFICIAL</a:t>
            </a:r>
            <a:endParaRPr lang="en-US" sz="1300" dirty="0"/>
          </a:p>
        </p:txBody>
      </p:sp>
      <p:sp>
        <p:nvSpPr>
          <p:cNvPr id="5" name="Text 2"/>
          <p:cNvSpPr txBox="1"/>
          <p:nvPr/>
        </p:nvSpPr>
        <p:spPr>
          <a:xfrm>
            <a:off x="640080" y="4160520"/>
            <a:ext cx="5669280" cy="822960"/>
          </a:xfrm>
          <a:prstGeom prst="rect">
            <a:avLst/>
          </a:prstGeom>
          <a:noFill/>
          <a:ln/>
        </p:spPr>
        <p:txBody>
          <a:bodyPr wrap="square" lIns="0" tIns="0" rIns="0" bIns="0" rtlCol="0" anchor="t"/>
          <a:lstStyle/>
          <a:p>
            <a:pPr marL="0" indent="0">
              <a:buNone/>
            </a:pPr>
            <a:r>
              <a:rPr lang="en-US" sz="1700" dirty="0">
                <a:solidFill>
                  <a:srgbClr val="CBD5E1"/>
                </a:solidFill>
              </a:rPr>
              <a:t>Expectation-Maximization + red Carpenter-Grossberg (ART 1) para estimar la nota esperada y la categoría de un alumno</a:t>
            </a:r>
            <a:endParaRPr lang="en-US" sz="1700" dirty="0"/>
          </a:p>
        </p:txBody>
      </p:sp>
      <p:sp>
        <p:nvSpPr>
          <p:cNvPr id="6" name="Text 3"/>
          <p:cNvSpPr txBox="1"/>
          <p:nvPr/>
        </p:nvSpPr>
        <p:spPr>
          <a:xfrm>
            <a:off x="640080" y="5257800"/>
            <a:ext cx="6766560" cy="1097280"/>
          </a:xfrm>
          <a:prstGeom prst="rect">
            <a:avLst/>
          </a:prstGeom>
          <a:noFill/>
          <a:ln/>
        </p:spPr>
        <p:txBody>
          <a:bodyPr wrap="square" lIns="0" tIns="0" rIns="0" bIns="0" rtlCol="0" anchor="t"/>
          <a:lstStyle/>
          <a:p>
            <a:pPr marL="0" indent="0">
              <a:spcAft>
                <a:spcPts val="400"/>
              </a:spcAft>
              <a:buNone/>
            </a:pPr>
            <a:r>
              <a:rPr lang="en-US" sz="1300" dirty="0">
                <a:solidFill>
                  <a:srgbClr val="94A3B8"/>
                </a:solidFill>
              </a:rPr>
              <a:t>Acuña, Juan · Blanchet, Sofía · Parodi, Facundo · Pereyra, Lucrecia · Schell, Brian · Viñuela, Tomás</a:t>
            </a:r>
            <a:endParaRPr lang="en-US" sz="1300" dirty="0"/>
          </a:p>
          <a:p>
            <a:pPr marL="0" indent="0">
              <a:spcAft>
                <a:spcPts val="400"/>
              </a:spcAft>
              <a:buNone/>
            </a:pPr>
            <a:r>
              <a:rPr lang="en-US" sz="1300" dirty="0">
                <a:solidFill>
                  <a:srgbClr val="94A3B8"/>
                </a:solidFill>
              </a:rPr>
              <a:t>Docentes: Dra. Daniela López De Luise · Prof. Alejandro Pérez</a:t>
            </a:r>
            <a:endParaRPr lang="en-US" sz="1300" dirty="0"/>
          </a:p>
          <a:p>
            <a:pPr marL="0" indent="0">
              <a:spcAft>
                <a:spcPts val="400"/>
              </a:spcAft>
              <a:buNone/>
            </a:pPr>
            <a:r>
              <a:rPr lang="en-US" sz="1300" dirty="0">
                <a:solidFill>
                  <a:srgbClr val="94A3B8"/>
                </a:solidFill>
              </a:rPr>
              <a:t>UADER · FCyT · IDTI Lab ·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Hoja de ruta</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15 MINUTOS EN DOS PARTES</a:t>
            </a:r>
            <a:endParaRPr lang="en-US" sz="1200" dirty="0"/>
          </a:p>
        </p:txBody>
      </p:sp>
      <p:sp>
        <p:nvSpPr>
          <p:cNvPr id="5" name="Shape 2"/>
          <p:cNvSpPr/>
          <p:nvPr/>
        </p:nvSpPr>
        <p:spPr>
          <a:xfrm>
            <a:off x="548640" y="1645920"/>
            <a:ext cx="5394960" cy="3931920"/>
          </a:xfrm>
          <a:prstGeom prst="roundRect">
            <a:avLst>
              <a:gd name="adj" fmla="val 2791"/>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6" name="Shape 3"/>
          <p:cNvSpPr/>
          <p:nvPr/>
        </p:nvSpPr>
        <p:spPr>
          <a:xfrm>
            <a:off x="914400" y="1965960"/>
            <a:ext cx="822960" cy="822960"/>
          </a:xfrm>
          <a:prstGeom prst="ellipse">
            <a:avLst/>
          </a:prstGeom>
          <a:solidFill>
            <a:schemeClr val="accent1"/>
          </a:solidFill>
          <a:ln/>
        </p:spPr>
        <p:txBody>
          <a:bodyPr/>
          <a:lstStyle/>
          <a:p>
            <a:endParaRPr lang="es-AR"/>
          </a:p>
        </p:txBody>
      </p:sp>
      <p:sp>
        <p:nvSpPr>
          <p:cNvPr id="7" name="Text 4"/>
          <p:cNvSpPr txBox="1"/>
          <p:nvPr/>
        </p:nvSpPr>
        <p:spPr>
          <a:xfrm>
            <a:off x="914400" y="1965960"/>
            <a:ext cx="822960" cy="822960"/>
          </a:xfrm>
          <a:prstGeom prst="rect">
            <a:avLst/>
          </a:prstGeom>
          <a:noFill/>
          <a:ln/>
        </p:spPr>
        <p:txBody>
          <a:bodyPr wrap="square" lIns="0" tIns="0" rIns="0" bIns="0" rtlCol="0" anchor="ctr"/>
          <a:lstStyle/>
          <a:p>
            <a:pPr marL="0" indent="0" algn="ctr">
              <a:buNone/>
            </a:pPr>
            <a:r>
              <a:rPr lang="en-US" sz="3200" b="1" dirty="0">
                <a:solidFill>
                  <a:schemeClr val="bg1"/>
                </a:solidFill>
              </a:rPr>
              <a:t>1</a:t>
            </a:r>
            <a:endParaRPr lang="en-US" sz="3200" dirty="0"/>
          </a:p>
        </p:txBody>
      </p:sp>
      <p:sp>
        <p:nvSpPr>
          <p:cNvPr id="8" name="Text 5"/>
          <p:cNvSpPr txBox="1"/>
          <p:nvPr/>
        </p:nvSpPr>
        <p:spPr>
          <a:xfrm>
            <a:off x="1965960" y="2011680"/>
            <a:ext cx="3749040" cy="777240"/>
          </a:xfrm>
          <a:prstGeom prst="rect">
            <a:avLst/>
          </a:prstGeom>
          <a:noFill/>
          <a:ln/>
        </p:spPr>
        <p:txBody>
          <a:bodyPr wrap="square" lIns="0" tIns="0" rIns="0" bIns="0" rtlCol="0" anchor="ctr"/>
          <a:lstStyle/>
          <a:p>
            <a:pPr marL="0" indent="0">
              <a:buNone/>
            </a:pPr>
            <a:r>
              <a:rPr lang="en-US" sz="2200" b="1" dirty="0">
                <a:solidFill>
                  <a:schemeClr val="tx2"/>
                </a:solidFill>
              </a:rPr>
              <a:t>La red Carpenter-Grossberg (ART 1)</a:t>
            </a:r>
            <a:endParaRPr lang="en-US" sz="2200" dirty="0"/>
          </a:p>
        </p:txBody>
      </p:sp>
      <p:sp>
        <p:nvSpPr>
          <p:cNvPr id="9" name="Text 6"/>
          <p:cNvSpPr txBox="1"/>
          <p:nvPr/>
        </p:nvSpPr>
        <p:spPr>
          <a:xfrm>
            <a:off x="1005840" y="3108960"/>
            <a:ext cx="4663440" cy="228600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chemeClr val="tx1"/>
                </a:solidFill>
              </a:rPr>
              <a:t>Qué es y cómo aprende</a:t>
            </a:r>
            <a:endParaRPr lang="en-US" sz="1900" dirty="0"/>
          </a:p>
          <a:p>
            <a:pPr marL="342900" indent="-342900">
              <a:spcAft>
                <a:spcPts val="1400"/>
              </a:spcAft>
              <a:buSzPct val="100000"/>
              <a:buChar char="•"/>
            </a:pPr>
            <a:r>
              <a:rPr lang="en-US" sz="1900" dirty="0">
                <a:solidFill>
                  <a:schemeClr val="tx1"/>
                </a:solidFill>
              </a:rPr>
              <a:t>Características y utilidad</a:t>
            </a:r>
            <a:endParaRPr lang="en-US" sz="1900" dirty="0"/>
          </a:p>
          <a:p>
            <a:pPr marL="342900" indent="-342900">
              <a:spcAft>
                <a:spcPts val="1400"/>
              </a:spcAft>
              <a:buSzPct val="100000"/>
              <a:buChar char="•"/>
            </a:pPr>
            <a:r>
              <a:rPr lang="en-US" sz="1900" dirty="0">
                <a:solidFill>
                  <a:schemeClr val="tx1"/>
                </a:solidFill>
              </a:rPr>
              <a:t>Pros, contras y limitaciones</a:t>
            </a:r>
            <a:endParaRPr lang="en-US" sz="1900" dirty="0"/>
          </a:p>
          <a:p>
            <a:pPr marL="342900" indent="-342900">
              <a:spcAft>
                <a:spcPts val="1400"/>
              </a:spcAft>
              <a:buSzPct val="100000"/>
              <a:buChar char="•"/>
            </a:pPr>
            <a:r>
              <a:rPr lang="en-US" sz="1900" dirty="0">
                <a:solidFill>
                  <a:schemeClr val="tx1"/>
                </a:solidFill>
              </a:rPr>
              <a:t>Comparación con otras redes</a:t>
            </a:r>
            <a:endParaRPr lang="en-US" sz="1900" dirty="0"/>
          </a:p>
        </p:txBody>
      </p:sp>
      <p:sp>
        <p:nvSpPr>
          <p:cNvPr id="10" name="Shape 7"/>
          <p:cNvSpPr/>
          <p:nvPr/>
        </p:nvSpPr>
        <p:spPr>
          <a:xfrm>
            <a:off x="6263640" y="1645920"/>
            <a:ext cx="5394960" cy="3931920"/>
          </a:xfrm>
          <a:prstGeom prst="roundRect">
            <a:avLst>
              <a:gd name="adj" fmla="val 2791"/>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1" name="Shape 8"/>
          <p:cNvSpPr/>
          <p:nvPr/>
        </p:nvSpPr>
        <p:spPr>
          <a:xfrm>
            <a:off x="6629400" y="1965960"/>
            <a:ext cx="822960" cy="822960"/>
          </a:xfrm>
          <a:prstGeom prst="ellipse">
            <a:avLst/>
          </a:prstGeom>
          <a:solidFill>
            <a:schemeClr val="accent3"/>
          </a:solidFill>
          <a:ln/>
        </p:spPr>
        <p:txBody>
          <a:bodyPr/>
          <a:lstStyle/>
          <a:p>
            <a:endParaRPr lang="es-AR"/>
          </a:p>
        </p:txBody>
      </p:sp>
      <p:sp>
        <p:nvSpPr>
          <p:cNvPr id="12" name="Text 9"/>
          <p:cNvSpPr txBox="1"/>
          <p:nvPr/>
        </p:nvSpPr>
        <p:spPr>
          <a:xfrm>
            <a:off x="6629400" y="1965960"/>
            <a:ext cx="822960" cy="822960"/>
          </a:xfrm>
          <a:prstGeom prst="rect">
            <a:avLst/>
          </a:prstGeom>
          <a:noFill/>
          <a:ln/>
        </p:spPr>
        <p:txBody>
          <a:bodyPr wrap="square" lIns="0" tIns="0" rIns="0" bIns="0" rtlCol="0" anchor="ctr"/>
          <a:lstStyle/>
          <a:p>
            <a:pPr marL="0" indent="0" algn="ctr">
              <a:buNone/>
            </a:pPr>
            <a:r>
              <a:rPr lang="en-US" sz="3200" b="1" dirty="0">
                <a:solidFill>
                  <a:schemeClr val="bg1"/>
                </a:solidFill>
              </a:rPr>
              <a:t>2</a:t>
            </a:r>
            <a:endParaRPr lang="en-US" sz="3200" dirty="0"/>
          </a:p>
        </p:txBody>
      </p:sp>
      <p:sp>
        <p:nvSpPr>
          <p:cNvPr id="13" name="Text 10"/>
          <p:cNvSpPr txBox="1"/>
          <p:nvPr/>
        </p:nvSpPr>
        <p:spPr>
          <a:xfrm>
            <a:off x="7680960" y="2011680"/>
            <a:ext cx="3749040" cy="777240"/>
          </a:xfrm>
          <a:prstGeom prst="rect">
            <a:avLst/>
          </a:prstGeom>
          <a:noFill/>
          <a:ln/>
        </p:spPr>
        <p:txBody>
          <a:bodyPr wrap="square" lIns="0" tIns="0" rIns="0" bIns="0" rtlCol="0" anchor="ctr"/>
          <a:lstStyle/>
          <a:p>
            <a:pPr marL="0" indent="0">
              <a:buNone/>
            </a:pPr>
            <a:r>
              <a:rPr lang="en-US" sz="2200" b="1" dirty="0">
                <a:solidFill>
                  <a:schemeClr val="tx2"/>
                </a:solidFill>
              </a:rPr>
              <a:t>Nuestro predictor EM + ART 1</a:t>
            </a:r>
            <a:endParaRPr lang="en-US" sz="2200" dirty="0"/>
          </a:p>
        </p:txBody>
      </p:sp>
      <p:sp>
        <p:nvSpPr>
          <p:cNvPr id="14" name="Text 11"/>
          <p:cNvSpPr txBox="1"/>
          <p:nvPr/>
        </p:nvSpPr>
        <p:spPr>
          <a:xfrm>
            <a:off x="6720840" y="3108960"/>
            <a:ext cx="4663440" cy="2286000"/>
          </a:xfrm>
          <a:prstGeom prst="rect">
            <a:avLst/>
          </a:prstGeom>
          <a:noFill/>
          <a:ln/>
        </p:spPr>
        <p:txBody>
          <a:bodyPr wrap="square" lIns="0" tIns="0" rIns="0" bIns="0" rtlCol="0" anchor="t"/>
          <a:lstStyle/>
          <a:p>
            <a:pPr marL="342900" indent="-342900">
              <a:spcAft>
                <a:spcPts val="1400"/>
              </a:spcAft>
              <a:buSzPct val="100000"/>
              <a:buChar char="•"/>
            </a:pPr>
            <a:r>
              <a:rPr lang="en-US" sz="1900" dirty="0">
                <a:solidFill>
                  <a:schemeClr val="tx1"/>
                </a:solidFill>
              </a:rPr>
              <a:t>Problema, datasets y arquitectura</a:t>
            </a:r>
            <a:endParaRPr lang="en-US" sz="1900" dirty="0"/>
          </a:p>
          <a:p>
            <a:pPr marL="342900" indent="-342900">
              <a:spcAft>
                <a:spcPts val="1400"/>
              </a:spcAft>
              <a:buSzPct val="100000"/>
              <a:buChar char="•"/>
            </a:pPr>
            <a:r>
              <a:rPr lang="en-US" sz="1900" dirty="0">
                <a:solidFill>
                  <a:schemeClr val="tx1"/>
                </a:solidFill>
              </a:rPr>
              <a:t>Decisiones, EM, codificador y ART 1</a:t>
            </a:r>
            <a:endParaRPr lang="en-US" sz="1900" dirty="0"/>
          </a:p>
          <a:p>
            <a:pPr marL="342900" indent="-342900">
              <a:spcAft>
                <a:spcPts val="1400"/>
              </a:spcAft>
              <a:buSzPct val="100000"/>
              <a:buChar char="•"/>
            </a:pPr>
            <a:r>
              <a:rPr lang="en-US" sz="1900" dirty="0">
                <a:solidFill>
                  <a:schemeClr val="tx1"/>
                </a:solidFill>
              </a:rPr>
              <a:t>El parámetro de vigilancia ρ</a:t>
            </a:r>
            <a:endParaRPr lang="en-US" sz="1900" dirty="0"/>
          </a:p>
          <a:p>
            <a:pPr marL="342900" indent="-342900">
              <a:spcAft>
                <a:spcPts val="1400"/>
              </a:spcAft>
              <a:buSzPct val="100000"/>
              <a:buChar char="•"/>
            </a:pPr>
            <a:r>
              <a:rPr lang="en-US" sz="1900" dirty="0">
                <a:solidFill>
                  <a:schemeClr val="tx1"/>
                </a:solidFill>
              </a:rPr>
              <a:t>Manual, demo, resultados y límites</a:t>
            </a:r>
            <a:endParaRPr lang="en-US" sz="19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ART 1: una red que aprende sin olvidar</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1 · CARPENTER Y GROSSBERG (1987)</a:t>
            </a:r>
            <a:endParaRPr lang="en-US" sz="1200" dirty="0"/>
          </a:p>
        </p:txBody>
      </p:sp>
      <p:sp>
        <p:nvSpPr>
          <p:cNvPr id="5" name="Shape 2"/>
          <p:cNvSpPr/>
          <p:nvPr/>
        </p:nvSpPr>
        <p:spPr>
          <a:xfrm>
            <a:off x="548640" y="1673352"/>
            <a:ext cx="292608" cy="292608"/>
          </a:xfrm>
          <a:prstGeom prst="ellipse">
            <a:avLst/>
          </a:prstGeom>
          <a:solidFill>
            <a:schemeClr val="accent1"/>
          </a:solidFill>
          <a:ln/>
        </p:spPr>
        <p:txBody>
          <a:bodyPr/>
          <a:lstStyle/>
          <a:p>
            <a:endParaRPr lang="es-AR"/>
          </a:p>
        </p:txBody>
      </p:sp>
      <p:sp>
        <p:nvSpPr>
          <p:cNvPr id="6" name="Text 3"/>
          <p:cNvSpPr txBox="1"/>
          <p:nvPr/>
        </p:nvSpPr>
        <p:spPr>
          <a:xfrm>
            <a:off x="1051560" y="1600200"/>
            <a:ext cx="4480560" cy="365760"/>
          </a:xfrm>
          <a:prstGeom prst="rect">
            <a:avLst/>
          </a:prstGeom>
          <a:noFill/>
          <a:ln/>
        </p:spPr>
        <p:txBody>
          <a:bodyPr wrap="square" lIns="0" tIns="0" rIns="0" bIns="0" rtlCol="0" anchor="t"/>
          <a:lstStyle/>
          <a:p>
            <a:pPr marL="0" indent="0">
              <a:buNone/>
            </a:pPr>
            <a:r>
              <a:rPr lang="en-US" sz="1800" b="1" dirty="0">
                <a:solidFill>
                  <a:schemeClr val="tx2"/>
                </a:solidFill>
              </a:rPr>
              <a:t>Adaptive Resonance Theory</a:t>
            </a:r>
            <a:endParaRPr lang="en-US" sz="1800" dirty="0"/>
          </a:p>
        </p:txBody>
      </p:sp>
      <p:sp>
        <p:nvSpPr>
          <p:cNvPr id="7" name="Text 4"/>
          <p:cNvSpPr txBox="1"/>
          <p:nvPr/>
        </p:nvSpPr>
        <p:spPr>
          <a:xfrm>
            <a:off x="1051560" y="1984248"/>
            <a:ext cx="4480560" cy="640080"/>
          </a:xfrm>
          <a:prstGeom prst="rect">
            <a:avLst/>
          </a:prstGeom>
          <a:noFill/>
          <a:ln/>
        </p:spPr>
        <p:txBody>
          <a:bodyPr wrap="square" lIns="0" tIns="0" rIns="0" bIns="0" rtlCol="0" anchor="t"/>
          <a:lstStyle/>
          <a:p>
            <a:pPr marL="0" indent="0">
              <a:buNone/>
            </a:pPr>
            <a:r>
              <a:rPr lang="en-US" sz="1500" dirty="0">
                <a:solidFill>
                  <a:schemeClr val="tx1"/>
                </a:solidFill>
              </a:rPr>
              <a:t>Teoría de Grossberg; ART 1 la publican Carpenter y Grossberg en 1987.</a:t>
            </a:r>
            <a:endParaRPr lang="en-US" sz="1500" dirty="0"/>
          </a:p>
        </p:txBody>
      </p:sp>
      <p:sp>
        <p:nvSpPr>
          <p:cNvPr id="8" name="Shape 5"/>
          <p:cNvSpPr/>
          <p:nvPr/>
        </p:nvSpPr>
        <p:spPr>
          <a:xfrm>
            <a:off x="548640" y="2788920"/>
            <a:ext cx="292608" cy="292608"/>
          </a:xfrm>
          <a:prstGeom prst="ellipse">
            <a:avLst/>
          </a:prstGeom>
          <a:solidFill>
            <a:schemeClr val="accent1"/>
          </a:solidFill>
          <a:ln/>
        </p:spPr>
        <p:txBody>
          <a:bodyPr/>
          <a:lstStyle/>
          <a:p>
            <a:endParaRPr lang="es-AR"/>
          </a:p>
        </p:txBody>
      </p:sp>
      <p:sp>
        <p:nvSpPr>
          <p:cNvPr id="9" name="Text 6"/>
          <p:cNvSpPr txBox="1"/>
          <p:nvPr/>
        </p:nvSpPr>
        <p:spPr>
          <a:xfrm>
            <a:off x="1051560" y="2715768"/>
            <a:ext cx="4480560" cy="365760"/>
          </a:xfrm>
          <a:prstGeom prst="rect">
            <a:avLst/>
          </a:prstGeom>
          <a:noFill/>
          <a:ln/>
        </p:spPr>
        <p:txBody>
          <a:bodyPr wrap="square" lIns="0" tIns="0" rIns="0" bIns="0" rtlCol="0" anchor="t"/>
          <a:lstStyle/>
          <a:p>
            <a:pPr marL="0" indent="0">
              <a:buNone/>
            </a:pPr>
            <a:r>
              <a:rPr lang="en-US" sz="1800" b="1" dirty="0">
                <a:solidFill>
                  <a:schemeClr val="tx2"/>
                </a:solidFill>
              </a:rPr>
              <a:t>Dilema estabilidad-plasticidad</a:t>
            </a:r>
            <a:endParaRPr lang="en-US" sz="1800" dirty="0"/>
          </a:p>
        </p:txBody>
      </p:sp>
      <p:sp>
        <p:nvSpPr>
          <p:cNvPr id="10" name="Text 7"/>
          <p:cNvSpPr txBox="1"/>
          <p:nvPr/>
        </p:nvSpPr>
        <p:spPr>
          <a:xfrm>
            <a:off x="1051560" y="3099816"/>
            <a:ext cx="4480560" cy="640080"/>
          </a:xfrm>
          <a:prstGeom prst="rect">
            <a:avLst/>
          </a:prstGeom>
          <a:noFill/>
          <a:ln/>
        </p:spPr>
        <p:txBody>
          <a:bodyPr wrap="square" lIns="0" tIns="0" rIns="0" bIns="0" rtlCol="0" anchor="t"/>
          <a:lstStyle/>
          <a:p>
            <a:pPr marL="0" indent="0">
              <a:buNone/>
            </a:pPr>
            <a:r>
              <a:rPr lang="en-US" sz="1500" dirty="0">
                <a:solidFill>
                  <a:schemeClr val="tx1"/>
                </a:solidFill>
              </a:rPr>
              <a:t>Aprender patrones nuevos sin borrar los que ya aprendió.</a:t>
            </a:r>
            <a:endParaRPr lang="en-US" sz="1500" dirty="0"/>
          </a:p>
        </p:txBody>
      </p:sp>
      <p:sp>
        <p:nvSpPr>
          <p:cNvPr id="11" name="Shape 8"/>
          <p:cNvSpPr/>
          <p:nvPr/>
        </p:nvSpPr>
        <p:spPr>
          <a:xfrm>
            <a:off x="548640" y="3904488"/>
            <a:ext cx="292608" cy="292608"/>
          </a:xfrm>
          <a:prstGeom prst="ellipse">
            <a:avLst/>
          </a:prstGeom>
          <a:solidFill>
            <a:schemeClr val="accent1"/>
          </a:solidFill>
          <a:ln/>
        </p:spPr>
        <p:txBody>
          <a:bodyPr/>
          <a:lstStyle/>
          <a:p>
            <a:endParaRPr lang="es-AR"/>
          </a:p>
        </p:txBody>
      </p:sp>
      <p:sp>
        <p:nvSpPr>
          <p:cNvPr id="12" name="Text 9"/>
          <p:cNvSpPr txBox="1"/>
          <p:nvPr/>
        </p:nvSpPr>
        <p:spPr>
          <a:xfrm>
            <a:off x="1051560" y="3831336"/>
            <a:ext cx="4480560" cy="365760"/>
          </a:xfrm>
          <a:prstGeom prst="rect">
            <a:avLst/>
          </a:prstGeom>
          <a:noFill/>
          <a:ln/>
        </p:spPr>
        <p:txBody>
          <a:bodyPr wrap="square" lIns="0" tIns="0" rIns="0" bIns="0" rtlCol="0" anchor="t"/>
          <a:lstStyle/>
          <a:p>
            <a:pPr marL="0" indent="0">
              <a:buNone/>
            </a:pPr>
            <a:r>
              <a:rPr lang="en-US" sz="1800" b="1" dirty="0">
                <a:solidFill>
                  <a:schemeClr val="tx2"/>
                </a:solidFill>
              </a:rPr>
              <a:t>Entradas binarias, sin supervisión</a:t>
            </a:r>
            <a:endParaRPr lang="en-US" sz="1800" dirty="0"/>
          </a:p>
        </p:txBody>
      </p:sp>
      <p:sp>
        <p:nvSpPr>
          <p:cNvPr id="13" name="Text 10"/>
          <p:cNvSpPr txBox="1"/>
          <p:nvPr/>
        </p:nvSpPr>
        <p:spPr>
          <a:xfrm>
            <a:off x="1051560" y="4215384"/>
            <a:ext cx="4480560" cy="640080"/>
          </a:xfrm>
          <a:prstGeom prst="rect">
            <a:avLst/>
          </a:prstGeom>
          <a:noFill/>
          <a:ln/>
        </p:spPr>
        <p:txBody>
          <a:bodyPr wrap="square" lIns="0" tIns="0" rIns="0" bIns="0" rtlCol="0" anchor="t"/>
          <a:lstStyle/>
          <a:p>
            <a:pPr marL="0" indent="0">
              <a:buNone/>
            </a:pPr>
            <a:r>
              <a:rPr lang="en-US" sz="1500" dirty="0">
                <a:solidFill>
                  <a:schemeClr val="tx1"/>
                </a:solidFill>
              </a:rPr>
              <a:t>Agrupa vectores de 0 y 1 en nodos; nadie le dice la clase.</a:t>
            </a:r>
            <a:endParaRPr lang="en-US" sz="1500" dirty="0"/>
          </a:p>
        </p:txBody>
      </p:sp>
      <p:sp>
        <p:nvSpPr>
          <p:cNvPr id="14" name="Shape 11"/>
          <p:cNvSpPr/>
          <p:nvPr/>
        </p:nvSpPr>
        <p:spPr>
          <a:xfrm>
            <a:off x="548640" y="5020056"/>
            <a:ext cx="292608" cy="292608"/>
          </a:xfrm>
          <a:prstGeom prst="ellipse">
            <a:avLst/>
          </a:prstGeom>
          <a:solidFill>
            <a:schemeClr val="accent2"/>
          </a:solidFill>
          <a:ln/>
        </p:spPr>
        <p:txBody>
          <a:bodyPr/>
          <a:lstStyle/>
          <a:p>
            <a:endParaRPr lang="es-AR"/>
          </a:p>
        </p:txBody>
      </p:sp>
      <p:sp>
        <p:nvSpPr>
          <p:cNvPr id="15" name="Text 12"/>
          <p:cNvSpPr txBox="1"/>
          <p:nvPr/>
        </p:nvSpPr>
        <p:spPr>
          <a:xfrm>
            <a:off x="1051560" y="4946904"/>
            <a:ext cx="4480560" cy="365760"/>
          </a:xfrm>
          <a:prstGeom prst="rect">
            <a:avLst/>
          </a:prstGeom>
          <a:noFill/>
          <a:ln/>
        </p:spPr>
        <p:txBody>
          <a:bodyPr wrap="square" lIns="0" tIns="0" rIns="0" bIns="0" rtlCol="0" anchor="t"/>
          <a:lstStyle/>
          <a:p>
            <a:pPr marL="0" indent="0">
              <a:buNone/>
            </a:pPr>
            <a:r>
              <a:rPr lang="en-US" sz="1800" b="1" dirty="0">
                <a:solidFill>
                  <a:schemeClr val="tx2"/>
                </a:solidFill>
              </a:rPr>
              <a:t>Resonancia</a:t>
            </a:r>
            <a:endParaRPr lang="en-US" sz="1800" dirty="0"/>
          </a:p>
        </p:txBody>
      </p:sp>
      <p:sp>
        <p:nvSpPr>
          <p:cNvPr id="16" name="Text 13"/>
          <p:cNvSpPr txBox="1"/>
          <p:nvPr/>
        </p:nvSpPr>
        <p:spPr>
          <a:xfrm>
            <a:off x="1051560" y="5330952"/>
            <a:ext cx="4480560" cy="640080"/>
          </a:xfrm>
          <a:prstGeom prst="rect">
            <a:avLst/>
          </a:prstGeom>
          <a:noFill/>
          <a:ln/>
        </p:spPr>
        <p:txBody>
          <a:bodyPr wrap="square" lIns="0" tIns="0" rIns="0" bIns="0" rtlCol="0" anchor="t"/>
          <a:lstStyle/>
          <a:p>
            <a:pPr marL="0" indent="0">
              <a:buNone/>
            </a:pPr>
            <a:r>
              <a:rPr lang="en-US" sz="1500" dirty="0">
                <a:solidFill>
                  <a:schemeClr val="tx1"/>
                </a:solidFill>
              </a:rPr>
              <a:t>Si el nodo elegido se parece lo suficiente (ρ), lo refuerza; si no, reset.</a:t>
            </a:r>
            <a:endParaRPr lang="en-US" sz="1500" dirty="0"/>
          </a:p>
        </p:txBody>
      </p:sp>
      <p:sp>
        <p:nvSpPr>
          <p:cNvPr id="17" name="Shape 14"/>
          <p:cNvSpPr/>
          <p:nvPr/>
        </p:nvSpPr>
        <p:spPr>
          <a:xfrm>
            <a:off x="5943600" y="1508760"/>
            <a:ext cx="5715000" cy="4617720"/>
          </a:xfrm>
          <a:prstGeom prst="roundRect">
            <a:avLst>
              <a:gd name="adj" fmla="val 2376"/>
            </a:avLst>
          </a:prstGeom>
          <a:solidFill>
            <a:schemeClr val="bg2"/>
          </a:solidFill>
          <a:ln/>
        </p:spPr>
        <p:txBody>
          <a:bodyPr/>
          <a:lstStyle/>
          <a:p>
            <a:endParaRPr lang="es-AR"/>
          </a:p>
        </p:txBody>
      </p:sp>
      <p:sp>
        <p:nvSpPr>
          <p:cNvPr id="18" name="Shape 15"/>
          <p:cNvSpPr/>
          <p:nvPr/>
        </p:nvSpPr>
        <p:spPr>
          <a:xfrm flipH="1">
            <a:off x="6492240" y="2971800"/>
            <a:ext cx="457200" cy="1371600"/>
          </a:xfrm>
          <a:prstGeom prst="line">
            <a:avLst/>
          </a:prstGeom>
          <a:noFill/>
          <a:ln w="9525">
            <a:solidFill>
              <a:srgbClr val="0EA5A4"/>
            </a:solidFill>
            <a:prstDash val="solid"/>
          </a:ln>
        </p:spPr>
        <p:txBody>
          <a:bodyPr/>
          <a:lstStyle/>
          <a:p>
            <a:endParaRPr lang="es-AR"/>
          </a:p>
        </p:txBody>
      </p:sp>
      <p:sp>
        <p:nvSpPr>
          <p:cNvPr id="19" name="Shape 16"/>
          <p:cNvSpPr/>
          <p:nvPr/>
        </p:nvSpPr>
        <p:spPr>
          <a:xfrm flipH="1">
            <a:off x="6492240" y="2971800"/>
            <a:ext cx="1371600" cy="1371600"/>
          </a:xfrm>
          <a:prstGeom prst="line">
            <a:avLst/>
          </a:prstGeom>
          <a:noFill/>
          <a:ln w="9525">
            <a:solidFill>
              <a:srgbClr val="0EA5A4"/>
            </a:solidFill>
            <a:prstDash val="solid"/>
          </a:ln>
        </p:spPr>
        <p:txBody>
          <a:bodyPr/>
          <a:lstStyle/>
          <a:p>
            <a:endParaRPr lang="es-AR"/>
          </a:p>
        </p:txBody>
      </p:sp>
      <p:sp>
        <p:nvSpPr>
          <p:cNvPr id="20" name="Shape 17"/>
          <p:cNvSpPr/>
          <p:nvPr/>
        </p:nvSpPr>
        <p:spPr>
          <a:xfrm flipH="1">
            <a:off x="6492240" y="2971800"/>
            <a:ext cx="2286000" cy="1371600"/>
          </a:xfrm>
          <a:prstGeom prst="line">
            <a:avLst/>
          </a:prstGeom>
          <a:noFill/>
          <a:ln w="9525">
            <a:solidFill>
              <a:srgbClr val="0EA5A4"/>
            </a:solidFill>
            <a:prstDash val="solid"/>
          </a:ln>
        </p:spPr>
        <p:txBody>
          <a:bodyPr/>
          <a:lstStyle/>
          <a:p>
            <a:endParaRPr lang="es-AR"/>
          </a:p>
        </p:txBody>
      </p:sp>
      <p:sp>
        <p:nvSpPr>
          <p:cNvPr id="21" name="Shape 18"/>
          <p:cNvSpPr/>
          <p:nvPr/>
        </p:nvSpPr>
        <p:spPr>
          <a:xfrm flipH="1">
            <a:off x="6492240" y="2971800"/>
            <a:ext cx="3200400" cy="1371600"/>
          </a:xfrm>
          <a:prstGeom prst="line">
            <a:avLst/>
          </a:prstGeom>
          <a:noFill/>
          <a:ln w="9525">
            <a:solidFill>
              <a:srgbClr val="0EA5A4"/>
            </a:solidFill>
            <a:prstDash val="solid"/>
          </a:ln>
        </p:spPr>
        <p:txBody>
          <a:bodyPr/>
          <a:lstStyle/>
          <a:p>
            <a:endParaRPr lang="es-AR"/>
          </a:p>
        </p:txBody>
      </p:sp>
      <p:sp>
        <p:nvSpPr>
          <p:cNvPr id="22" name="Shape 19"/>
          <p:cNvSpPr/>
          <p:nvPr/>
        </p:nvSpPr>
        <p:spPr>
          <a:xfrm>
            <a:off x="6949440" y="2971800"/>
            <a:ext cx="274320" cy="1371600"/>
          </a:xfrm>
          <a:prstGeom prst="line">
            <a:avLst/>
          </a:prstGeom>
          <a:noFill/>
          <a:ln w="9525">
            <a:solidFill>
              <a:srgbClr val="0EA5A4"/>
            </a:solidFill>
            <a:prstDash val="solid"/>
          </a:ln>
        </p:spPr>
        <p:txBody>
          <a:bodyPr/>
          <a:lstStyle/>
          <a:p>
            <a:endParaRPr lang="es-AR"/>
          </a:p>
        </p:txBody>
      </p:sp>
      <p:sp>
        <p:nvSpPr>
          <p:cNvPr id="23" name="Shape 20"/>
          <p:cNvSpPr/>
          <p:nvPr/>
        </p:nvSpPr>
        <p:spPr>
          <a:xfrm flipH="1">
            <a:off x="7223760" y="2971800"/>
            <a:ext cx="640080" cy="1371600"/>
          </a:xfrm>
          <a:prstGeom prst="line">
            <a:avLst/>
          </a:prstGeom>
          <a:noFill/>
          <a:ln w="9525">
            <a:solidFill>
              <a:srgbClr val="0EA5A4"/>
            </a:solidFill>
            <a:prstDash val="solid"/>
          </a:ln>
        </p:spPr>
        <p:txBody>
          <a:bodyPr/>
          <a:lstStyle/>
          <a:p>
            <a:endParaRPr lang="es-AR"/>
          </a:p>
        </p:txBody>
      </p:sp>
      <p:sp>
        <p:nvSpPr>
          <p:cNvPr id="24" name="Shape 21"/>
          <p:cNvSpPr/>
          <p:nvPr/>
        </p:nvSpPr>
        <p:spPr>
          <a:xfrm flipH="1">
            <a:off x="7223760" y="2971800"/>
            <a:ext cx="1554480" cy="1371600"/>
          </a:xfrm>
          <a:prstGeom prst="line">
            <a:avLst/>
          </a:prstGeom>
          <a:noFill/>
          <a:ln w="9525">
            <a:solidFill>
              <a:srgbClr val="0EA5A4"/>
            </a:solidFill>
            <a:prstDash val="solid"/>
          </a:ln>
        </p:spPr>
        <p:txBody>
          <a:bodyPr/>
          <a:lstStyle/>
          <a:p>
            <a:endParaRPr lang="es-AR"/>
          </a:p>
        </p:txBody>
      </p:sp>
      <p:sp>
        <p:nvSpPr>
          <p:cNvPr id="25" name="Shape 22"/>
          <p:cNvSpPr/>
          <p:nvPr/>
        </p:nvSpPr>
        <p:spPr>
          <a:xfrm flipH="1">
            <a:off x="7223760" y="2971800"/>
            <a:ext cx="2468880" cy="1371600"/>
          </a:xfrm>
          <a:prstGeom prst="line">
            <a:avLst/>
          </a:prstGeom>
          <a:noFill/>
          <a:ln w="9525">
            <a:solidFill>
              <a:srgbClr val="0EA5A4"/>
            </a:solidFill>
            <a:prstDash val="solid"/>
          </a:ln>
        </p:spPr>
        <p:txBody>
          <a:bodyPr/>
          <a:lstStyle/>
          <a:p>
            <a:endParaRPr lang="es-AR"/>
          </a:p>
        </p:txBody>
      </p:sp>
      <p:sp>
        <p:nvSpPr>
          <p:cNvPr id="26" name="Shape 23"/>
          <p:cNvSpPr/>
          <p:nvPr/>
        </p:nvSpPr>
        <p:spPr>
          <a:xfrm>
            <a:off x="6949440" y="2971800"/>
            <a:ext cx="1005840" cy="1371600"/>
          </a:xfrm>
          <a:prstGeom prst="line">
            <a:avLst/>
          </a:prstGeom>
          <a:noFill/>
          <a:ln w="9525">
            <a:solidFill>
              <a:srgbClr val="0EA5A4"/>
            </a:solidFill>
            <a:prstDash val="solid"/>
          </a:ln>
        </p:spPr>
        <p:txBody>
          <a:bodyPr/>
          <a:lstStyle/>
          <a:p>
            <a:endParaRPr lang="es-AR"/>
          </a:p>
        </p:txBody>
      </p:sp>
      <p:sp>
        <p:nvSpPr>
          <p:cNvPr id="27" name="Shape 24"/>
          <p:cNvSpPr/>
          <p:nvPr/>
        </p:nvSpPr>
        <p:spPr>
          <a:xfrm>
            <a:off x="7863840" y="2971800"/>
            <a:ext cx="91440" cy="1371600"/>
          </a:xfrm>
          <a:prstGeom prst="line">
            <a:avLst/>
          </a:prstGeom>
          <a:noFill/>
          <a:ln w="9525">
            <a:solidFill>
              <a:srgbClr val="0EA5A4"/>
            </a:solidFill>
            <a:prstDash val="solid"/>
          </a:ln>
        </p:spPr>
        <p:txBody>
          <a:bodyPr/>
          <a:lstStyle/>
          <a:p>
            <a:endParaRPr lang="es-AR"/>
          </a:p>
        </p:txBody>
      </p:sp>
      <p:sp>
        <p:nvSpPr>
          <p:cNvPr id="28" name="Shape 25"/>
          <p:cNvSpPr/>
          <p:nvPr/>
        </p:nvSpPr>
        <p:spPr>
          <a:xfrm flipH="1">
            <a:off x="7955280" y="2971800"/>
            <a:ext cx="822960" cy="1371600"/>
          </a:xfrm>
          <a:prstGeom prst="line">
            <a:avLst/>
          </a:prstGeom>
          <a:noFill/>
          <a:ln w="9525">
            <a:solidFill>
              <a:srgbClr val="0EA5A4"/>
            </a:solidFill>
            <a:prstDash val="solid"/>
          </a:ln>
        </p:spPr>
        <p:txBody>
          <a:bodyPr/>
          <a:lstStyle/>
          <a:p>
            <a:endParaRPr lang="es-AR"/>
          </a:p>
        </p:txBody>
      </p:sp>
      <p:sp>
        <p:nvSpPr>
          <p:cNvPr id="29" name="Shape 26"/>
          <p:cNvSpPr/>
          <p:nvPr/>
        </p:nvSpPr>
        <p:spPr>
          <a:xfrm flipH="1">
            <a:off x="7955280" y="2971800"/>
            <a:ext cx="1737360" cy="1371600"/>
          </a:xfrm>
          <a:prstGeom prst="line">
            <a:avLst/>
          </a:prstGeom>
          <a:noFill/>
          <a:ln w="9525">
            <a:solidFill>
              <a:srgbClr val="0EA5A4"/>
            </a:solidFill>
            <a:prstDash val="solid"/>
          </a:ln>
        </p:spPr>
        <p:txBody>
          <a:bodyPr/>
          <a:lstStyle/>
          <a:p>
            <a:endParaRPr lang="es-AR"/>
          </a:p>
        </p:txBody>
      </p:sp>
      <p:sp>
        <p:nvSpPr>
          <p:cNvPr id="30" name="Shape 27"/>
          <p:cNvSpPr/>
          <p:nvPr/>
        </p:nvSpPr>
        <p:spPr>
          <a:xfrm>
            <a:off x="6949440" y="2971800"/>
            <a:ext cx="1737360" cy="1371600"/>
          </a:xfrm>
          <a:prstGeom prst="line">
            <a:avLst/>
          </a:prstGeom>
          <a:noFill/>
          <a:ln w="9525">
            <a:solidFill>
              <a:srgbClr val="0EA5A4"/>
            </a:solidFill>
            <a:prstDash val="solid"/>
          </a:ln>
        </p:spPr>
        <p:txBody>
          <a:bodyPr/>
          <a:lstStyle/>
          <a:p>
            <a:endParaRPr lang="es-AR"/>
          </a:p>
        </p:txBody>
      </p:sp>
      <p:sp>
        <p:nvSpPr>
          <p:cNvPr id="31" name="Shape 28"/>
          <p:cNvSpPr/>
          <p:nvPr/>
        </p:nvSpPr>
        <p:spPr>
          <a:xfrm>
            <a:off x="7863840" y="2971800"/>
            <a:ext cx="822960" cy="1371600"/>
          </a:xfrm>
          <a:prstGeom prst="line">
            <a:avLst/>
          </a:prstGeom>
          <a:noFill/>
          <a:ln w="9525">
            <a:solidFill>
              <a:srgbClr val="0EA5A4"/>
            </a:solidFill>
            <a:prstDash val="solid"/>
          </a:ln>
        </p:spPr>
        <p:txBody>
          <a:bodyPr/>
          <a:lstStyle/>
          <a:p>
            <a:endParaRPr lang="es-AR"/>
          </a:p>
        </p:txBody>
      </p:sp>
      <p:sp>
        <p:nvSpPr>
          <p:cNvPr id="32" name="Shape 29"/>
          <p:cNvSpPr/>
          <p:nvPr/>
        </p:nvSpPr>
        <p:spPr>
          <a:xfrm flipH="1">
            <a:off x="8686800" y="2971800"/>
            <a:ext cx="91440" cy="1371600"/>
          </a:xfrm>
          <a:prstGeom prst="line">
            <a:avLst/>
          </a:prstGeom>
          <a:noFill/>
          <a:ln w="9525">
            <a:solidFill>
              <a:srgbClr val="0EA5A4"/>
            </a:solidFill>
            <a:prstDash val="solid"/>
          </a:ln>
        </p:spPr>
        <p:txBody>
          <a:bodyPr/>
          <a:lstStyle/>
          <a:p>
            <a:endParaRPr lang="es-AR"/>
          </a:p>
        </p:txBody>
      </p:sp>
      <p:sp>
        <p:nvSpPr>
          <p:cNvPr id="33" name="Shape 30"/>
          <p:cNvSpPr/>
          <p:nvPr/>
        </p:nvSpPr>
        <p:spPr>
          <a:xfrm flipH="1">
            <a:off x="8686800" y="2971800"/>
            <a:ext cx="1005840" cy="1371600"/>
          </a:xfrm>
          <a:prstGeom prst="line">
            <a:avLst/>
          </a:prstGeom>
          <a:noFill/>
          <a:ln w="9525">
            <a:solidFill>
              <a:srgbClr val="0EA5A4"/>
            </a:solidFill>
            <a:prstDash val="solid"/>
          </a:ln>
        </p:spPr>
        <p:txBody>
          <a:bodyPr/>
          <a:lstStyle/>
          <a:p>
            <a:endParaRPr lang="es-AR"/>
          </a:p>
        </p:txBody>
      </p:sp>
      <p:sp>
        <p:nvSpPr>
          <p:cNvPr id="34" name="Shape 31"/>
          <p:cNvSpPr/>
          <p:nvPr/>
        </p:nvSpPr>
        <p:spPr>
          <a:xfrm>
            <a:off x="6949440" y="2971800"/>
            <a:ext cx="2468880" cy="1371600"/>
          </a:xfrm>
          <a:prstGeom prst="line">
            <a:avLst/>
          </a:prstGeom>
          <a:noFill/>
          <a:ln w="9525">
            <a:solidFill>
              <a:srgbClr val="0EA5A4"/>
            </a:solidFill>
            <a:prstDash val="solid"/>
          </a:ln>
        </p:spPr>
        <p:txBody>
          <a:bodyPr/>
          <a:lstStyle/>
          <a:p>
            <a:endParaRPr lang="es-AR"/>
          </a:p>
        </p:txBody>
      </p:sp>
      <p:sp>
        <p:nvSpPr>
          <p:cNvPr id="35" name="Shape 32"/>
          <p:cNvSpPr/>
          <p:nvPr/>
        </p:nvSpPr>
        <p:spPr>
          <a:xfrm>
            <a:off x="7863840" y="2971800"/>
            <a:ext cx="1554480" cy="1371600"/>
          </a:xfrm>
          <a:prstGeom prst="line">
            <a:avLst/>
          </a:prstGeom>
          <a:noFill/>
          <a:ln w="9525">
            <a:solidFill>
              <a:srgbClr val="0EA5A4"/>
            </a:solidFill>
            <a:prstDash val="solid"/>
          </a:ln>
        </p:spPr>
        <p:txBody>
          <a:bodyPr/>
          <a:lstStyle/>
          <a:p>
            <a:endParaRPr lang="es-AR"/>
          </a:p>
        </p:txBody>
      </p:sp>
      <p:sp>
        <p:nvSpPr>
          <p:cNvPr id="36" name="Shape 33"/>
          <p:cNvSpPr/>
          <p:nvPr/>
        </p:nvSpPr>
        <p:spPr>
          <a:xfrm>
            <a:off x="8778240" y="2971800"/>
            <a:ext cx="640080" cy="1371600"/>
          </a:xfrm>
          <a:prstGeom prst="line">
            <a:avLst/>
          </a:prstGeom>
          <a:noFill/>
          <a:ln w="9525">
            <a:solidFill>
              <a:srgbClr val="0EA5A4"/>
            </a:solidFill>
            <a:prstDash val="solid"/>
          </a:ln>
        </p:spPr>
        <p:txBody>
          <a:bodyPr/>
          <a:lstStyle/>
          <a:p>
            <a:endParaRPr lang="es-AR"/>
          </a:p>
        </p:txBody>
      </p:sp>
      <p:sp>
        <p:nvSpPr>
          <p:cNvPr id="37" name="Shape 34"/>
          <p:cNvSpPr/>
          <p:nvPr/>
        </p:nvSpPr>
        <p:spPr>
          <a:xfrm flipH="1">
            <a:off x="9418320" y="2971800"/>
            <a:ext cx="274320" cy="1371600"/>
          </a:xfrm>
          <a:prstGeom prst="line">
            <a:avLst/>
          </a:prstGeom>
          <a:noFill/>
          <a:ln w="9525">
            <a:solidFill>
              <a:srgbClr val="0EA5A4"/>
            </a:solidFill>
            <a:prstDash val="solid"/>
          </a:ln>
        </p:spPr>
        <p:txBody>
          <a:bodyPr/>
          <a:lstStyle/>
          <a:p>
            <a:endParaRPr lang="es-AR"/>
          </a:p>
        </p:txBody>
      </p:sp>
      <p:sp>
        <p:nvSpPr>
          <p:cNvPr id="38" name="Shape 35"/>
          <p:cNvSpPr/>
          <p:nvPr/>
        </p:nvSpPr>
        <p:spPr>
          <a:xfrm>
            <a:off x="6949440" y="2971800"/>
            <a:ext cx="3200400" cy="1371600"/>
          </a:xfrm>
          <a:prstGeom prst="line">
            <a:avLst/>
          </a:prstGeom>
          <a:noFill/>
          <a:ln w="9525">
            <a:solidFill>
              <a:srgbClr val="0EA5A4"/>
            </a:solidFill>
            <a:prstDash val="solid"/>
          </a:ln>
        </p:spPr>
        <p:txBody>
          <a:bodyPr/>
          <a:lstStyle/>
          <a:p>
            <a:endParaRPr lang="es-AR"/>
          </a:p>
        </p:txBody>
      </p:sp>
      <p:sp>
        <p:nvSpPr>
          <p:cNvPr id="39" name="Shape 36"/>
          <p:cNvSpPr/>
          <p:nvPr/>
        </p:nvSpPr>
        <p:spPr>
          <a:xfrm>
            <a:off x="7863840" y="2971800"/>
            <a:ext cx="2286000" cy="1371600"/>
          </a:xfrm>
          <a:prstGeom prst="line">
            <a:avLst/>
          </a:prstGeom>
          <a:noFill/>
          <a:ln w="9525">
            <a:solidFill>
              <a:srgbClr val="0EA5A4"/>
            </a:solidFill>
            <a:prstDash val="solid"/>
          </a:ln>
        </p:spPr>
        <p:txBody>
          <a:bodyPr/>
          <a:lstStyle/>
          <a:p>
            <a:endParaRPr lang="es-AR"/>
          </a:p>
        </p:txBody>
      </p:sp>
      <p:sp>
        <p:nvSpPr>
          <p:cNvPr id="40" name="Shape 37"/>
          <p:cNvSpPr/>
          <p:nvPr/>
        </p:nvSpPr>
        <p:spPr>
          <a:xfrm>
            <a:off x="8778240" y="2971800"/>
            <a:ext cx="1371600" cy="1371600"/>
          </a:xfrm>
          <a:prstGeom prst="line">
            <a:avLst/>
          </a:prstGeom>
          <a:noFill/>
          <a:ln w="9525">
            <a:solidFill>
              <a:srgbClr val="0EA5A4"/>
            </a:solidFill>
            <a:prstDash val="solid"/>
          </a:ln>
        </p:spPr>
        <p:txBody>
          <a:bodyPr/>
          <a:lstStyle/>
          <a:p>
            <a:endParaRPr lang="es-AR"/>
          </a:p>
        </p:txBody>
      </p:sp>
      <p:sp>
        <p:nvSpPr>
          <p:cNvPr id="41" name="Shape 38"/>
          <p:cNvSpPr/>
          <p:nvPr/>
        </p:nvSpPr>
        <p:spPr>
          <a:xfrm>
            <a:off x="9692640" y="2971800"/>
            <a:ext cx="457200" cy="1371600"/>
          </a:xfrm>
          <a:prstGeom prst="line">
            <a:avLst/>
          </a:prstGeom>
          <a:noFill/>
          <a:ln w="9525">
            <a:solidFill>
              <a:srgbClr val="0EA5A4"/>
            </a:solidFill>
            <a:prstDash val="solid"/>
          </a:ln>
        </p:spPr>
        <p:txBody>
          <a:bodyPr/>
          <a:lstStyle/>
          <a:p>
            <a:endParaRPr lang="es-AR"/>
          </a:p>
        </p:txBody>
      </p:sp>
      <p:sp>
        <p:nvSpPr>
          <p:cNvPr id="42" name="Shape 39"/>
          <p:cNvSpPr/>
          <p:nvPr/>
        </p:nvSpPr>
        <p:spPr>
          <a:xfrm>
            <a:off x="6720840" y="2514600"/>
            <a:ext cx="457200" cy="457200"/>
          </a:xfrm>
          <a:prstGeom prst="ellipse">
            <a:avLst/>
          </a:prstGeom>
          <a:solidFill>
            <a:schemeClr val="accent3"/>
          </a:solidFill>
          <a:ln w="19050">
            <a:solidFill>
              <a:schemeClr val="bg1"/>
            </a:solidFill>
            <a:prstDash val="solid"/>
          </a:ln>
        </p:spPr>
        <p:txBody>
          <a:bodyPr/>
          <a:lstStyle/>
          <a:p>
            <a:endParaRPr lang="es-AR"/>
          </a:p>
        </p:txBody>
      </p:sp>
      <p:sp>
        <p:nvSpPr>
          <p:cNvPr id="43" name="Shape 40"/>
          <p:cNvSpPr/>
          <p:nvPr/>
        </p:nvSpPr>
        <p:spPr>
          <a:xfrm>
            <a:off x="7635240" y="2514600"/>
            <a:ext cx="457200" cy="457200"/>
          </a:xfrm>
          <a:prstGeom prst="ellipse">
            <a:avLst/>
          </a:prstGeom>
          <a:solidFill>
            <a:schemeClr val="accent2"/>
          </a:solidFill>
          <a:ln w="19050">
            <a:solidFill>
              <a:schemeClr val="bg1"/>
            </a:solidFill>
            <a:prstDash val="solid"/>
          </a:ln>
        </p:spPr>
        <p:txBody>
          <a:bodyPr/>
          <a:lstStyle/>
          <a:p>
            <a:endParaRPr lang="es-AR"/>
          </a:p>
        </p:txBody>
      </p:sp>
      <p:sp>
        <p:nvSpPr>
          <p:cNvPr id="44" name="Shape 41"/>
          <p:cNvSpPr/>
          <p:nvPr/>
        </p:nvSpPr>
        <p:spPr>
          <a:xfrm>
            <a:off x="8549640" y="2514600"/>
            <a:ext cx="457200" cy="457200"/>
          </a:xfrm>
          <a:prstGeom prst="ellipse">
            <a:avLst/>
          </a:prstGeom>
          <a:solidFill>
            <a:schemeClr val="accent3"/>
          </a:solidFill>
          <a:ln w="19050">
            <a:solidFill>
              <a:schemeClr val="bg1"/>
            </a:solidFill>
            <a:prstDash val="solid"/>
          </a:ln>
        </p:spPr>
        <p:txBody>
          <a:bodyPr/>
          <a:lstStyle/>
          <a:p>
            <a:endParaRPr lang="es-AR"/>
          </a:p>
        </p:txBody>
      </p:sp>
      <p:sp>
        <p:nvSpPr>
          <p:cNvPr id="45" name="Shape 42"/>
          <p:cNvSpPr/>
          <p:nvPr/>
        </p:nvSpPr>
        <p:spPr>
          <a:xfrm>
            <a:off x="9464040" y="2514600"/>
            <a:ext cx="457200" cy="457200"/>
          </a:xfrm>
          <a:prstGeom prst="ellipse">
            <a:avLst/>
          </a:prstGeom>
          <a:solidFill>
            <a:schemeClr val="accent3"/>
          </a:solidFill>
          <a:ln w="19050">
            <a:solidFill>
              <a:schemeClr val="bg1"/>
            </a:solidFill>
            <a:prstDash val="solid"/>
          </a:ln>
        </p:spPr>
        <p:txBody>
          <a:bodyPr/>
          <a:lstStyle/>
          <a:p>
            <a:endParaRPr lang="es-AR"/>
          </a:p>
        </p:txBody>
      </p:sp>
      <p:sp>
        <p:nvSpPr>
          <p:cNvPr id="46" name="Shape 43"/>
          <p:cNvSpPr/>
          <p:nvPr/>
        </p:nvSpPr>
        <p:spPr>
          <a:xfrm>
            <a:off x="6309360" y="4343400"/>
            <a:ext cx="365760" cy="365760"/>
          </a:xfrm>
          <a:prstGeom prst="ellipse">
            <a:avLst/>
          </a:prstGeom>
          <a:solidFill>
            <a:schemeClr val="accent1"/>
          </a:solidFill>
          <a:ln w="19050">
            <a:solidFill>
              <a:schemeClr val="bg1"/>
            </a:solidFill>
            <a:prstDash val="solid"/>
          </a:ln>
        </p:spPr>
        <p:txBody>
          <a:bodyPr/>
          <a:lstStyle/>
          <a:p>
            <a:endParaRPr lang="es-AR"/>
          </a:p>
        </p:txBody>
      </p:sp>
      <p:sp>
        <p:nvSpPr>
          <p:cNvPr id="47" name="Text 44"/>
          <p:cNvSpPr txBox="1"/>
          <p:nvPr/>
        </p:nvSpPr>
        <p:spPr>
          <a:xfrm>
            <a:off x="6309360" y="4846320"/>
            <a:ext cx="365760" cy="274320"/>
          </a:xfrm>
          <a:prstGeom prst="rect">
            <a:avLst/>
          </a:prstGeom>
          <a:noFill/>
          <a:ln/>
        </p:spPr>
        <p:txBody>
          <a:bodyPr wrap="square" lIns="0" tIns="0" rIns="0" bIns="0" rtlCol="0" anchor="t"/>
          <a:lstStyle/>
          <a:p>
            <a:pPr marL="0" indent="0" algn="ctr">
              <a:buNone/>
            </a:pPr>
            <a:r>
              <a:rPr lang="en-US" sz="1400" b="1" dirty="0">
                <a:solidFill>
                  <a:schemeClr val="tx2"/>
                </a:solidFill>
              </a:rPr>
              <a:t>0</a:t>
            </a:r>
            <a:endParaRPr lang="en-US" sz="1400" dirty="0"/>
          </a:p>
        </p:txBody>
      </p:sp>
      <p:sp>
        <p:nvSpPr>
          <p:cNvPr id="48" name="Shape 45"/>
          <p:cNvSpPr/>
          <p:nvPr/>
        </p:nvSpPr>
        <p:spPr>
          <a:xfrm>
            <a:off x="7040880" y="4343400"/>
            <a:ext cx="365760" cy="365760"/>
          </a:xfrm>
          <a:prstGeom prst="ellipse">
            <a:avLst/>
          </a:prstGeom>
          <a:solidFill>
            <a:schemeClr val="accent1"/>
          </a:solidFill>
          <a:ln w="19050">
            <a:solidFill>
              <a:schemeClr val="bg1"/>
            </a:solidFill>
            <a:prstDash val="solid"/>
          </a:ln>
        </p:spPr>
        <p:txBody>
          <a:bodyPr/>
          <a:lstStyle/>
          <a:p>
            <a:endParaRPr lang="es-AR"/>
          </a:p>
        </p:txBody>
      </p:sp>
      <p:sp>
        <p:nvSpPr>
          <p:cNvPr id="49" name="Text 46"/>
          <p:cNvSpPr txBox="1"/>
          <p:nvPr/>
        </p:nvSpPr>
        <p:spPr>
          <a:xfrm>
            <a:off x="7040880" y="4846320"/>
            <a:ext cx="365760" cy="274320"/>
          </a:xfrm>
          <a:prstGeom prst="rect">
            <a:avLst/>
          </a:prstGeom>
          <a:noFill/>
          <a:ln/>
        </p:spPr>
        <p:txBody>
          <a:bodyPr wrap="square" lIns="0" tIns="0" rIns="0" bIns="0" rtlCol="0" anchor="t"/>
          <a:lstStyle/>
          <a:p>
            <a:pPr marL="0" indent="0" algn="ctr">
              <a:buNone/>
            </a:pPr>
            <a:r>
              <a:rPr lang="en-US" sz="1400" b="1" dirty="0">
                <a:solidFill>
                  <a:schemeClr val="tx2"/>
                </a:solidFill>
              </a:rPr>
              <a:t>1</a:t>
            </a:r>
            <a:endParaRPr lang="en-US" sz="1400" dirty="0"/>
          </a:p>
        </p:txBody>
      </p:sp>
      <p:sp>
        <p:nvSpPr>
          <p:cNvPr id="50" name="Shape 47"/>
          <p:cNvSpPr/>
          <p:nvPr/>
        </p:nvSpPr>
        <p:spPr>
          <a:xfrm>
            <a:off x="7772400" y="4343400"/>
            <a:ext cx="365760" cy="365760"/>
          </a:xfrm>
          <a:prstGeom prst="ellipse">
            <a:avLst/>
          </a:prstGeom>
          <a:solidFill>
            <a:schemeClr val="accent1"/>
          </a:solidFill>
          <a:ln w="19050">
            <a:solidFill>
              <a:schemeClr val="bg1"/>
            </a:solidFill>
            <a:prstDash val="solid"/>
          </a:ln>
        </p:spPr>
        <p:txBody>
          <a:bodyPr/>
          <a:lstStyle/>
          <a:p>
            <a:endParaRPr lang="es-AR"/>
          </a:p>
        </p:txBody>
      </p:sp>
      <p:sp>
        <p:nvSpPr>
          <p:cNvPr id="51" name="Text 48"/>
          <p:cNvSpPr txBox="1"/>
          <p:nvPr/>
        </p:nvSpPr>
        <p:spPr>
          <a:xfrm>
            <a:off x="7772400" y="4846320"/>
            <a:ext cx="365760" cy="274320"/>
          </a:xfrm>
          <a:prstGeom prst="rect">
            <a:avLst/>
          </a:prstGeom>
          <a:noFill/>
          <a:ln/>
        </p:spPr>
        <p:txBody>
          <a:bodyPr wrap="square" lIns="0" tIns="0" rIns="0" bIns="0" rtlCol="0" anchor="t"/>
          <a:lstStyle/>
          <a:p>
            <a:pPr marL="0" indent="0" algn="ctr">
              <a:buNone/>
            </a:pPr>
            <a:r>
              <a:rPr lang="en-US" sz="1400" b="1" dirty="0">
                <a:solidFill>
                  <a:schemeClr val="tx2"/>
                </a:solidFill>
              </a:rPr>
              <a:t>1</a:t>
            </a:r>
            <a:endParaRPr lang="en-US" sz="1400" dirty="0"/>
          </a:p>
        </p:txBody>
      </p:sp>
      <p:sp>
        <p:nvSpPr>
          <p:cNvPr id="52" name="Shape 49"/>
          <p:cNvSpPr/>
          <p:nvPr/>
        </p:nvSpPr>
        <p:spPr>
          <a:xfrm>
            <a:off x="8503920" y="4343400"/>
            <a:ext cx="365760" cy="365760"/>
          </a:xfrm>
          <a:prstGeom prst="ellipse">
            <a:avLst/>
          </a:prstGeom>
          <a:solidFill>
            <a:schemeClr val="accent1"/>
          </a:solidFill>
          <a:ln w="19050">
            <a:solidFill>
              <a:schemeClr val="bg1"/>
            </a:solidFill>
            <a:prstDash val="solid"/>
          </a:ln>
        </p:spPr>
        <p:txBody>
          <a:bodyPr/>
          <a:lstStyle/>
          <a:p>
            <a:endParaRPr lang="es-AR"/>
          </a:p>
        </p:txBody>
      </p:sp>
      <p:sp>
        <p:nvSpPr>
          <p:cNvPr id="53" name="Text 50"/>
          <p:cNvSpPr txBox="1"/>
          <p:nvPr/>
        </p:nvSpPr>
        <p:spPr>
          <a:xfrm>
            <a:off x="8503920" y="4846320"/>
            <a:ext cx="365760" cy="274320"/>
          </a:xfrm>
          <a:prstGeom prst="rect">
            <a:avLst/>
          </a:prstGeom>
          <a:noFill/>
          <a:ln/>
        </p:spPr>
        <p:txBody>
          <a:bodyPr wrap="square" lIns="0" tIns="0" rIns="0" bIns="0" rtlCol="0" anchor="t"/>
          <a:lstStyle/>
          <a:p>
            <a:pPr marL="0" indent="0" algn="ctr">
              <a:buNone/>
            </a:pPr>
            <a:r>
              <a:rPr lang="en-US" sz="1400" b="1" dirty="0">
                <a:solidFill>
                  <a:schemeClr val="tx2"/>
                </a:solidFill>
              </a:rPr>
              <a:t>0</a:t>
            </a:r>
            <a:endParaRPr lang="en-US" sz="1400" dirty="0"/>
          </a:p>
        </p:txBody>
      </p:sp>
      <p:sp>
        <p:nvSpPr>
          <p:cNvPr id="54" name="Shape 51"/>
          <p:cNvSpPr/>
          <p:nvPr/>
        </p:nvSpPr>
        <p:spPr>
          <a:xfrm>
            <a:off x="9235440" y="4343400"/>
            <a:ext cx="365760" cy="365760"/>
          </a:xfrm>
          <a:prstGeom prst="ellipse">
            <a:avLst/>
          </a:prstGeom>
          <a:solidFill>
            <a:schemeClr val="accent1"/>
          </a:solidFill>
          <a:ln w="19050">
            <a:solidFill>
              <a:schemeClr val="bg1"/>
            </a:solidFill>
            <a:prstDash val="solid"/>
          </a:ln>
        </p:spPr>
        <p:txBody>
          <a:bodyPr/>
          <a:lstStyle/>
          <a:p>
            <a:endParaRPr lang="es-AR"/>
          </a:p>
        </p:txBody>
      </p:sp>
      <p:sp>
        <p:nvSpPr>
          <p:cNvPr id="55" name="Text 52"/>
          <p:cNvSpPr txBox="1"/>
          <p:nvPr/>
        </p:nvSpPr>
        <p:spPr>
          <a:xfrm>
            <a:off x="9235440" y="4846320"/>
            <a:ext cx="365760" cy="274320"/>
          </a:xfrm>
          <a:prstGeom prst="rect">
            <a:avLst/>
          </a:prstGeom>
          <a:noFill/>
          <a:ln/>
        </p:spPr>
        <p:txBody>
          <a:bodyPr wrap="square" lIns="0" tIns="0" rIns="0" bIns="0" rtlCol="0" anchor="t"/>
          <a:lstStyle/>
          <a:p>
            <a:pPr marL="0" indent="0" algn="ctr">
              <a:buNone/>
            </a:pPr>
            <a:r>
              <a:rPr lang="en-US" sz="1400" b="1" dirty="0">
                <a:solidFill>
                  <a:schemeClr val="tx2"/>
                </a:solidFill>
              </a:rPr>
              <a:t>1</a:t>
            </a:r>
            <a:endParaRPr lang="en-US" sz="1400" dirty="0"/>
          </a:p>
        </p:txBody>
      </p:sp>
      <p:sp>
        <p:nvSpPr>
          <p:cNvPr id="56" name="Shape 53"/>
          <p:cNvSpPr/>
          <p:nvPr/>
        </p:nvSpPr>
        <p:spPr>
          <a:xfrm>
            <a:off x="9966960" y="4343400"/>
            <a:ext cx="365760" cy="365760"/>
          </a:xfrm>
          <a:prstGeom prst="ellipse">
            <a:avLst/>
          </a:prstGeom>
          <a:solidFill>
            <a:schemeClr val="accent1"/>
          </a:solidFill>
          <a:ln w="19050">
            <a:solidFill>
              <a:schemeClr val="bg1"/>
            </a:solidFill>
            <a:prstDash val="solid"/>
          </a:ln>
        </p:spPr>
        <p:txBody>
          <a:bodyPr/>
          <a:lstStyle/>
          <a:p>
            <a:endParaRPr lang="es-AR"/>
          </a:p>
        </p:txBody>
      </p:sp>
      <p:sp>
        <p:nvSpPr>
          <p:cNvPr id="57" name="Text 54"/>
          <p:cNvSpPr txBox="1"/>
          <p:nvPr/>
        </p:nvSpPr>
        <p:spPr>
          <a:xfrm>
            <a:off x="9966960" y="4846320"/>
            <a:ext cx="365760" cy="274320"/>
          </a:xfrm>
          <a:prstGeom prst="rect">
            <a:avLst/>
          </a:prstGeom>
          <a:noFill/>
          <a:ln/>
        </p:spPr>
        <p:txBody>
          <a:bodyPr wrap="square" lIns="0" tIns="0" rIns="0" bIns="0" rtlCol="0" anchor="t"/>
          <a:lstStyle/>
          <a:p>
            <a:pPr marL="0" indent="0" algn="ctr">
              <a:buNone/>
            </a:pPr>
            <a:r>
              <a:rPr lang="en-US" sz="1400" b="1" dirty="0">
                <a:solidFill>
                  <a:schemeClr val="tx2"/>
                </a:solidFill>
              </a:rPr>
              <a:t>0</a:t>
            </a:r>
            <a:endParaRPr lang="en-US" sz="1400" dirty="0"/>
          </a:p>
        </p:txBody>
      </p:sp>
      <p:sp>
        <p:nvSpPr>
          <p:cNvPr id="58" name="Text 55"/>
          <p:cNvSpPr txBox="1"/>
          <p:nvPr/>
        </p:nvSpPr>
        <p:spPr>
          <a:xfrm>
            <a:off x="6217920" y="1783080"/>
            <a:ext cx="5303520" cy="320040"/>
          </a:xfrm>
          <a:prstGeom prst="rect">
            <a:avLst/>
          </a:prstGeom>
          <a:noFill/>
          <a:ln/>
        </p:spPr>
        <p:txBody>
          <a:bodyPr wrap="square" lIns="0" tIns="0" rIns="0" bIns="0" rtlCol="0" anchor="t"/>
          <a:lstStyle/>
          <a:p>
            <a:pPr marL="0" indent="0">
              <a:buNone/>
            </a:pPr>
            <a:r>
              <a:rPr lang="en-US" sz="1400" b="1" dirty="0">
                <a:solidFill>
                  <a:schemeClr val="accent3"/>
                </a:solidFill>
              </a:rPr>
              <a:t>F2 · reconocimiento: un nodo por categoría</a:t>
            </a:r>
            <a:endParaRPr lang="en-US" sz="1400" dirty="0"/>
          </a:p>
        </p:txBody>
      </p:sp>
      <p:sp>
        <p:nvSpPr>
          <p:cNvPr id="59" name="Text 56"/>
          <p:cNvSpPr txBox="1"/>
          <p:nvPr/>
        </p:nvSpPr>
        <p:spPr>
          <a:xfrm>
            <a:off x="6217920" y="5257800"/>
            <a:ext cx="5303520" cy="320040"/>
          </a:xfrm>
          <a:prstGeom prst="rect">
            <a:avLst/>
          </a:prstGeom>
          <a:noFill/>
          <a:ln/>
        </p:spPr>
        <p:txBody>
          <a:bodyPr wrap="square" lIns="0" tIns="0" rIns="0" bIns="0" rtlCol="0" anchor="t"/>
          <a:lstStyle/>
          <a:p>
            <a:pPr marL="0" indent="0">
              <a:buNone/>
            </a:pPr>
            <a:r>
              <a:rPr lang="en-US" sz="1400" b="1" dirty="0">
                <a:solidFill>
                  <a:schemeClr val="accent1"/>
                </a:solidFill>
              </a:rPr>
              <a:t>F1 · comparación: una neurona por bit</a:t>
            </a:r>
            <a:endParaRPr lang="en-US" sz="1400" dirty="0"/>
          </a:p>
        </p:txBody>
      </p:sp>
      <p:sp>
        <p:nvSpPr>
          <p:cNvPr id="60" name="Text 57"/>
          <p:cNvSpPr txBox="1"/>
          <p:nvPr/>
        </p:nvSpPr>
        <p:spPr>
          <a:xfrm>
            <a:off x="6217920" y="5577840"/>
            <a:ext cx="2743200" cy="274320"/>
          </a:xfrm>
          <a:prstGeom prst="rect">
            <a:avLst/>
          </a:prstGeom>
          <a:noFill/>
          <a:ln/>
        </p:spPr>
        <p:txBody>
          <a:bodyPr wrap="square" lIns="0" tIns="0" rIns="0" bIns="0" rtlCol="0" anchor="t"/>
          <a:lstStyle/>
          <a:p>
            <a:pPr marL="0" indent="0">
              <a:buNone/>
            </a:pPr>
            <a:r>
              <a:rPr lang="en-US" sz="1200" dirty="0">
                <a:solidFill>
                  <a:srgbClr val="64748B"/>
                </a:solidFill>
              </a:rPr>
              <a:t>entrada X (binaria)</a:t>
            </a:r>
            <a:endParaRPr lang="en-US" sz="1200" dirty="0"/>
          </a:p>
        </p:txBody>
      </p:sp>
      <p:sp>
        <p:nvSpPr>
          <p:cNvPr id="61" name="Text 58"/>
          <p:cNvSpPr txBox="1"/>
          <p:nvPr/>
        </p:nvSpPr>
        <p:spPr>
          <a:xfrm>
            <a:off x="8503920" y="5577840"/>
            <a:ext cx="3017520" cy="274320"/>
          </a:xfrm>
          <a:prstGeom prst="rect">
            <a:avLst/>
          </a:prstGeom>
          <a:noFill/>
          <a:ln/>
        </p:spPr>
        <p:txBody>
          <a:bodyPr wrap="square" lIns="0" tIns="0" rIns="0" bIns="0" rtlCol="0" anchor="t"/>
          <a:lstStyle/>
          <a:p>
            <a:pPr marL="0" indent="0" algn="r">
              <a:buNone/>
            </a:pPr>
            <a:r>
              <a:rPr lang="en-US" sz="1200" dirty="0">
                <a:solidFill>
                  <a:srgbClr val="64748B"/>
                </a:solidFill>
              </a:rPr>
              <a:t>pesos b ↑ eligen · pesos t ↓ = prototipo</a:t>
            </a:r>
            <a:endParaRPr lang="en-US" sz="1200" dirty="0"/>
          </a:p>
        </p:txBody>
      </p:sp>
      <p:sp>
        <p:nvSpPr>
          <p:cNvPr id="62" name="Shape 59"/>
          <p:cNvSpPr/>
          <p:nvPr/>
        </p:nvSpPr>
        <p:spPr>
          <a:xfrm>
            <a:off x="10378440" y="3063240"/>
            <a:ext cx="1143000" cy="1005840"/>
          </a:xfrm>
          <a:prstGeom prst="roundRect">
            <a:avLst>
              <a:gd name="adj" fmla="val 9091"/>
            </a:avLst>
          </a:prstGeom>
          <a:solidFill>
            <a:schemeClr val="bg1"/>
          </a:solidFill>
          <a:ln w="19050">
            <a:solidFill>
              <a:srgbClr val="F59E0B"/>
            </a:solidFill>
            <a:prstDash val="solid"/>
          </a:ln>
        </p:spPr>
        <p:txBody>
          <a:bodyPr/>
          <a:lstStyle/>
          <a:p>
            <a:endParaRPr lang="es-AR"/>
          </a:p>
        </p:txBody>
      </p:sp>
      <p:sp>
        <p:nvSpPr>
          <p:cNvPr id="63" name="Text 60"/>
          <p:cNvSpPr txBox="1"/>
          <p:nvPr/>
        </p:nvSpPr>
        <p:spPr>
          <a:xfrm>
            <a:off x="10378440" y="3127248"/>
            <a:ext cx="1143000" cy="868680"/>
          </a:xfrm>
          <a:prstGeom prst="rect">
            <a:avLst/>
          </a:prstGeom>
          <a:noFill/>
          <a:ln/>
        </p:spPr>
        <p:txBody>
          <a:bodyPr wrap="square" lIns="0" tIns="0" rIns="0" bIns="0" rtlCol="0" anchor="ctr"/>
          <a:lstStyle/>
          <a:p>
            <a:pPr marL="0" indent="0" algn="ctr">
              <a:buNone/>
            </a:pPr>
            <a:r>
              <a:rPr lang="en-US" sz="1400" b="1" dirty="0">
                <a:solidFill>
                  <a:schemeClr val="tx2"/>
                </a:solidFill>
              </a:rPr>
              <a:t>Vigilancia</a:t>
            </a:r>
            <a:endParaRPr lang="en-US" sz="1400" dirty="0"/>
          </a:p>
          <a:p>
            <a:pPr marL="0" indent="0" algn="ctr">
              <a:buNone/>
            </a:pPr>
            <a:r>
              <a:rPr lang="en-US" sz="1400" dirty="0">
                <a:solidFill>
                  <a:schemeClr val="tx2"/>
                </a:solidFill>
              </a:rPr>
              <a:t>ρ</a:t>
            </a:r>
            <a:endParaRPr lang="en-US" sz="1400" dirty="0"/>
          </a:p>
        </p:txBody>
      </p:sp>
      <p:sp>
        <p:nvSpPr>
          <p:cNvPr id="4"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Cómo aprende: el algoritmo del Box 3 (Lau, 1992)</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1 · ART 1</a:t>
            </a:r>
            <a:endParaRPr lang="en-US" sz="1200" dirty="0"/>
          </a:p>
        </p:txBody>
      </p:sp>
      <p:sp>
        <p:nvSpPr>
          <p:cNvPr id="5" name="Shape 2"/>
          <p:cNvSpPr/>
          <p:nvPr/>
        </p:nvSpPr>
        <p:spPr>
          <a:xfrm>
            <a:off x="548640" y="1691640"/>
            <a:ext cx="1965960" cy="2331720"/>
          </a:xfrm>
          <a:prstGeom prst="roundRect">
            <a:avLst>
              <a:gd name="adj" fmla="val 5581"/>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6" name="Shape 3"/>
          <p:cNvSpPr/>
          <p:nvPr/>
        </p:nvSpPr>
        <p:spPr>
          <a:xfrm>
            <a:off x="731520" y="1874520"/>
            <a:ext cx="548640" cy="548640"/>
          </a:xfrm>
          <a:prstGeom prst="ellipse">
            <a:avLst/>
          </a:prstGeom>
          <a:solidFill>
            <a:schemeClr val="accent3"/>
          </a:solidFill>
          <a:ln/>
        </p:spPr>
        <p:txBody>
          <a:bodyPr/>
          <a:lstStyle/>
          <a:p>
            <a:endParaRPr lang="es-AR"/>
          </a:p>
        </p:txBody>
      </p:sp>
      <p:sp>
        <p:nvSpPr>
          <p:cNvPr id="7" name="Text 4"/>
          <p:cNvSpPr txBox="1"/>
          <p:nvPr/>
        </p:nvSpPr>
        <p:spPr>
          <a:xfrm>
            <a:off x="731520" y="1874520"/>
            <a:ext cx="548640" cy="548640"/>
          </a:xfrm>
          <a:prstGeom prst="rect">
            <a:avLst/>
          </a:prstGeom>
          <a:noFill/>
          <a:ln/>
        </p:spPr>
        <p:txBody>
          <a:bodyPr wrap="square" lIns="0" tIns="0" rIns="0" bIns="0" rtlCol="0" anchor="ctr"/>
          <a:lstStyle/>
          <a:p>
            <a:pPr marL="0" indent="0" algn="ctr">
              <a:buNone/>
            </a:pPr>
            <a:r>
              <a:rPr lang="en-US" sz="2200" b="1" dirty="0">
                <a:solidFill>
                  <a:schemeClr val="bg1"/>
                </a:solidFill>
              </a:rPr>
              <a:t>1</a:t>
            </a:r>
            <a:endParaRPr lang="en-US" sz="2200" dirty="0"/>
          </a:p>
        </p:txBody>
      </p:sp>
      <p:sp>
        <p:nvSpPr>
          <p:cNvPr id="8" name="Text 5"/>
          <p:cNvSpPr txBox="1"/>
          <p:nvPr/>
        </p:nvSpPr>
        <p:spPr>
          <a:xfrm>
            <a:off x="731520" y="2606040"/>
            <a:ext cx="1600200" cy="365760"/>
          </a:xfrm>
          <a:prstGeom prst="rect">
            <a:avLst/>
          </a:prstGeom>
          <a:noFill/>
          <a:ln/>
        </p:spPr>
        <p:txBody>
          <a:bodyPr wrap="square" lIns="0" tIns="0" rIns="0" bIns="0" rtlCol="0" anchor="t"/>
          <a:lstStyle/>
          <a:p>
            <a:pPr marL="0" indent="0">
              <a:buNone/>
            </a:pPr>
            <a:r>
              <a:rPr lang="en-US" sz="1800" b="1" dirty="0">
                <a:solidFill>
                  <a:schemeClr val="tx2"/>
                </a:solidFill>
              </a:rPr>
              <a:t>Inicializar</a:t>
            </a:r>
            <a:endParaRPr lang="en-US" sz="1800" dirty="0"/>
          </a:p>
        </p:txBody>
      </p:sp>
      <p:sp>
        <p:nvSpPr>
          <p:cNvPr id="9" name="Text 6"/>
          <p:cNvSpPr txBox="1"/>
          <p:nvPr/>
        </p:nvSpPr>
        <p:spPr>
          <a:xfrm>
            <a:off x="731520" y="3017520"/>
            <a:ext cx="1691640" cy="868680"/>
          </a:xfrm>
          <a:prstGeom prst="rect">
            <a:avLst/>
          </a:prstGeom>
          <a:noFill/>
          <a:ln/>
        </p:spPr>
        <p:txBody>
          <a:bodyPr wrap="square" lIns="0" tIns="0" rIns="0" bIns="0" rtlCol="0" anchor="t"/>
          <a:lstStyle/>
          <a:p>
            <a:pPr marL="0" indent="0">
              <a:buNone/>
            </a:pPr>
            <a:r>
              <a:rPr lang="en-US" sz="1400" dirty="0">
                <a:solidFill>
                  <a:schemeClr val="tx1"/>
                </a:solidFill>
                <a:latin typeface="Cambria" pitchFamily="34" charset="0"/>
                <a:ea typeface="Cambria" pitchFamily="34" charset="-122"/>
                <a:cs typeface="Cambria" pitchFamily="34" charset="-120"/>
              </a:rPr>
              <a:t>b = 1 / (1 + N)</a:t>
            </a:r>
            <a:endParaRPr lang="en-US" sz="1400" dirty="0"/>
          </a:p>
          <a:p>
            <a:pPr marL="0" indent="0">
              <a:buNone/>
            </a:pPr>
            <a:r>
              <a:rPr lang="en-US" sz="1400" dirty="0">
                <a:solidFill>
                  <a:schemeClr val="tx1"/>
                </a:solidFill>
                <a:latin typeface="Cambria" pitchFamily="34" charset="0"/>
                <a:ea typeface="Cambria" pitchFamily="34" charset="-122"/>
                <a:cs typeface="Cambria" pitchFamily="34" charset="-120"/>
              </a:rPr>
              <a:t>t = 1</a:t>
            </a:r>
            <a:endParaRPr lang="en-US" sz="1400" dirty="0"/>
          </a:p>
        </p:txBody>
      </p:sp>
      <p:sp>
        <p:nvSpPr>
          <p:cNvPr id="10" name="Shape 7"/>
          <p:cNvSpPr/>
          <p:nvPr/>
        </p:nvSpPr>
        <p:spPr>
          <a:xfrm>
            <a:off x="2551176" y="2852928"/>
            <a:ext cx="256032" cy="914"/>
          </a:xfrm>
          <a:prstGeom prst="line">
            <a:avLst/>
          </a:prstGeom>
          <a:noFill/>
          <a:ln w="25400">
            <a:solidFill>
              <a:srgbClr val="0EA5A4"/>
            </a:solidFill>
            <a:prstDash val="solid"/>
            <a:tailEnd type="triangle"/>
          </a:ln>
        </p:spPr>
        <p:txBody>
          <a:bodyPr/>
          <a:lstStyle/>
          <a:p>
            <a:endParaRPr lang="es-AR"/>
          </a:p>
        </p:txBody>
      </p:sp>
      <p:sp>
        <p:nvSpPr>
          <p:cNvPr id="11" name="Shape 8"/>
          <p:cNvSpPr/>
          <p:nvPr/>
        </p:nvSpPr>
        <p:spPr>
          <a:xfrm>
            <a:off x="2843784" y="1691640"/>
            <a:ext cx="1965960" cy="2331720"/>
          </a:xfrm>
          <a:prstGeom prst="roundRect">
            <a:avLst>
              <a:gd name="adj" fmla="val 5581"/>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2" name="Shape 9"/>
          <p:cNvSpPr/>
          <p:nvPr/>
        </p:nvSpPr>
        <p:spPr>
          <a:xfrm>
            <a:off x="3026664" y="1874520"/>
            <a:ext cx="548640" cy="548640"/>
          </a:xfrm>
          <a:prstGeom prst="ellipse">
            <a:avLst/>
          </a:prstGeom>
          <a:solidFill>
            <a:schemeClr val="accent6"/>
          </a:solidFill>
          <a:ln/>
        </p:spPr>
        <p:txBody>
          <a:bodyPr/>
          <a:lstStyle/>
          <a:p>
            <a:endParaRPr lang="es-AR"/>
          </a:p>
        </p:txBody>
      </p:sp>
      <p:sp>
        <p:nvSpPr>
          <p:cNvPr id="13" name="Text 10"/>
          <p:cNvSpPr txBox="1"/>
          <p:nvPr/>
        </p:nvSpPr>
        <p:spPr>
          <a:xfrm>
            <a:off x="3026664" y="1874520"/>
            <a:ext cx="548640" cy="548640"/>
          </a:xfrm>
          <a:prstGeom prst="rect">
            <a:avLst/>
          </a:prstGeom>
          <a:noFill/>
          <a:ln/>
        </p:spPr>
        <p:txBody>
          <a:bodyPr wrap="square" lIns="0" tIns="0" rIns="0" bIns="0" rtlCol="0" anchor="ctr"/>
          <a:lstStyle/>
          <a:p>
            <a:pPr marL="0" indent="0" algn="ctr">
              <a:buNone/>
            </a:pPr>
            <a:r>
              <a:rPr lang="en-US" sz="2200" b="1" dirty="0">
                <a:solidFill>
                  <a:schemeClr val="bg1"/>
                </a:solidFill>
              </a:rPr>
              <a:t>2</a:t>
            </a:r>
            <a:endParaRPr lang="en-US" sz="2200" dirty="0"/>
          </a:p>
        </p:txBody>
      </p:sp>
      <p:sp>
        <p:nvSpPr>
          <p:cNvPr id="14" name="Text 11"/>
          <p:cNvSpPr txBox="1"/>
          <p:nvPr/>
        </p:nvSpPr>
        <p:spPr>
          <a:xfrm>
            <a:off x="3026664" y="2606040"/>
            <a:ext cx="1600200" cy="365760"/>
          </a:xfrm>
          <a:prstGeom prst="rect">
            <a:avLst/>
          </a:prstGeom>
          <a:noFill/>
          <a:ln/>
        </p:spPr>
        <p:txBody>
          <a:bodyPr wrap="square" lIns="0" tIns="0" rIns="0" bIns="0" rtlCol="0" anchor="t"/>
          <a:lstStyle/>
          <a:p>
            <a:pPr marL="0" indent="0">
              <a:buNone/>
            </a:pPr>
            <a:r>
              <a:rPr lang="en-US" sz="1800" b="1" dirty="0">
                <a:solidFill>
                  <a:schemeClr val="tx2"/>
                </a:solidFill>
              </a:rPr>
              <a:t>Presentar X</a:t>
            </a:r>
            <a:endParaRPr lang="en-US" sz="1800" dirty="0"/>
          </a:p>
        </p:txBody>
      </p:sp>
      <p:sp>
        <p:nvSpPr>
          <p:cNvPr id="15" name="Text 12"/>
          <p:cNvSpPr txBox="1"/>
          <p:nvPr/>
        </p:nvSpPr>
        <p:spPr>
          <a:xfrm>
            <a:off x="3026664" y="3017520"/>
            <a:ext cx="1691640" cy="868680"/>
          </a:xfrm>
          <a:prstGeom prst="rect">
            <a:avLst/>
          </a:prstGeom>
          <a:noFill/>
          <a:ln/>
        </p:spPr>
        <p:txBody>
          <a:bodyPr wrap="square" lIns="0" tIns="0" rIns="0" bIns="0" rtlCol="0" anchor="t"/>
          <a:lstStyle/>
          <a:p>
            <a:pPr marL="0" indent="0">
              <a:buNone/>
            </a:pPr>
            <a:r>
              <a:rPr lang="en-US" sz="1400" dirty="0">
                <a:solidFill>
                  <a:schemeClr val="tx1"/>
                </a:solidFill>
                <a:latin typeface="Cambria" pitchFamily="34" charset="0"/>
                <a:ea typeface="Cambria" pitchFamily="34" charset="-122"/>
                <a:cs typeface="Cambria" pitchFamily="34" charset="-120"/>
              </a:rPr>
              <a:t>vector binario</a:t>
            </a:r>
            <a:endParaRPr lang="en-US" sz="1400" dirty="0"/>
          </a:p>
          <a:p>
            <a:pPr marL="0" indent="0">
              <a:buNone/>
            </a:pPr>
            <a:r>
              <a:rPr lang="en-US" sz="1400" dirty="0">
                <a:solidFill>
                  <a:schemeClr val="tx1"/>
                </a:solidFill>
                <a:latin typeface="Cambria" pitchFamily="34" charset="0"/>
                <a:ea typeface="Cambria" pitchFamily="34" charset="-122"/>
                <a:cs typeface="Cambria" pitchFamily="34" charset="-120"/>
              </a:rPr>
              <a:t>de N bits</a:t>
            </a:r>
            <a:endParaRPr lang="en-US" sz="1400" dirty="0"/>
          </a:p>
        </p:txBody>
      </p:sp>
      <p:sp>
        <p:nvSpPr>
          <p:cNvPr id="16" name="Shape 13"/>
          <p:cNvSpPr/>
          <p:nvPr/>
        </p:nvSpPr>
        <p:spPr>
          <a:xfrm>
            <a:off x="4846320" y="2852928"/>
            <a:ext cx="256032" cy="914"/>
          </a:xfrm>
          <a:prstGeom prst="line">
            <a:avLst/>
          </a:prstGeom>
          <a:noFill/>
          <a:ln w="25400">
            <a:solidFill>
              <a:srgbClr val="0EA5A4"/>
            </a:solidFill>
            <a:prstDash val="solid"/>
            <a:tailEnd type="triangle"/>
          </a:ln>
        </p:spPr>
        <p:txBody>
          <a:bodyPr/>
          <a:lstStyle/>
          <a:p>
            <a:endParaRPr lang="es-AR"/>
          </a:p>
        </p:txBody>
      </p:sp>
      <p:sp>
        <p:nvSpPr>
          <p:cNvPr id="17" name="Shape 14"/>
          <p:cNvSpPr/>
          <p:nvPr/>
        </p:nvSpPr>
        <p:spPr>
          <a:xfrm>
            <a:off x="5138928" y="1691640"/>
            <a:ext cx="1965960" cy="2331720"/>
          </a:xfrm>
          <a:prstGeom prst="roundRect">
            <a:avLst>
              <a:gd name="adj" fmla="val 5581"/>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8" name="Shape 15"/>
          <p:cNvSpPr/>
          <p:nvPr/>
        </p:nvSpPr>
        <p:spPr>
          <a:xfrm>
            <a:off x="5321808" y="1874520"/>
            <a:ext cx="548640" cy="548640"/>
          </a:xfrm>
          <a:prstGeom prst="ellipse">
            <a:avLst/>
          </a:prstGeom>
          <a:solidFill>
            <a:schemeClr val="accent1"/>
          </a:solidFill>
          <a:ln/>
        </p:spPr>
        <p:txBody>
          <a:bodyPr/>
          <a:lstStyle/>
          <a:p>
            <a:endParaRPr lang="es-AR"/>
          </a:p>
        </p:txBody>
      </p:sp>
      <p:sp>
        <p:nvSpPr>
          <p:cNvPr id="19" name="Text 16"/>
          <p:cNvSpPr txBox="1"/>
          <p:nvPr/>
        </p:nvSpPr>
        <p:spPr>
          <a:xfrm>
            <a:off x="5321808" y="1874520"/>
            <a:ext cx="548640" cy="548640"/>
          </a:xfrm>
          <a:prstGeom prst="rect">
            <a:avLst/>
          </a:prstGeom>
          <a:noFill/>
          <a:ln/>
        </p:spPr>
        <p:txBody>
          <a:bodyPr wrap="square" lIns="0" tIns="0" rIns="0" bIns="0" rtlCol="0" anchor="ctr"/>
          <a:lstStyle/>
          <a:p>
            <a:pPr marL="0" indent="0" algn="ctr">
              <a:buNone/>
            </a:pPr>
            <a:r>
              <a:rPr lang="en-US" sz="2200" b="1" dirty="0">
                <a:solidFill>
                  <a:schemeClr val="bg1"/>
                </a:solidFill>
              </a:rPr>
              <a:t>3</a:t>
            </a:r>
            <a:endParaRPr lang="en-US" sz="2200" dirty="0"/>
          </a:p>
        </p:txBody>
      </p:sp>
      <p:sp>
        <p:nvSpPr>
          <p:cNvPr id="20" name="Text 17"/>
          <p:cNvSpPr txBox="1"/>
          <p:nvPr/>
        </p:nvSpPr>
        <p:spPr>
          <a:xfrm>
            <a:off x="5321808" y="2606040"/>
            <a:ext cx="1600200" cy="365760"/>
          </a:xfrm>
          <a:prstGeom prst="rect">
            <a:avLst/>
          </a:prstGeom>
          <a:noFill/>
          <a:ln/>
        </p:spPr>
        <p:txBody>
          <a:bodyPr wrap="square" lIns="0" tIns="0" rIns="0" bIns="0" rtlCol="0" anchor="t"/>
          <a:lstStyle/>
          <a:p>
            <a:pPr marL="0" indent="0">
              <a:buNone/>
            </a:pPr>
            <a:r>
              <a:rPr lang="en-US" sz="1800" b="1" dirty="0">
                <a:solidFill>
                  <a:schemeClr val="tx2"/>
                </a:solidFill>
              </a:rPr>
              <a:t>Elegir nodo</a:t>
            </a:r>
            <a:endParaRPr lang="en-US" sz="1800" dirty="0"/>
          </a:p>
        </p:txBody>
      </p:sp>
      <p:sp>
        <p:nvSpPr>
          <p:cNvPr id="21" name="Text 18"/>
          <p:cNvSpPr txBox="1"/>
          <p:nvPr/>
        </p:nvSpPr>
        <p:spPr>
          <a:xfrm>
            <a:off x="5321808" y="3017520"/>
            <a:ext cx="1691640" cy="868680"/>
          </a:xfrm>
          <a:prstGeom prst="rect">
            <a:avLst/>
          </a:prstGeom>
          <a:noFill/>
          <a:ln/>
        </p:spPr>
        <p:txBody>
          <a:bodyPr wrap="square" lIns="0" tIns="0" rIns="0" bIns="0" rtlCol="0" anchor="t"/>
          <a:lstStyle/>
          <a:p>
            <a:pPr marL="0" indent="0">
              <a:buNone/>
            </a:pPr>
            <a:r>
              <a:rPr lang="en-US" sz="1400" dirty="0">
                <a:solidFill>
                  <a:schemeClr val="tx1"/>
                </a:solidFill>
                <a:latin typeface="Cambria" pitchFamily="34" charset="0"/>
                <a:ea typeface="Cambria" pitchFamily="34" charset="-122"/>
                <a:cs typeface="Cambria" pitchFamily="34" charset="-120"/>
              </a:rPr>
              <a:t>μⱼ = Σ bᵢⱼ · xᵢ</a:t>
            </a:r>
            <a:endParaRPr lang="en-US" sz="1400" dirty="0"/>
          </a:p>
          <a:p>
            <a:pPr marL="0" indent="0">
              <a:buNone/>
            </a:pPr>
            <a:r>
              <a:rPr lang="en-US" sz="1400" dirty="0">
                <a:solidFill>
                  <a:schemeClr val="tx1"/>
                </a:solidFill>
                <a:latin typeface="Cambria" pitchFamily="34" charset="0"/>
                <a:ea typeface="Cambria" pitchFamily="34" charset="-122"/>
                <a:cs typeface="Cambria" pitchFamily="34" charset="-120"/>
              </a:rPr>
              <a:t>el de mayor μ</a:t>
            </a:r>
            <a:endParaRPr lang="en-US" sz="1400" dirty="0"/>
          </a:p>
        </p:txBody>
      </p:sp>
      <p:sp>
        <p:nvSpPr>
          <p:cNvPr id="22" name="Shape 19"/>
          <p:cNvSpPr/>
          <p:nvPr/>
        </p:nvSpPr>
        <p:spPr>
          <a:xfrm>
            <a:off x="7141464" y="2852928"/>
            <a:ext cx="256032" cy="914"/>
          </a:xfrm>
          <a:prstGeom prst="line">
            <a:avLst/>
          </a:prstGeom>
          <a:noFill/>
          <a:ln w="25400">
            <a:solidFill>
              <a:srgbClr val="0EA5A4"/>
            </a:solidFill>
            <a:prstDash val="solid"/>
            <a:tailEnd type="triangle"/>
          </a:ln>
        </p:spPr>
        <p:txBody>
          <a:bodyPr/>
          <a:lstStyle/>
          <a:p>
            <a:endParaRPr lang="es-AR"/>
          </a:p>
        </p:txBody>
      </p:sp>
      <p:sp>
        <p:nvSpPr>
          <p:cNvPr id="23" name="Shape 20"/>
          <p:cNvSpPr/>
          <p:nvPr/>
        </p:nvSpPr>
        <p:spPr>
          <a:xfrm>
            <a:off x="7434072" y="1691640"/>
            <a:ext cx="1965960" cy="2331720"/>
          </a:xfrm>
          <a:prstGeom prst="roundRect">
            <a:avLst>
              <a:gd name="adj" fmla="val 5581"/>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24" name="Shape 21"/>
          <p:cNvSpPr/>
          <p:nvPr/>
        </p:nvSpPr>
        <p:spPr>
          <a:xfrm>
            <a:off x="7616952" y="1874520"/>
            <a:ext cx="548640" cy="548640"/>
          </a:xfrm>
          <a:prstGeom prst="ellipse">
            <a:avLst/>
          </a:prstGeom>
          <a:solidFill>
            <a:schemeClr val="accent2"/>
          </a:solidFill>
          <a:ln/>
        </p:spPr>
        <p:txBody>
          <a:bodyPr/>
          <a:lstStyle/>
          <a:p>
            <a:endParaRPr lang="es-AR"/>
          </a:p>
        </p:txBody>
      </p:sp>
      <p:sp>
        <p:nvSpPr>
          <p:cNvPr id="25" name="Text 22"/>
          <p:cNvSpPr txBox="1"/>
          <p:nvPr/>
        </p:nvSpPr>
        <p:spPr>
          <a:xfrm>
            <a:off x="7616952" y="1874520"/>
            <a:ext cx="548640" cy="548640"/>
          </a:xfrm>
          <a:prstGeom prst="rect">
            <a:avLst/>
          </a:prstGeom>
          <a:noFill/>
          <a:ln/>
        </p:spPr>
        <p:txBody>
          <a:bodyPr wrap="square" lIns="0" tIns="0" rIns="0" bIns="0" rtlCol="0" anchor="ctr"/>
          <a:lstStyle/>
          <a:p>
            <a:pPr marL="0" indent="0" algn="ctr">
              <a:buNone/>
            </a:pPr>
            <a:r>
              <a:rPr lang="en-US" sz="2200" b="1" dirty="0">
                <a:solidFill>
                  <a:schemeClr val="bg1"/>
                </a:solidFill>
              </a:rPr>
              <a:t>4</a:t>
            </a:r>
            <a:endParaRPr lang="en-US" sz="2200" dirty="0"/>
          </a:p>
        </p:txBody>
      </p:sp>
      <p:sp>
        <p:nvSpPr>
          <p:cNvPr id="26" name="Text 23"/>
          <p:cNvSpPr txBox="1"/>
          <p:nvPr/>
        </p:nvSpPr>
        <p:spPr>
          <a:xfrm>
            <a:off x="7616952" y="2606040"/>
            <a:ext cx="1600200" cy="365760"/>
          </a:xfrm>
          <a:prstGeom prst="rect">
            <a:avLst/>
          </a:prstGeom>
          <a:noFill/>
          <a:ln/>
        </p:spPr>
        <p:txBody>
          <a:bodyPr wrap="square" lIns="0" tIns="0" rIns="0" bIns="0" rtlCol="0" anchor="t"/>
          <a:lstStyle/>
          <a:p>
            <a:pPr marL="0" indent="0">
              <a:buNone/>
            </a:pPr>
            <a:r>
              <a:rPr lang="en-US" sz="1800" b="1" dirty="0">
                <a:solidFill>
                  <a:schemeClr val="tx2"/>
                </a:solidFill>
              </a:rPr>
              <a:t>Vigilancia</a:t>
            </a:r>
            <a:endParaRPr lang="en-US" sz="1800" dirty="0"/>
          </a:p>
        </p:txBody>
      </p:sp>
      <p:sp>
        <p:nvSpPr>
          <p:cNvPr id="27" name="Text 24"/>
          <p:cNvSpPr txBox="1"/>
          <p:nvPr/>
        </p:nvSpPr>
        <p:spPr>
          <a:xfrm>
            <a:off x="7616952" y="3017520"/>
            <a:ext cx="1691640" cy="868680"/>
          </a:xfrm>
          <a:prstGeom prst="rect">
            <a:avLst/>
          </a:prstGeom>
          <a:noFill/>
          <a:ln/>
        </p:spPr>
        <p:txBody>
          <a:bodyPr wrap="square" lIns="0" tIns="0" rIns="0" bIns="0" rtlCol="0" anchor="t"/>
          <a:lstStyle/>
          <a:p>
            <a:pPr marL="0" indent="0">
              <a:buNone/>
            </a:pPr>
            <a:r>
              <a:rPr lang="en-US" sz="1400" dirty="0">
                <a:solidFill>
                  <a:schemeClr val="tx1"/>
                </a:solidFill>
                <a:latin typeface="Cambria" pitchFamily="34" charset="0"/>
                <a:ea typeface="Cambria" pitchFamily="34" charset="-122"/>
                <a:cs typeface="Cambria" pitchFamily="34" charset="-120"/>
              </a:rPr>
              <a:t>‖T ∩ X‖ / ‖X‖ &gt; ρ ?</a:t>
            </a:r>
            <a:endParaRPr lang="en-US" sz="1400" dirty="0"/>
          </a:p>
        </p:txBody>
      </p:sp>
      <p:sp>
        <p:nvSpPr>
          <p:cNvPr id="28" name="Shape 25"/>
          <p:cNvSpPr/>
          <p:nvPr/>
        </p:nvSpPr>
        <p:spPr>
          <a:xfrm>
            <a:off x="9436608" y="2852928"/>
            <a:ext cx="256032" cy="914"/>
          </a:xfrm>
          <a:prstGeom prst="line">
            <a:avLst/>
          </a:prstGeom>
          <a:noFill/>
          <a:ln w="25400">
            <a:solidFill>
              <a:srgbClr val="0EA5A4"/>
            </a:solidFill>
            <a:prstDash val="solid"/>
            <a:tailEnd type="triangle"/>
          </a:ln>
        </p:spPr>
        <p:txBody>
          <a:bodyPr/>
          <a:lstStyle/>
          <a:p>
            <a:endParaRPr lang="es-AR"/>
          </a:p>
        </p:txBody>
      </p:sp>
      <p:sp>
        <p:nvSpPr>
          <p:cNvPr id="29" name="Shape 26"/>
          <p:cNvSpPr/>
          <p:nvPr/>
        </p:nvSpPr>
        <p:spPr>
          <a:xfrm>
            <a:off x="9729216" y="1691640"/>
            <a:ext cx="1965960" cy="2331720"/>
          </a:xfrm>
          <a:prstGeom prst="roundRect">
            <a:avLst>
              <a:gd name="adj" fmla="val 5581"/>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30" name="Shape 27"/>
          <p:cNvSpPr/>
          <p:nvPr/>
        </p:nvSpPr>
        <p:spPr>
          <a:xfrm>
            <a:off x="9912096" y="1874520"/>
            <a:ext cx="548640" cy="548640"/>
          </a:xfrm>
          <a:prstGeom prst="ellipse">
            <a:avLst/>
          </a:prstGeom>
          <a:solidFill>
            <a:schemeClr val="accent5"/>
          </a:solidFill>
          <a:ln/>
        </p:spPr>
        <p:txBody>
          <a:bodyPr/>
          <a:lstStyle/>
          <a:p>
            <a:endParaRPr lang="es-AR"/>
          </a:p>
        </p:txBody>
      </p:sp>
      <p:sp>
        <p:nvSpPr>
          <p:cNvPr id="31" name="Text 28"/>
          <p:cNvSpPr txBox="1"/>
          <p:nvPr/>
        </p:nvSpPr>
        <p:spPr>
          <a:xfrm>
            <a:off x="9912096" y="1874520"/>
            <a:ext cx="548640" cy="548640"/>
          </a:xfrm>
          <a:prstGeom prst="rect">
            <a:avLst/>
          </a:prstGeom>
          <a:noFill/>
          <a:ln/>
        </p:spPr>
        <p:txBody>
          <a:bodyPr wrap="square" lIns="0" tIns="0" rIns="0" bIns="0" rtlCol="0" anchor="ctr"/>
          <a:lstStyle/>
          <a:p>
            <a:pPr marL="0" indent="0" algn="ctr">
              <a:buNone/>
            </a:pPr>
            <a:r>
              <a:rPr lang="en-US" sz="2200" b="1" dirty="0">
                <a:solidFill>
                  <a:schemeClr val="bg1"/>
                </a:solidFill>
              </a:rPr>
              <a:t>5</a:t>
            </a:r>
            <a:endParaRPr lang="en-US" sz="2200" dirty="0"/>
          </a:p>
        </p:txBody>
      </p:sp>
      <p:sp>
        <p:nvSpPr>
          <p:cNvPr id="32" name="Text 29"/>
          <p:cNvSpPr txBox="1"/>
          <p:nvPr/>
        </p:nvSpPr>
        <p:spPr>
          <a:xfrm>
            <a:off x="9912096" y="2606040"/>
            <a:ext cx="1600200" cy="365760"/>
          </a:xfrm>
          <a:prstGeom prst="rect">
            <a:avLst/>
          </a:prstGeom>
          <a:noFill/>
          <a:ln/>
        </p:spPr>
        <p:txBody>
          <a:bodyPr wrap="square" lIns="0" tIns="0" rIns="0" bIns="0" rtlCol="0" anchor="t"/>
          <a:lstStyle/>
          <a:p>
            <a:pPr marL="0" indent="0">
              <a:buNone/>
            </a:pPr>
            <a:r>
              <a:rPr lang="en-US" sz="1800" b="1" dirty="0">
                <a:solidFill>
                  <a:schemeClr val="tx2"/>
                </a:solidFill>
              </a:rPr>
              <a:t>Aprender</a:t>
            </a:r>
            <a:endParaRPr lang="en-US" sz="1800" dirty="0"/>
          </a:p>
        </p:txBody>
      </p:sp>
      <p:sp>
        <p:nvSpPr>
          <p:cNvPr id="33" name="Text 30"/>
          <p:cNvSpPr txBox="1"/>
          <p:nvPr/>
        </p:nvSpPr>
        <p:spPr>
          <a:xfrm>
            <a:off x="9912096" y="3017520"/>
            <a:ext cx="1691640" cy="868680"/>
          </a:xfrm>
          <a:prstGeom prst="rect">
            <a:avLst/>
          </a:prstGeom>
          <a:noFill/>
          <a:ln/>
        </p:spPr>
        <p:txBody>
          <a:bodyPr wrap="square" lIns="0" tIns="0" rIns="0" bIns="0" rtlCol="0" anchor="t"/>
          <a:lstStyle/>
          <a:p>
            <a:pPr marL="0" indent="0">
              <a:buNone/>
            </a:pPr>
            <a:r>
              <a:rPr lang="en-US" sz="1400" dirty="0">
                <a:solidFill>
                  <a:schemeClr val="tx1"/>
                </a:solidFill>
                <a:latin typeface="Cambria" pitchFamily="34" charset="0"/>
                <a:ea typeface="Cambria" pitchFamily="34" charset="-122"/>
                <a:cs typeface="Cambria" pitchFamily="34" charset="-120"/>
              </a:rPr>
              <a:t>t = t AND X</a:t>
            </a:r>
            <a:endParaRPr lang="en-US" sz="1400" dirty="0"/>
          </a:p>
          <a:p>
            <a:pPr marL="0" indent="0">
              <a:buNone/>
            </a:pPr>
            <a:r>
              <a:rPr lang="en-US" sz="1400" dirty="0">
                <a:solidFill>
                  <a:schemeClr val="tx1"/>
                </a:solidFill>
                <a:latin typeface="Cambria" pitchFamily="34" charset="0"/>
                <a:ea typeface="Cambria" pitchFamily="34" charset="-122"/>
                <a:cs typeface="Cambria" pitchFamily="34" charset="-120"/>
              </a:rPr>
              <a:t>b = t / (0,5 + ‖t‖)</a:t>
            </a:r>
            <a:endParaRPr lang="en-US" sz="1400" dirty="0"/>
          </a:p>
        </p:txBody>
      </p:sp>
      <p:sp>
        <p:nvSpPr>
          <p:cNvPr id="34" name="Shape 31"/>
          <p:cNvSpPr/>
          <p:nvPr/>
        </p:nvSpPr>
        <p:spPr>
          <a:xfrm>
            <a:off x="8417052" y="4069080"/>
            <a:ext cx="914" cy="457200"/>
          </a:xfrm>
          <a:prstGeom prst="line">
            <a:avLst/>
          </a:prstGeom>
          <a:noFill/>
          <a:ln w="25400">
            <a:solidFill>
              <a:srgbClr val="E5484D"/>
            </a:solidFill>
            <a:prstDash val="solid"/>
            <a:tailEnd type="triangle"/>
          </a:ln>
        </p:spPr>
        <p:txBody>
          <a:bodyPr/>
          <a:lstStyle/>
          <a:p>
            <a:endParaRPr lang="es-AR"/>
          </a:p>
        </p:txBody>
      </p:sp>
      <p:sp>
        <p:nvSpPr>
          <p:cNvPr id="35" name="Shape 32"/>
          <p:cNvSpPr/>
          <p:nvPr/>
        </p:nvSpPr>
        <p:spPr>
          <a:xfrm>
            <a:off x="5120640" y="4572000"/>
            <a:ext cx="5669280" cy="777240"/>
          </a:xfrm>
          <a:prstGeom prst="roundRect">
            <a:avLst>
              <a:gd name="adj" fmla="val 11765"/>
            </a:avLst>
          </a:prstGeom>
          <a:solidFill>
            <a:srgbClr val="FDECEC"/>
          </a:solidFill>
          <a:ln w="12700">
            <a:solidFill>
              <a:srgbClr val="E5484D"/>
            </a:solidFill>
            <a:prstDash val="solid"/>
          </a:ln>
        </p:spPr>
        <p:txBody>
          <a:bodyPr/>
          <a:lstStyle/>
          <a:p>
            <a:endParaRPr lang="es-AR"/>
          </a:p>
        </p:txBody>
      </p:sp>
      <p:sp>
        <p:nvSpPr>
          <p:cNvPr id="36" name="Text 33"/>
          <p:cNvSpPr txBox="1"/>
          <p:nvPr/>
        </p:nvSpPr>
        <p:spPr>
          <a:xfrm>
            <a:off x="5303520" y="4636008"/>
            <a:ext cx="5394960" cy="685800"/>
          </a:xfrm>
          <a:prstGeom prst="rect">
            <a:avLst/>
          </a:prstGeom>
          <a:noFill/>
          <a:ln/>
        </p:spPr>
        <p:txBody>
          <a:bodyPr wrap="square" lIns="0" tIns="0" rIns="0" bIns="0" rtlCol="0" anchor="ctr"/>
          <a:lstStyle/>
          <a:p>
            <a:pPr marL="0" indent="0">
              <a:buNone/>
            </a:pPr>
            <a:r>
              <a:rPr lang="en-US" sz="1400" b="1" dirty="0">
                <a:solidFill>
                  <a:schemeClr val="accent4"/>
                </a:solidFill>
              </a:rPr>
              <a:t>No pasa → reset: </a:t>
            </a:r>
            <a:r>
              <a:rPr lang="en-US" sz="1400" dirty="0">
                <a:solidFill>
                  <a:schemeClr val="tx1"/>
                </a:solidFill>
              </a:rPr>
              <a:t>se descarta el nodo y se prueba el siguiente. Si ninguno resuena, se crea un nodo nuevo con X como prototipo.</a:t>
            </a:r>
            <a:endParaRPr lang="en-US" sz="1400" dirty="0"/>
          </a:p>
        </p:txBody>
      </p:sp>
      <p:sp>
        <p:nvSpPr>
          <p:cNvPr id="37" name="Shape 34"/>
          <p:cNvSpPr/>
          <p:nvPr/>
        </p:nvSpPr>
        <p:spPr>
          <a:xfrm>
            <a:off x="548640" y="4572000"/>
            <a:ext cx="4297680" cy="1463040"/>
          </a:xfrm>
          <a:prstGeom prst="roundRect">
            <a:avLst>
              <a:gd name="adj" fmla="val 6250"/>
            </a:avLst>
          </a:prstGeom>
          <a:solidFill>
            <a:schemeClr val="bg2"/>
          </a:solidFill>
          <a:ln/>
        </p:spPr>
        <p:txBody>
          <a:bodyPr/>
          <a:lstStyle/>
          <a:p>
            <a:endParaRPr lang="es-AR"/>
          </a:p>
        </p:txBody>
      </p:sp>
      <p:sp>
        <p:nvSpPr>
          <p:cNvPr id="38" name="Text 35"/>
          <p:cNvSpPr txBox="1"/>
          <p:nvPr/>
        </p:nvSpPr>
        <p:spPr>
          <a:xfrm>
            <a:off x="731520" y="4681728"/>
            <a:ext cx="3977640" cy="1280160"/>
          </a:xfrm>
          <a:prstGeom prst="rect">
            <a:avLst/>
          </a:prstGeom>
          <a:noFill/>
          <a:ln/>
        </p:spPr>
        <p:txBody>
          <a:bodyPr wrap="square" lIns="0" tIns="0" rIns="0" bIns="0" rtlCol="0" anchor="t"/>
          <a:lstStyle/>
          <a:p>
            <a:pPr marL="0" indent="0">
              <a:buNone/>
            </a:pPr>
            <a:r>
              <a:rPr lang="en-US" sz="1400" b="1" dirty="0">
                <a:solidFill>
                  <a:schemeClr val="tx2"/>
                </a:solidFill>
              </a:rPr>
              <a:t>Aprendizaje rápido</a:t>
            </a:r>
            <a:endParaRPr lang="en-US" sz="1400" dirty="0"/>
          </a:p>
          <a:p>
            <a:pPr marL="0" indent="0">
              <a:buNone/>
            </a:pPr>
            <a:r>
              <a:rPr lang="en-US" sz="1400" dirty="0">
                <a:solidFill>
                  <a:schemeClr val="tx1"/>
                </a:solidFill>
              </a:rPr>
              <a:t>Una sola pasada por los datos. El prototipo solo pierde unos (AND): no olvida, pero el ruido lo erosiona.</a:t>
            </a:r>
            <a:endParaRPr lang="en-US" sz="1400" dirty="0"/>
          </a:p>
        </p:txBody>
      </p:sp>
      <p:sp>
        <p:nvSpPr>
          <p:cNvPr id="39" name="Text 36"/>
          <p:cNvSpPr txBox="1"/>
          <p:nvPr/>
        </p:nvSpPr>
        <p:spPr>
          <a:xfrm>
            <a:off x="5120640" y="5577840"/>
            <a:ext cx="6035040" cy="274320"/>
          </a:xfrm>
          <a:prstGeom prst="rect">
            <a:avLst/>
          </a:prstGeom>
          <a:noFill/>
          <a:ln/>
        </p:spPr>
        <p:txBody>
          <a:bodyPr wrap="square" lIns="0" tIns="0" rIns="0" bIns="0" rtlCol="0" anchor="t"/>
          <a:lstStyle/>
          <a:p>
            <a:pPr marL="0" indent="0">
              <a:buNone/>
            </a:pPr>
            <a:r>
              <a:rPr lang="en-US" sz="1200" dirty="0">
                <a:solidFill>
                  <a:srgbClr val="64748B"/>
                </a:solidFill>
              </a:rPr>
              <a:t>N = cantidad de bits · ‖·‖ = cantidad de unos · T = prototipo del nodo</a:t>
            </a:r>
            <a:endParaRPr lang="en-US" sz="1200" dirty="0"/>
          </a:p>
        </p:txBody>
      </p:sp>
      <p:sp>
        <p:nvSpPr>
          <p:cNvPr id="4"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Características y para qué se usa</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1 · ART 1</a:t>
            </a:r>
            <a:endParaRPr lang="en-US" sz="1200" dirty="0"/>
          </a:p>
        </p:txBody>
      </p:sp>
      <p:sp>
        <p:nvSpPr>
          <p:cNvPr id="5" name="Shape 2"/>
          <p:cNvSpPr/>
          <p:nvPr/>
        </p:nvSpPr>
        <p:spPr>
          <a:xfrm>
            <a:off x="548640" y="1645920"/>
            <a:ext cx="2194560" cy="1965960"/>
          </a:xfrm>
          <a:prstGeom prst="roundRect">
            <a:avLst>
              <a:gd name="adj" fmla="val 5581"/>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6" name="Shape 3"/>
          <p:cNvSpPr/>
          <p:nvPr/>
        </p:nvSpPr>
        <p:spPr>
          <a:xfrm>
            <a:off x="777240" y="1874520"/>
            <a:ext cx="640080" cy="640080"/>
          </a:xfrm>
          <a:prstGeom prst="ellipse">
            <a:avLst/>
          </a:prstGeom>
          <a:solidFill>
            <a:schemeClr val="accent1"/>
          </a:solidFill>
          <a:ln/>
        </p:spPr>
        <p:txBody>
          <a:bodyPr/>
          <a:lstStyle/>
          <a:p>
            <a:endParaRPr lang="es-AR"/>
          </a:p>
        </p:txBody>
      </p:sp>
      <p:pic>
        <p:nvPicPr>
          <p:cNvPr id="7" name="Image 0" descr="preencoded.png"/>
          <p:cNvPicPr>
            <a:picLocks noChangeAspect="1"/>
          </p:cNvPicPr>
          <p:nvPr/>
        </p:nvPicPr>
        <p:blipFill>
          <a:blip r:embed="rId3"/>
          <a:stretch>
            <a:fillRect/>
          </a:stretch>
        </p:blipFill>
        <p:spPr>
          <a:xfrm>
            <a:off x="943661" y="2040941"/>
            <a:ext cx="307238" cy="307238"/>
          </a:xfrm>
          <a:prstGeom prst="rect">
            <a:avLst/>
          </a:prstGeom>
        </p:spPr>
      </p:pic>
      <p:sp>
        <p:nvSpPr>
          <p:cNvPr id="8" name="Text 4"/>
          <p:cNvSpPr txBox="1"/>
          <p:nvPr/>
        </p:nvSpPr>
        <p:spPr>
          <a:xfrm>
            <a:off x="777240" y="2606040"/>
            <a:ext cx="1828800" cy="365760"/>
          </a:xfrm>
          <a:prstGeom prst="rect">
            <a:avLst/>
          </a:prstGeom>
          <a:noFill/>
          <a:ln/>
        </p:spPr>
        <p:txBody>
          <a:bodyPr wrap="square" lIns="0" tIns="0" rIns="0" bIns="0" rtlCol="0" anchor="t"/>
          <a:lstStyle/>
          <a:p>
            <a:pPr marL="0" indent="0">
              <a:buNone/>
            </a:pPr>
            <a:r>
              <a:rPr lang="en-US" sz="1600" b="1" dirty="0">
                <a:solidFill>
                  <a:schemeClr val="tx2"/>
                </a:solidFill>
              </a:rPr>
              <a:t>No supervisada</a:t>
            </a:r>
            <a:endParaRPr lang="en-US" sz="1600" dirty="0"/>
          </a:p>
        </p:txBody>
      </p:sp>
      <p:sp>
        <p:nvSpPr>
          <p:cNvPr id="9" name="Text 5"/>
          <p:cNvSpPr txBox="1"/>
          <p:nvPr/>
        </p:nvSpPr>
        <p:spPr>
          <a:xfrm>
            <a:off x="777240" y="2971800"/>
            <a:ext cx="1828800" cy="594360"/>
          </a:xfrm>
          <a:prstGeom prst="rect">
            <a:avLst/>
          </a:prstGeom>
          <a:noFill/>
          <a:ln/>
        </p:spPr>
        <p:txBody>
          <a:bodyPr wrap="square" lIns="0" tIns="0" rIns="0" bIns="0" rtlCol="0" anchor="t"/>
          <a:lstStyle/>
          <a:p>
            <a:pPr marL="0" indent="0">
              <a:buNone/>
            </a:pPr>
            <a:r>
              <a:rPr lang="en-US" sz="1300" dirty="0">
                <a:solidFill>
                  <a:schemeClr val="tx1"/>
                </a:solidFill>
              </a:rPr>
              <a:t>Agrupa sin etiquetas.</a:t>
            </a:r>
            <a:endParaRPr lang="en-US" sz="1300" dirty="0"/>
          </a:p>
        </p:txBody>
      </p:sp>
      <p:sp>
        <p:nvSpPr>
          <p:cNvPr id="10" name="Shape 6"/>
          <p:cNvSpPr/>
          <p:nvPr/>
        </p:nvSpPr>
        <p:spPr>
          <a:xfrm>
            <a:off x="2971800" y="1645920"/>
            <a:ext cx="2194560" cy="1965960"/>
          </a:xfrm>
          <a:prstGeom prst="roundRect">
            <a:avLst>
              <a:gd name="adj" fmla="val 5581"/>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1" name="Shape 7"/>
          <p:cNvSpPr/>
          <p:nvPr/>
        </p:nvSpPr>
        <p:spPr>
          <a:xfrm>
            <a:off x="3200400" y="1874520"/>
            <a:ext cx="640080" cy="640080"/>
          </a:xfrm>
          <a:prstGeom prst="ellipse">
            <a:avLst/>
          </a:prstGeom>
          <a:solidFill>
            <a:schemeClr val="accent6"/>
          </a:solidFill>
          <a:ln/>
        </p:spPr>
        <p:txBody>
          <a:bodyPr/>
          <a:lstStyle/>
          <a:p>
            <a:endParaRPr lang="es-AR"/>
          </a:p>
        </p:txBody>
      </p:sp>
      <p:pic>
        <p:nvPicPr>
          <p:cNvPr id="12" name="Image 1" descr="preencoded.png"/>
          <p:cNvPicPr>
            <a:picLocks noChangeAspect="1"/>
          </p:cNvPicPr>
          <p:nvPr/>
        </p:nvPicPr>
        <p:blipFill>
          <a:blip r:embed="rId4"/>
          <a:stretch>
            <a:fillRect/>
          </a:stretch>
        </p:blipFill>
        <p:spPr>
          <a:xfrm>
            <a:off x="3366821" y="2040941"/>
            <a:ext cx="307238" cy="307238"/>
          </a:xfrm>
          <a:prstGeom prst="rect">
            <a:avLst/>
          </a:prstGeom>
        </p:spPr>
      </p:pic>
      <p:sp>
        <p:nvSpPr>
          <p:cNvPr id="13" name="Text 8"/>
          <p:cNvSpPr txBox="1"/>
          <p:nvPr/>
        </p:nvSpPr>
        <p:spPr>
          <a:xfrm>
            <a:off x="3200400" y="2606040"/>
            <a:ext cx="1828800" cy="365760"/>
          </a:xfrm>
          <a:prstGeom prst="rect">
            <a:avLst/>
          </a:prstGeom>
          <a:noFill/>
          <a:ln/>
        </p:spPr>
        <p:txBody>
          <a:bodyPr wrap="square" lIns="0" tIns="0" rIns="0" bIns="0" rtlCol="0" anchor="t"/>
          <a:lstStyle/>
          <a:p>
            <a:pPr marL="0" indent="0">
              <a:buNone/>
            </a:pPr>
            <a:r>
              <a:rPr lang="en-US" sz="1600" b="1" dirty="0">
                <a:solidFill>
                  <a:schemeClr val="tx2"/>
                </a:solidFill>
              </a:rPr>
              <a:t>Incremental</a:t>
            </a:r>
            <a:endParaRPr lang="en-US" sz="1600" dirty="0"/>
          </a:p>
        </p:txBody>
      </p:sp>
      <p:sp>
        <p:nvSpPr>
          <p:cNvPr id="14" name="Text 9"/>
          <p:cNvSpPr txBox="1"/>
          <p:nvPr/>
        </p:nvSpPr>
        <p:spPr>
          <a:xfrm>
            <a:off x="3200400" y="2971800"/>
            <a:ext cx="1828800" cy="594360"/>
          </a:xfrm>
          <a:prstGeom prst="rect">
            <a:avLst/>
          </a:prstGeom>
          <a:noFill/>
          <a:ln/>
        </p:spPr>
        <p:txBody>
          <a:bodyPr wrap="square" lIns="0" tIns="0" rIns="0" bIns="0" rtlCol="0" anchor="t"/>
          <a:lstStyle/>
          <a:p>
            <a:pPr marL="0" indent="0">
              <a:buNone/>
            </a:pPr>
            <a:r>
              <a:rPr lang="en-US" sz="1300" dirty="0">
                <a:solidFill>
                  <a:schemeClr val="tx1"/>
                </a:solidFill>
              </a:rPr>
              <a:t>Aprende patrón a patrón, sin reentrenar.</a:t>
            </a:r>
            <a:endParaRPr lang="en-US" sz="1300" dirty="0"/>
          </a:p>
        </p:txBody>
      </p:sp>
      <p:sp>
        <p:nvSpPr>
          <p:cNvPr id="15" name="Shape 10"/>
          <p:cNvSpPr/>
          <p:nvPr/>
        </p:nvSpPr>
        <p:spPr>
          <a:xfrm>
            <a:off x="5394960" y="1645920"/>
            <a:ext cx="2194560" cy="1965960"/>
          </a:xfrm>
          <a:prstGeom prst="roundRect">
            <a:avLst>
              <a:gd name="adj" fmla="val 5581"/>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6" name="Shape 11"/>
          <p:cNvSpPr/>
          <p:nvPr/>
        </p:nvSpPr>
        <p:spPr>
          <a:xfrm>
            <a:off x="5623560" y="1874520"/>
            <a:ext cx="640080" cy="640080"/>
          </a:xfrm>
          <a:prstGeom prst="ellipse">
            <a:avLst/>
          </a:prstGeom>
          <a:solidFill>
            <a:schemeClr val="accent3"/>
          </a:solidFill>
          <a:ln/>
        </p:spPr>
        <p:txBody>
          <a:bodyPr/>
          <a:lstStyle/>
          <a:p>
            <a:endParaRPr lang="es-AR"/>
          </a:p>
        </p:txBody>
      </p:sp>
      <p:pic>
        <p:nvPicPr>
          <p:cNvPr id="17" name="Image 2" descr="preencoded.png"/>
          <p:cNvPicPr>
            <a:picLocks noChangeAspect="1"/>
          </p:cNvPicPr>
          <p:nvPr/>
        </p:nvPicPr>
        <p:blipFill>
          <a:blip r:embed="rId5"/>
          <a:stretch>
            <a:fillRect/>
          </a:stretch>
        </p:blipFill>
        <p:spPr>
          <a:xfrm>
            <a:off x="5789981" y="2040941"/>
            <a:ext cx="307238" cy="307238"/>
          </a:xfrm>
          <a:prstGeom prst="rect">
            <a:avLst/>
          </a:prstGeom>
        </p:spPr>
      </p:pic>
      <p:sp>
        <p:nvSpPr>
          <p:cNvPr id="18" name="Text 12"/>
          <p:cNvSpPr txBox="1"/>
          <p:nvPr/>
        </p:nvSpPr>
        <p:spPr>
          <a:xfrm>
            <a:off x="5623560" y="2606040"/>
            <a:ext cx="1828800" cy="365760"/>
          </a:xfrm>
          <a:prstGeom prst="rect">
            <a:avLst/>
          </a:prstGeom>
          <a:noFill/>
          <a:ln/>
        </p:spPr>
        <p:txBody>
          <a:bodyPr wrap="square" lIns="0" tIns="0" rIns="0" bIns="0" rtlCol="0" anchor="t"/>
          <a:lstStyle/>
          <a:p>
            <a:pPr marL="0" indent="0">
              <a:buNone/>
            </a:pPr>
            <a:r>
              <a:rPr lang="en-US" sz="1600" b="1" dirty="0">
                <a:solidFill>
                  <a:schemeClr val="tx2"/>
                </a:solidFill>
              </a:rPr>
              <a:t>Estable y plástica</a:t>
            </a:r>
            <a:endParaRPr lang="en-US" sz="1600" dirty="0"/>
          </a:p>
        </p:txBody>
      </p:sp>
      <p:sp>
        <p:nvSpPr>
          <p:cNvPr id="19" name="Text 13"/>
          <p:cNvSpPr txBox="1"/>
          <p:nvPr/>
        </p:nvSpPr>
        <p:spPr>
          <a:xfrm>
            <a:off x="5623560" y="2971800"/>
            <a:ext cx="1828800" cy="594360"/>
          </a:xfrm>
          <a:prstGeom prst="rect">
            <a:avLst/>
          </a:prstGeom>
          <a:noFill/>
          <a:ln/>
        </p:spPr>
        <p:txBody>
          <a:bodyPr wrap="square" lIns="0" tIns="0" rIns="0" bIns="0" rtlCol="0" anchor="t"/>
          <a:lstStyle/>
          <a:p>
            <a:pPr marL="0" indent="0">
              <a:buNone/>
            </a:pPr>
            <a:r>
              <a:rPr lang="en-US" sz="1300" dirty="0">
                <a:solidFill>
                  <a:schemeClr val="tx1"/>
                </a:solidFill>
              </a:rPr>
              <a:t>Aprende lo nuevo sin olvidar lo viejo.</a:t>
            </a:r>
            <a:endParaRPr lang="en-US" sz="1300" dirty="0"/>
          </a:p>
        </p:txBody>
      </p:sp>
      <p:sp>
        <p:nvSpPr>
          <p:cNvPr id="20" name="Shape 14"/>
          <p:cNvSpPr/>
          <p:nvPr/>
        </p:nvSpPr>
        <p:spPr>
          <a:xfrm>
            <a:off x="548640" y="3886200"/>
            <a:ext cx="2194560" cy="1965960"/>
          </a:xfrm>
          <a:prstGeom prst="roundRect">
            <a:avLst>
              <a:gd name="adj" fmla="val 5581"/>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21" name="Shape 15"/>
          <p:cNvSpPr/>
          <p:nvPr/>
        </p:nvSpPr>
        <p:spPr>
          <a:xfrm>
            <a:off x="777240" y="4114800"/>
            <a:ext cx="640080" cy="640080"/>
          </a:xfrm>
          <a:prstGeom prst="ellipse">
            <a:avLst/>
          </a:prstGeom>
          <a:solidFill>
            <a:schemeClr val="accent5"/>
          </a:solidFill>
          <a:ln/>
        </p:spPr>
        <p:txBody>
          <a:bodyPr/>
          <a:lstStyle/>
          <a:p>
            <a:endParaRPr lang="es-AR"/>
          </a:p>
        </p:txBody>
      </p:sp>
      <p:pic>
        <p:nvPicPr>
          <p:cNvPr id="22" name="Image 3" descr="preencoded.png"/>
          <p:cNvPicPr>
            <a:picLocks noChangeAspect="1"/>
          </p:cNvPicPr>
          <p:nvPr/>
        </p:nvPicPr>
        <p:blipFill>
          <a:blip r:embed="rId6"/>
          <a:stretch>
            <a:fillRect/>
          </a:stretch>
        </p:blipFill>
        <p:spPr>
          <a:xfrm>
            <a:off x="943661" y="4281221"/>
            <a:ext cx="307238" cy="307238"/>
          </a:xfrm>
          <a:prstGeom prst="rect">
            <a:avLst/>
          </a:prstGeom>
        </p:spPr>
      </p:pic>
      <p:sp>
        <p:nvSpPr>
          <p:cNvPr id="23" name="Text 16"/>
          <p:cNvSpPr txBox="1"/>
          <p:nvPr/>
        </p:nvSpPr>
        <p:spPr>
          <a:xfrm>
            <a:off x="777240" y="4846320"/>
            <a:ext cx="1828800" cy="365760"/>
          </a:xfrm>
          <a:prstGeom prst="rect">
            <a:avLst/>
          </a:prstGeom>
          <a:noFill/>
          <a:ln/>
        </p:spPr>
        <p:txBody>
          <a:bodyPr wrap="square" lIns="0" tIns="0" rIns="0" bIns="0" rtlCol="0" anchor="t"/>
          <a:lstStyle/>
          <a:p>
            <a:pPr marL="0" indent="0">
              <a:buNone/>
            </a:pPr>
            <a:r>
              <a:rPr lang="en-US" sz="1600" b="1" dirty="0">
                <a:solidFill>
                  <a:schemeClr val="tx2"/>
                </a:solidFill>
              </a:rPr>
              <a:t>Crece sola</a:t>
            </a:r>
            <a:endParaRPr lang="en-US" sz="1600" dirty="0"/>
          </a:p>
        </p:txBody>
      </p:sp>
      <p:sp>
        <p:nvSpPr>
          <p:cNvPr id="24" name="Text 17"/>
          <p:cNvSpPr txBox="1"/>
          <p:nvPr/>
        </p:nvSpPr>
        <p:spPr>
          <a:xfrm>
            <a:off x="777240" y="5212080"/>
            <a:ext cx="1828800" cy="594360"/>
          </a:xfrm>
          <a:prstGeom prst="rect">
            <a:avLst/>
          </a:prstGeom>
          <a:noFill/>
          <a:ln/>
        </p:spPr>
        <p:txBody>
          <a:bodyPr wrap="square" lIns="0" tIns="0" rIns="0" bIns="0" rtlCol="0" anchor="t"/>
          <a:lstStyle/>
          <a:p>
            <a:pPr marL="0" indent="0">
              <a:buNone/>
            </a:pPr>
            <a:r>
              <a:rPr lang="en-US" sz="1300" dirty="0">
                <a:solidFill>
                  <a:schemeClr val="tx1"/>
                </a:solidFill>
              </a:rPr>
              <a:t>Crea nodos según los necesita.</a:t>
            </a:r>
            <a:endParaRPr lang="en-US" sz="1300" dirty="0"/>
          </a:p>
        </p:txBody>
      </p:sp>
      <p:sp>
        <p:nvSpPr>
          <p:cNvPr id="25" name="Shape 18"/>
          <p:cNvSpPr/>
          <p:nvPr/>
        </p:nvSpPr>
        <p:spPr>
          <a:xfrm>
            <a:off x="2971800" y="3886200"/>
            <a:ext cx="2194560" cy="1965960"/>
          </a:xfrm>
          <a:prstGeom prst="roundRect">
            <a:avLst>
              <a:gd name="adj" fmla="val 5581"/>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26" name="Shape 19"/>
          <p:cNvSpPr/>
          <p:nvPr/>
        </p:nvSpPr>
        <p:spPr>
          <a:xfrm>
            <a:off x="3200400" y="4114800"/>
            <a:ext cx="640080" cy="640080"/>
          </a:xfrm>
          <a:prstGeom prst="ellipse">
            <a:avLst/>
          </a:prstGeom>
          <a:solidFill>
            <a:schemeClr val="accent2"/>
          </a:solidFill>
          <a:ln/>
        </p:spPr>
        <p:txBody>
          <a:bodyPr/>
          <a:lstStyle/>
          <a:p>
            <a:endParaRPr lang="es-AR"/>
          </a:p>
        </p:txBody>
      </p:sp>
      <p:pic>
        <p:nvPicPr>
          <p:cNvPr id="27" name="Image 4" descr="preencoded.png"/>
          <p:cNvPicPr>
            <a:picLocks noChangeAspect="1"/>
          </p:cNvPicPr>
          <p:nvPr/>
        </p:nvPicPr>
        <p:blipFill>
          <a:blip r:embed="rId7"/>
          <a:stretch>
            <a:fillRect/>
          </a:stretch>
        </p:blipFill>
        <p:spPr>
          <a:xfrm>
            <a:off x="3366821" y="4281221"/>
            <a:ext cx="307238" cy="307238"/>
          </a:xfrm>
          <a:prstGeom prst="rect">
            <a:avLst/>
          </a:prstGeom>
        </p:spPr>
      </p:pic>
      <p:sp>
        <p:nvSpPr>
          <p:cNvPr id="28" name="Text 20"/>
          <p:cNvSpPr txBox="1"/>
          <p:nvPr/>
        </p:nvSpPr>
        <p:spPr>
          <a:xfrm>
            <a:off x="3200400" y="4846320"/>
            <a:ext cx="1828800" cy="365760"/>
          </a:xfrm>
          <a:prstGeom prst="rect">
            <a:avLst/>
          </a:prstGeom>
          <a:noFill/>
          <a:ln/>
        </p:spPr>
        <p:txBody>
          <a:bodyPr wrap="square" lIns="0" tIns="0" rIns="0" bIns="0" rtlCol="0" anchor="t"/>
          <a:lstStyle/>
          <a:p>
            <a:pPr marL="0" indent="0">
              <a:buNone/>
            </a:pPr>
            <a:r>
              <a:rPr lang="en-US" sz="1600" b="1" dirty="0">
                <a:solidFill>
                  <a:schemeClr val="tx2"/>
                </a:solidFill>
              </a:rPr>
              <a:t>Vigilancia ρ</a:t>
            </a:r>
            <a:endParaRPr lang="en-US" sz="1600" dirty="0"/>
          </a:p>
        </p:txBody>
      </p:sp>
      <p:sp>
        <p:nvSpPr>
          <p:cNvPr id="29" name="Text 21"/>
          <p:cNvSpPr txBox="1"/>
          <p:nvPr/>
        </p:nvSpPr>
        <p:spPr>
          <a:xfrm>
            <a:off x="3200400" y="5212080"/>
            <a:ext cx="1828800" cy="594360"/>
          </a:xfrm>
          <a:prstGeom prst="rect">
            <a:avLst/>
          </a:prstGeom>
          <a:noFill/>
          <a:ln/>
        </p:spPr>
        <p:txBody>
          <a:bodyPr wrap="square" lIns="0" tIns="0" rIns="0" bIns="0" rtlCol="0" anchor="t"/>
          <a:lstStyle/>
          <a:p>
            <a:pPr marL="0" indent="0">
              <a:buNone/>
            </a:pPr>
            <a:r>
              <a:rPr lang="en-US" sz="1300" dirty="0">
                <a:solidFill>
                  <a:schemeClr val="tx1"/>
                </a:solidFill>
              </a:rPr>
              <a:t>Regula qué tan finos son los grupos.</a:t>
            </a:r>
            <a:endParaRPr lang="en-US" sz="1300" dirty="0"/>
          </a:p>
        </p:txBody>
      </p:sp>
      <p:sp>
        <p:nvSpPr>
          <p:cNvPr id="30" name="Shape 22"/>
          <p:cNvSpPr/>
          <p:nvPr/>
        </p:nvSpPr>
        <p:spPr>
          <a:xfrm>
            <a:off x="5394960" y="3886200"/>
            <a:ext cx="2194560" cy="1965960"/>
          </a:xfrm>
          <a:prstGeom prst="roundRect">
            <a:avLst>
              <a:gd name="adj" fmla="val 5581"/>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31" name="Shape 23"/>
          <p:cNvSpPr/>
          <p:nvPr/>
        </p:nvSpPr>
        <p:spPr>
          <a:xfrm>
            <a:off x="5623560" y="4114800"/>
            <a:ext cx="640080" cy="640080"/>
          </a:xfrm>
          <a:prstGeom prst="ellipse">
            <a:avLst/>
          </a:prstGeom>
          <a:solidFill>
            <a:schemeClr val="accent4"/>
          </a:solidFill>
          <a:ln/>
        </p:spPr>
        <p:txBody>
          <a:bodyPr/>
          <a:lstStyle/>
          <a:p>
            <a:endParaRPr lang="es-AR"/>
          </a:p>
        </p:txBody>
      </p:sp>
      <p:pic>
        <p:nvPicPr>
          <p:cNvPr id="32" name="Image 5" descr="preencoded.png"/>
          <p:cNvPicPr>
            <a:picLocks noChangeAspect="1"/>
          </p:cNvPicPr>
          <p:nvPr/>
        </p:nvPicPr>
        <p:blipFill>
          <a:blip r:embed="rId8"/>
          <a:stretch>
            <a:fillRect/>
          </a:stretch>
        </p:blipFill>
        <p:spPr>
          <a:xfrm>
            <a:off x="5789981" y="4281221"/>
            <a:ext cx="307238" cy="307238"/>
          </a:xfrm>
          <a:prstGeom prst="rect">
            <a:avLst/>
          </a:prstGeom>
        </p:spPr>
      </p:pic>
      <p:sp>
        <p:nvSpPr>
          <p:cNvPr id="33" name="Text 24"/>
          <p:cNvSpPr txBox="1"/>
          <p:nvPr/>
        </p:nvSpPr>
        <p:spPr>
          <a:xfrm>
            <a:off x="5623560" y="4846320"/>
            <a:ext cx="1828800" cy="365760"/>
          </a:xfrm>
          <a:prstGeom prst="rect">
            <a:avLst/>
          </a:prstGeom>
          <a:noFill/>
          <a:ln/>
        </p:spPr>
        <p:txBody>
          <a:bodyPr wrap="square" lIns="0" tIns="0" rIns="0" bIns="0" rtlCol="0" anchor="t"/>
          <a:lstStyle/>
          <a:p>
            <a:pPr marL="0" indent="0">
              <a:buNone/>
            </a:pPr>
            <a:r>
              <a:rPr lang="en-US" sz="1600" b="1" dirty="0">
                <a:solidFill>
                  <a:schemeClr val="tx2"/>
                </a:solidFill>
              </a:rPr>
              <a:t>Entradas binarias</a:t>
            </a:r>
            <a:endParaRPr lang="en-US" sz="1600" dirty="0"/>
          </a:p>
        </p:txBody>
      </p:sp>
      <p:sp>
        <p:nvSpPr>
          <p:cNvPr id="34" name="Text 25"/>
          <p:cNvSpPr txBox="1"/>
          <p:nvPr/>
        </p:nvSpPr>
        <p:spPr>
          <a:xfrm>
            <a:off x="5623560" y="5212080"/>
            <a:ext cx="1828800" cy="594360"/>
          </a:xfrm>
          <a:prstGeom prst="rect">
            <a:avLst/>
          </a:prstGeom>
          <a:noFill/>
          <a:ln/>
        </p:spPr>
        <p:txBody>
          <a:bodyPr wrap="square" lIns="0" tIns="0" rIns="0" bIns="0" rtlCol="0" anchor="t"/>
          <a:lstStyle/>
          <a:p>
            <a:pPr marL="0" indent="0">
              <a:buNone/>
            </a:pPr>
            <a:r>
              <a:rPr lang="en-US" sz="1300" dirty="0">
                <a:solidFill>
                  <a:schemeClr val="tx1"/>
                </a:solidFill>
              </a:rPr>
              <a:t>Vectores de 0 y 1.</a:t>
            </a:r>
            <a:endParaRPr lang="en-US" sz="1300" dirty="0"/>
          </a:p>
        </p:txBody>
      </p:sp>
      <p:sp>
        <p:nvSpPr>
          <p:cNvPr id="35" name="Shape 26"/>
          <p:cNvSpPr/>
          <p:nvPr/>
        </p:nvSpPr>
        <p:spPr>
          <a:xfrm>
            <a:off x="8001000" y="1645920"/>
            <a:ext cx="3657600" cy="4206240"/>
          </a:xfrm>
          <a:prstGeom prst="roundRect">
            <a:avLst>
              <a:gd name="adj" fmla="val 3000"/>
            </a:avLst>
          </a:prstGeom>
          <a:solidFill>
            <a:schemeClr val="tx2"/>
          </a:solidFill>
          <a:ln/>
        </p:spPr>
        <p:txBody>
          <a:bodyPr/>
          <a:lstStyle/>
          <a:p>
            <a:endParaRPr lang="es-AR"/>
          </a:p>
        </p:txBody>
      </p:sp>
      <p:sp>
        <p:nvSpPr>
          <p:cNvPr id="36" name="Text 27"/>
          <p:cNvSpPr txBox="1"/>
          <p:nvPr/>
        </p:nvSpPr>
        <p:spPr>
          <a:xfrm>
            <a:off x="8275320" y="1874520"/>
            <a:ext cx="3200400" cy="411480"/>
          </a:xfrm>
          <a:prstGeom prst="rect">
            <a:avLst/>
          </a:prstGeom>
          <a:noFill/>
          <a:ln/>
        </p:spPr>
        <p:txBody>
          <a:bodyPr wrap="square" lIns="0" tIns="0" rIns="0" bIns="0" rtlCol="0" anchor="t"/>
          <a:lstStyle/>
          <a:p>
            <a:pPr marL="0" indent="0">
              <a:buNone/>
            </a:pPr>
            <a:r>
              <a:rPr lang="en-US" sz="2000" b="1" dirty="0">
                <a:solidFill>
                  <a:schemeClr val="bg1"/>
                </a:solidFill>
              </a:rPr>
              <a:t>¿Para qué se usa?</a:t>
            </a:r>
            <a:endParaRPr lang="en-US" sz="2000" dirty="0"/>
          </a:p>
        </p:txBody>
      </p:sp>
      <p:sp>
        <p:nvSpPr>
          <p:cNvPr id="37" name="Text 28"/>
          <p:cNvSpPr txBox="1"/>
          <p:nvPr/>
        </p:nvSpPr>
        <p:spPr>
          <a:xfrm>
            <a:off x="8275320" y="2423160"/>
            <a:ext cx="3200400" cy="3291840"/>
          </a:xfrm>
          <a:prstGeom prst="rect">
            <a:avLst/>
          </a:prstGeom>
          <a:noFill/>
          <a:ln/>
        </p:spPr>
        <p:txBody>
          <a:bodyPr wrap="square" lIns="0" tIns="0" rIns="0" bIns="0" rtlCol="0" anchor="t"/>
          <a:lstStyle/>
          <a:p>
            <a:pPr marL="228600" indent="-228600">
              <a:spcAft>
                <a:spcPts val="1200"/>
              </a:spcAft>
              <a:buSzPct val="100000"/>
              <a:buChar char="•"/>
            </a:pPr>
            <a:r>
              <a:rPr lang="en-US" sz="1500" dirty="0">
                <a:solidFill>
                  <a:srgbClr val="E2E8F0"/>
                </a:solidFill>
              </a:rPr>
              <a:t>Agrupar patrones binarios</a:t>
            </a:r>
            <a:endParaRPr lang="en-US" sz="1500" dirty="0"/>
          </a:p>
          <a:p>
            <a:pPr marL="228600" indent="-228600">
              <a:spcAft>
                <a:spcPts val="1200"/>
              </a:spcAft>
              <a:buSzPct val="100000"/>
              <a:buChar char="•"/>
            </a:pPr>
            <a:r>
              <a:rPr lang="en-US" sz="1500" dirty="0">
                <a:solidFill>
                  <a:srgbClr val="E2E8F0"/>
                </a:solidFill>
              </a:rPr>
              <a:t>Reconocer caracteres e imágenes en blanco y negro</a:t>
            </a:r>
            <a:endParaRPr lang="en-US" sz="1500" dirty="0"/>
          </a:p>
          <a:p>
            <a:pPr marL="228600" indent="-228600">
              <a:spcAft>
                <a:spcPts val="1200"/>
              </a:spcAft>
              <a:buSzPct val="100000"/>
              <a:buChar char="•"/>
            </a:pPr>
            <a:r>
              <a:rPr lang="en-US" sz="1500" dirty="0">
                <a:solidFill>
                  <a:srgbClr val="E2E8F0"/>
                </a:solidFill>
              </a:rPr>
              <a:t>Detectar patrones nuevos o anómalos</a:t>
            </a:r>
            <a:endParaRPr lang="en-US" sz="1500" dirty="0"/>
          </a:p>
          <a:p>
            <a:pPr marL="228600" indent="-228600">
              <a:spcAft>
                <a:spcPts val="1200"/>
              </a:spcAft>
              <a:buSzPct val="100000"/>
              <a:buChar char="•"/>
            </a:pPr>
            <a:r>
              <a:rPr lang="en-US" sz="1500" b="1" dirty="0">
                <a:solidFill>
                  <a:srgbClr val="5EEAD4"/>
                </a:solidFill>
              </a:rPr>
              <a:t>En este TFI: agrupar perfiles de alumnos codificados en 20 bits</a:t>
            </a:r>
            <a:endParaRPr lang="en-US" sz="1500" dirty="0"/>
          </a:p>
        </p:txBody>
      </p:sp>
      <p:sp>
        <p:nvSpPr>
          <p:cNvPr id="4"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Pros, contras y limitaciones</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1 · ART 1</a:t>
            </a:r>
            <a:endParaRPr lang="en-US" sz="1200" dirty="0"/>
          </a:p>
        </p:txBody>
      </p:sp>
      <p:sp>
        <p:nvSpPr>
          <p:cNvPr id="5" name="Shape 2"/>
          <p:cNvSpPr/>
          <p:nvPr/>
        </p:nvSpPr>
        <p:spPr>
          <a:xfrm>
            <a:off x="548640" y="1600200"/>
            <a:ext cx="5394960" cy="4526280"/>
          </a:xfrm>
          <a:prstGeom prst="roundRect">
            <a:avLst>
              <a:gd name="adj" fmla="val 2424"/>
            </a:avLst>
          </a:prstGeom>
          <a:solidFill>
            <a:srgbClr val="E9F7EF"/>
          </a:solidFill>
          <a:ln/>
        </p:spPr>
        <p:txBody>
          <a:bodyPr/>
          <a:lstStyle/>
          <a:p>
            <a:endParaRPr lang="es-AR"/>
          </a:p>
        </p:txBody>
      </p:sp>
      <p:sp>
        <p:nvSpPr>
          <p:cNvPr id="6" name="Shape 3"/>
          <p:cNvSpPr/>
          <p:nvPr/>
        </p:nvSpPr>
        <p:spPr>
          <a:xfrm>
            <a:off x="868680" y="1828800"/>
            <a:ext cx="594360" cy="594360"/>
          </a:xfrm>
          <a:prstGeom prst="ellipse">
            <a:avLst/>
          </a:prstGeom>
          <a:solidFill>
            <a:schemeClr val="accent5"/>
          </a:solidFill>
          <a:ln/>
        </p:spPr>
        <p:txBody>
          <a:bodyPr/>
          <a:lstStyle/>
          <a:p>
            <a:endParaRPr lang="es-AR"/>
          </a:p>
        </p:txBody>
      </p:sp>
      <p:pic>
        <p:nvPicPr>
          <p:cNvPr id="7" name="Image 0" descr="preencoded.png"/>
          <p:cNvPicPr>
            <a:picLocks noChangeAspect="1"/>
          </p:cNvPicPr>
          <p:nvPr/>
        </p:nvPicPr>
        <p:blipFill>
          <a:blip r:embed="rId3"/>
          <a:stretch>
            <a:fillRect/>
          </a:stretch>
        </p:blipFill>
        <p:spPr>
          <a:xfrm>
            <a:off x="1023214" y="1983334"/>
            <a:ext cx="285293" cy="285293"/>
          </a:xfrm>
          <a:prstGeom prst="rect">
            <a:avLst/>
          </a:prstGeom>
        </p:spPr>
      </p:pic>
      <p:sp>
        <p:nvSpPr>
          <p:cNvPr id="8" name="Text 4"/>
          <p:cNvSpPr txBox="1"/>
          <p:nvPr/>
        </p:nvSpPr>
        <p:spPr>
          <a:xfrm>
            <a:off x="1645920" y="1874520"/>
            <a:ext cx="4023360" cy="502920"/>
          </a:xfrm>
          <a:prstGeom prst="rect">
            <a:avLst/>
          </a:prstGeom>
          <a:noFill/>
          <a:ln/>
        </p:spPr>
        <p:txBody>
          <a:bodyPr wrap="square" lIns="0" tIns="0" rIns="0" bIns="0" rtlCol="0" anchor="ctr"/>
          <a:lstStyle/>
          <a:p>
            <a:pPr marL="0" indent="0">
              <a:buNone/>
            </a:pPr>
            <a:r>
              <a:rPr lang="en-US" sz="2200" b="1" dirty="0">
                <a:solidFill>
                  <a:schemeClr val="tx2"/>
                </a:solidFill>
              </a:rPr>
              <a:t>A favor</a:t>
            </a:r>
            <a:endParaRPr lang="en-US" sz="2200" dirty="0"/>
          </a:p>
        </p:txBody>
      </p:sp>
      <p:sp>
        <p:nvSpPr>
          <p:cNvPr id="9" name="Text 5"/>
          <p:cNvSpPr txBox="1"/>
          <p:nvPr/>
        </p:nvSpPr>
        <p:spPr>
          <a:xfrm>
            <a:off x="914400" y="2697480"/>
            <a:ext cx="4754880" cy="32918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No olvida lo aprendido (estable)</a:t>
            </a:r>
            <a:endParaRPr lang="en-US" sz="1800" dirty="0"/>
          </a:p>
          <a:p>
            <a:pPr marL="342900" indent="-342900">
              <a:spcAft>
                <a:spcPts val="1200"/>
              </a:spcAft>
              <a:buSzPct val="100000"/>
              <a:buChar char="•"/>
            </a:pPr>
            <a:r>
              <a:rPr lang="en-US" sz="1800" dirty="0">
                <a:solidFill>
                  <a:schemeClr val="tx1"/>
                </a:solidFill>
              </a:rPr>
              <a:t>Aprende en una pasada: rápida</a:t>
            </a:r>
            <a:endParaRPr lang="en-US" sz="1800" dirty="0"/>
          </a:p>
          <a:p>
            <a:pPr marL="342900" indent="-342900">
              <a:spcAft>
                <a:spcPts val="1200"/>
              </a:spcAft>
              <a:buSzPct val="100000"/>
              <a:buChar char="•"/>
            </a:pPr>
            <a:r>
              <a:rPr lang="en-US" sz="1800" dirty="0">
                <a:solidFill>
                  <a:schemeClr val="tx1"/>
                </a:solidFill>
              </a:rPr>
              <a:t>Sin etiquetas y sin fijar cuántos grupos</a:t>
            </a:r>
            <a:endParaRPr lang="en-US" sz="1800" dirty="0"/>
          </a:p>
          <a:p>
            <a:pPr marL="342900" indent="-342900">
              <a:spcAft>
                <a:spcPts val="1200"/>
              </a:spcAft>
              <a:buSzPct val="100000"/>
              <a:buChar char="•"/>
            </a:pPr>
            <a:r>
              <a:rPr lang="en-US" sz="1800" dirty="0">
                <a:solidFill>
                  <a:schemeClr val="tx1"/>
                </a:solidFill>
              </a:rPr>
              <a:t>Prototipos interpretables (bits en común)</a:t>
            </a:r>
            <a:endParaRPr lang="en-US" sz="1800" dirty="0"/>
          </a:p>
          <a:p>
            <a:pPr marL="342900" indent="-342900">
              <a:spcAft>
                <a:spcPts val="1200"/>
              </a:spcAft>
              <a:buSzPct val="100000"/>
              <a:buChar char="•"/>
            </a:pPr>
            <a:r>
              <a:rPr lang="en-US" sz="1800" dirty="0">
                <a:solidFill>
                  <a:schemeClr val="tx1"/>
                </a:solidFill>
              </a:rPr>
              <a:t>Un nodo nuevo señala un patrón nunca visto</a:t>
            </a:r>
            <a:endParaRPr lang="en-US" sz="1800" dirty="0"/>
          </a:p>
        </p:txBody>
      </p:sp>
      <p:sp>
        <p:nvSpPr>
          <p:cNvPr id="10" name="Shape 6"/>
          <p:cNvSpPr/>
          <p:nvPr/>
        </p:nvSpPr>
        <p:spPr>
          <a:xfrm>
            <a:off x="6263640" y="1600200"/>
            <a:ext cx="5394960" cy="4526280"/>
          </a:xfrm>
          <a:prstGeom prst="roundRect">
            <a:avLst>
              <a:gd name="adj" fmla="val 2424"/>
            </a:avLst>
          </a:prstGeom>
          <a:solidFill>
            <a:srgbClr val="FDECEC"/>
          </a:solidFill>
          <a:ln/>
        </p:spPr>
        <p:txBody>
          <a:bodyPr/>
          <a:lstStyle/>
          <a:p>
            <a:endParaRPr lang="es-AR"/>
          </a:p>
        </p:txBody>
      </p:sp>
      <p:sp>
        <p:nvSpPr>
          <p:cNvPr id="11" name="Shape 7"/>
          <p:cNvSpPr/>
          <p:nvPr/>
        </p:nvSpPr>
        <p:spPr>
          <a:xfrm>
            <a:off x="6583680" y="1828800"/>
            <a:ext cx="594360" cy="594360"/>
          </a:xfrm>
          <a:prstGeom prst="ellipse">
            <a:avLst/>
          </a:prstGeom>
          <a:solidFill>
            <a:schemeClr val="accent4"/>
          </a:solidFill>
          <a:ln/>
        </p:spPr>
        <p:txBody>
          <a:bodyPr/>
          <a:lstStyle/>
          <a:p>
            <a:endParaRPr lang="es-AR"/>
          </a:p>
        </p:txBody>
      </p:sp>
      <p:pic>
        <p:nvPicPr>
          <p:cNvPr id="12" name="Image 1" descr="preencoded.png"/>
          <p:cNvPicPr>
            <a:picLocks noChangeAspect="1"/>
          </p:cNvPicPr>
          <p:nvPr/>
        </p:nvPicPr>
        <p:blipFill>
          <a:blip r:embed="rId4"/>
          <a:stretch>
            <a:fillRect/>
          </a:stretch>
        </p:blipFill>
        <p:spPr>
          <a:xfrm>
            <a:off x="6738214" y="1983334"/>
            <a:ext cx="285293" cy="285293"/>
          </a:xfrm>
          <a:prstGeom prst="rect">
            <a:avLst/>
          </a:prstGeom>
        </p:spPr>
      </p:pic>
      <p:sp>
        <p:nvSpPr>
          <p:cNvPr id="13" name="Text 8"/>
          <p:cNvSpPr txBox="1"/>
          <p:nvPr/>
        </p:nvSpPr>
        <p:spPr>
          <a:xfrm>
            <a:off x="7360920" y="1874520"/>
            <a:ext cx="4023360" cy="502920"/>
          </a:xfrm>
          <a:prstGeom prst="rect">
            <a:avLst/>
          </a:prstGeom>
          <a:noFill/>
          <a:ln/>
        </p:spPr>
        <p:txBody>
          <a:bodyPr wrap="square" lIns="0" tIns="0" rIns="0" bIns="0" rtlCol="0" anchor="ctr"/>
          <a:lstStyle/>
          <a:p>
            <a:pPr marL="0" indent="0">
              <a:buNone/>
            </a:pPr>
            <a:r>
              <a:rPr lang="en-US" sz="2200" b="1" dirty="0">
                <a:solidFill>
                  <a:schemeClr val="tx2"/>
                </a:solidFill>
              </a:rPr>
              <a:t>En contra y limitaciones</a:t>
            </a:r>
            <a:endParaRPr lang="en-US" sz="2200" dirty="0"/>
          </a:p>
        </p:txBody>
      </p:sp>
      <p:sp>
        <p:nvSpPr>
          <p:cNvPr id="14" name="Text 9"/>
          <p:cNvSpPr txBox="1"/>
          <p:nvPr/>
        </p:nvSpPr>
        <p:spPr>
          <a:xfrm>
            <a:off x="6629400" y="2697480"/>
            <a:ext cx="4754880" cy="329184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chemeClr val="tx1"/>
                </a:solidFill>
              </a:rPr>
              <a:t>Solo entradas binarias: codificar pierde información</a:t>
            </a:r>
            <a:endParaRPr lang="en-US" sz="1800" dirty="0"/>
          </a:p>
          <a:p>
            <a:pPr marL="342900" indent="-342900">
              <a:spcAft>
                <a:spcPts val="1200"/>
              </a:spcAft>
              <a:buSzPct val="100000"/>
              <a:buChar char="•"/>
            </a:pPr>
            <a:r>
              <a:rPr lang="en-US" sz="1800" dirty="0">
                <a:solidFill>
                  <a:schemeClr val="tx1"/>
                </a:solidFill>
              </a:rPr>
              <a:t>Depende del orden de los datos y de ρ</a:t>
            </a:r>
            <a:endParaRPr lang="en-US" sz="1800" dirty="0"/>
          </a:p>
          <a:p>
            <a:pPr marL="342900" indent="-342900">
              <a:spcAft>
                <a:spcPts val="1200"/>
              </a:spcAft>
              <a:buSzPct val="100000"/>
              <a:buChar char="•"/>
            </a:pPr>
            <a:r>
              <a:rPr lang="en-US" sz="1800" dirty="0">
                <a:solidFill>
                  <a:schemeClr val="tx1"/>
                </a:solidFill>
              </a:rPr>
              <a:t>El AND erosiona prototipos con ruido</a:t>
            </a:r>
            <a:endParaRPr lang="en-US" sz="1800" dirty="0"/>
          </a:p>
          <a:p>
            <a:pPr marL="342900" indent="-342900">
              <a:spcAft>
                <a:spcPts val="1200"/>
              </a:spcAft>
              <a:buSzPct val="100000"/>
              <a:buChar char="•"/>
            </a:pPr>
            <a:r>
              <a:rPr lang="en-US" sz="1800" dirty="0">
                <a:solidFill>
                  <a:schemeClr val="tx1"/>
                </a:solidFill>
              </a:rPr>
              <a:t>No entiende magnitudes: 0111 (7) y 1000 (8) no comparten bits</a:t>
            </a:r>
            <a:endParaRPr lang="en-US" sz="1800" dirty="0"/>
          </a:p>
          <a:p>
            <a:pPr marL="342900" indent="-342900">
              <a:spcAft>
                <a:spcPts val="1200"/>
              </a:spcAft>
              <a:buSzPct val="100000"/>
              <a:buChar char="•"/>
            </a:pPr>
            <a:r>
              <a:rPr lang="en-US" sz="1800" dirty="0">
                <a:solidFill>
                  <a:schemeClr val="tx1"/>
                </a:solidFill>
              </a:rPr>
              <a:t>Sin salida numérica propia: hay que calibrarla</a:t>
            </a:r>
            <a:endParaRPr lang="en-US" sz="18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ART 1 frente a otras redes</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1 · COMPARACIÓN</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109960" cy="3950208"/>
        </p:xfrm>
        <a:graphic>
          <a:graphicData uri="http://schemas.openxmlformats.org/drawingml/2006/table">
            <a:tbl>
              <a:tblPr/>
              <a:tblGrid>
                <a:gridCol w="2057400">
                  <a:extLst>
                    <a:ext uri="{9D8B030D-6E8A-4147-A177-3AD203B41FA5}">
                      <a16:colId xmlns:a16="http://schemas.microsoft.com/office/drawing/2014/main" val="20000"/>
                    </a:ext>
                  </a:extLst>
                </a:gridCol>
                <a:gridCol w="210312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377440">
                  <a:extLst>
                    <a:ext uri="{9D8B030D-6E8A-4147-A177-3AD203B41FA5}">
                      <a16:colId xmlns:a16="http://schemas.microsoft.com/office/drawing/2014/main" val="20004"/>
                    </a:ext>
                  </a:extLst>
                </a:gridCol>
              </a:tblGrid>
              <a:tr h="658368">
                <a:tc>
                  <a:txBody>
                    <a:bodyPr/>
                    <a:lstStyle/>
                    <a:p>
                      <a:pPr marL="0" indent="0" algn="l">
                        <a:buNone/>
                      </a:pPr>
                      <a:endParaRPr lang="en-US" sz="15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rPr>
                        <a:t>ART 1</a:t>
                      </a:r>
                      <a:endParaRPr lang="en-US" sz="15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accent1"/>
                    </a:solidFill>
                  </a:tcPr>
                </a:tc>
                <a:tc>
                  <a:txBody>
                    <a:bodyPr/>
                    <a:lstStyle/>
                    <a:p>
                      <a:pPr marL="0" indent="0" algn="ctr">
                        <a:buNone/>
                      </a:pPr>
                      <a:r>
                        <a:rPr lang="en-US" sz="1500" b="1" dirty="0">
                          <a:solidFill>
                            <a:schemeClr val="bg1"/>
                          </a:solidFill>
                        </a:rPr>
                        <a:t>Perceptrón multicapa</a:t>
                      </a:r>
                      <a:endParaRPr lang="en-US" sz="15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rPr>
                        <a:t>Kohonen (SOM)</a:t>
                      </a:r>
                      <a:endParaRPr lang="en-US" sz="15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tc>
                  <a:txBody>
                    <a:bodyPr/>
                    <a:lstStyle/>
                    <a:p>
                      <a:pPr marL="0" indent="0" algn="ctr">
                        <a:buNone/>
                      </a:pPr>
                      <a:r>
                        <a:rPr lang="en-US" sz="1500" b="1" dirty="0">
                          <a:solidFill>
                            <a:schemeClr val="bg1"/>
                          </a:solidFill>
                        </a:rPr>
                        <a:t>Hopfield</a:t>
                      </a:r>
                      <a:endParaRPr lang="en-US" sz="15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658368">
                <a:tc>
                  <a:txBody>
                    <a:bodyPr/>
                    <a:lstStyle/>
                    <a:p>
                      <a:pPr marL="0" indent="0" algn="l">
                        <a:buNone/>
                      </a:pPr>
                      <a:r>
                        <a:rPr lang="en-US" sz="1400" b="1" dirty="0">
                          <a:solidFill>
                            <a:schemeClr val="tx1"/>
                          </a:solidFill>
                        </a:rPr>
                        <a:t>Aprendizaje</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No supervisado</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3F6F5"/>
                    </a:solidFill>
                  </a:tcPr>
                </a:tc>
                <a:tc>
                  <a:txBody>
                    <a:bodyPr/>
                    <a:lstStyle/>
                    <a:p>
                      <a:pPr marL="0" indent="0" algn="ctr">
                        <a:buNone/>
                      </a:pPr>
                      <a:r>
                        <a:rPr lang="en-US" sz="1400" dirty="0">
                          <a:solidFill>
                            <a:schemeClr val="tx1"/>
                          </a:solidFill>
                        </a:rPr>
                        <a:t>Supervisado (backpropagation)</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No supervisado</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Memoria asociativa (Hebb)</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658368">
                <a:tc>
                  <a:txBody>
                    <a:bodyPr/>
                    <a:lstStyle/>
                    <a:p>
                      <a:pPr marL="0" indent="0" algn="l">
                        <a:buNone/>
                      </a:pPr>
                      <a:r>
                        <a:rPr lang="en-US" sz="1400" b="1" dirty="0">
                          <a:solidFill>
                            <a:schemeClr val="tx1"/>
                          </a:solidFill>
                        </a:rPr>
                        <a:t>Entradas</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Binarias</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3F6F5"/>
                    </a:solidFill>
                  </a:tcPr>
                </a:tc>
                <a:tc>
                  <a:txBody>
                    <a:bodyPr/>
                    <a:lstStyle/>
                    <a:p>
                      <a:pPr marL="0" indent="0" algn="ctr">
                        <a:buNone/>
                      </a:pPr>
                      <a:r>
                        <a:rPr lang="en-US" sz="1400" dirty="0">
                          <a:solidFill>
                            <a:schemeClr val="tx1"/>
                          </a:solidFill>
                        </a:rPr>
                        <a:t>Continuas</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Continuas</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Binarias o bipolares</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658368">
                <a:tc>
                  <a:txBody>
                    <a:bodyPr/>
                    <a:lstStyle/>
                    <a:p>
                      <a:pPr marL="0" indent="0" algn="l">
                        <a:buNone/>
                      </a:pPr>
                      <a:r>
                        <a:rPr lang="en-US" sz="1400" b="1" dirty="0">
                          <a:solidFill>
                            <a:schemeClr val="tx1"/>
                          </a:solidFill>
                        </a:rPr>
                        <a:t>Cantidad de grupos</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Crece según ρ</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3F6F5"/>
                    </a:solidFill>
                  </a:tcPr>
                </a:tc>
                <a:tc>
                  <a:txBody>
                    <a:bodyPr/>
                    <a:lstStyle/>
                    <a:p>
                      <a:pPr marL="0" indent="0" algn="ctr">
                        <a:buNone/>
                      </a:pPr>
                      <a:r>
                        <a:rPr lang="en-US" sz="1400" dirty="0">
                          <a:solidFill>
                            <a:schemeClr val="tx1"/>
                          </a:solidFill>
                        </a:rPr>
                        <a:t>Fija por la arquitectura</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Fija (grilla)</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 0,14 · N patrones</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658368">
                <a:tc>
                  <a:txBody>
                    <a:bodyPr/>
                    <a:lstStyle/>
                    <a:p>
                      <a:pPr marL="0" indent="0" algn="l">
                        <a:buNone/>
                      </a:pPr>
                      <a:r>
                        <a:rPr lang="en-US" sz="1400" b="1" dirty="0">
                          <a:solidFill>
                            <a:schemeClr val="tx1"/>
                          </a:solidFill>
                        </a:rPr>
                        <a:t>Datos nuevos</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Aprende sin olvidar</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3F6F5"/>
                    </a:solidFill>
                  </a:tcPr>
                </a:tc>
                <a:tc>
                  <a:txBody>
                    <a:bodyPr/>
                    <a:lstStyle/>
                    <a:p>
                      <a:pPr marL="0" indent="0" algn="ctr">
                        <a:buNone/>
                      </a:pPr>
                      <a:r>
                        <a:rPr lang="en-US" sz="1400" dirty="0">
                          <a:solidFill>
                            <a:schemeClr val="tx1"/>
                          </a:solidFill>
                        </a:rPr>
                        <a:t>Reentrenar; puede olvidar</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Reentrenar</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Se satura</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658368">
                <a:tc>
                  <a:txBody>
                    <a:bodyPr/>
                    <a:lstStyle/>
                    <a:p>
                      <a:pPr marL="0" indent="0" algn="l">
                        <a:buNone/>
                      </a:pPr>
                      <a:r>
                        <a:rPr lang="en-US" sz="1400" b="1" dirty="0">
                          <a:solidFill>
                            <a:schemeClr val="tx1"/>
                          </a:solidFill>
                        </a:rPr>
                        <a:t>Salida</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b="1" dirty="0">
                          <a:solidFill>
                            <a:schemeClr val="tx2"/>
                          </a:solidFill>
                        </a:rPr>
                        <a:t>Nodo (prototipo)</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E3F6F5"/>
                    </a:solidFill>
                  </a:tcPr>
                </a:tc>
                <a:tc>
                  <a:txBody>
                    <a:bodyPr/>
                    <a:lstStyle/>
                    <a:p>
                      <a:pPr marL="0" indent="0" algn="ctr">
                        <a:buNone/>
                      </a:pPr>
                      <a:r>
                        <a:rPr lang="en-US" sz="1400" dirty="0">
                          <a:solidFill>
                            <a:schemeClr val="tx1"/>
                          </a:solidFill>
                        </a:rPr>
                        <a:t>Valor o clase</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Neurona ganadora en el mapa</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tc>
                  <a:txBody>
                    <a:bodyPr/>
                    <a:lstStyle/>
                    <a:p>
                      <a:pPr marL="0" indent="0" algn="ctr">
                        <a:buNone/>
                      </a:pPr>
                      <a:r>
                        <a:rPr lang="en-US" sz="1400" dirty="0">
                          <a:solidFill>
                            <a:schemeClr val="tx1"/>
                          </a:solidFill>
                        </a:rPr>
                        <a:t>Patrón recuperado</a:t>
                      </a:r>
                      <a:endParaRPr lang="en-US" sz="1400" dirty="0"/>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6" name="Text 2"/>
          <p:cNvSpPr txBox="1"/>
          <p:nvPr/>
        </p:nvSpPr>
        <p:spPr>
          <a:xfrm>
            <a:off x="548640" y="5760720"/>
            <a:ext cx="11064240" cy="365760"/>
          </a:xfrm>
          <a:prstGeom prst="rect">
            <a:avLst/>
          </a:prstGeom>
          <a:noFill/>
          <a:ln/>
        </p:spPr>
        <p:txBody>
          <a:bodyPr wrap="square" lIns="0" tIns="0" rIns="0" bIns="0" rtlCol="0" anchor="t"/>
          <a:lstStyle/>
          <a:p>
            <a:pPr marL="0" indent="0">
              <a:buNone/>
            </a:pPr>
            <a:r>
              <a:rPr lang="en-US" sz="1600" b="1" i="1" dirty="0">
                <a:solidFill>
                  <a:schemeClr val="accent1"/>
                </a:solidFill>
              </a:rPr>
              <a:t>ART 1 es la única que crea grupos a demanda y aprende sin olvidar. Su costo: solo entiende bits.</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Qué predice nuestro sistema</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2 · EL PROBLEMA</a:t>
            </a:r>
            <a:endParaRPr lang="en-US" sz="1200" dirty="0"/>
          </a:p>
        </p:txBody>
      </p:sp>
      <p:sp>
        <p:nvSpPr>
          <p:cNvPr id="5" name="Text 2"/>
          <p:cNvSpPr txBox="1"/>
          <p:nvPr/>
        </p:nvSpPr>
        <p:spPr>
          <a:xfrm>
            <a:off x="548640" y="1600200"/>
            <a:ext cx="3291840" cy="320040"/>
          </a:xfrm>
          <a:prstGeom prst="rect">
            <a:avLst/>
          </a:prstGeom>
          <a:noFill/>
          <a:ln/>
        </p:spPr>
        <p:txBody>
          <a:bodyPr wrap="square" lIns="0" tIns="0" rIns="0" bIns="0" rtlCol="0" anchor="t"/>
          <a:lstStyle/>
          <a:p>
            <a:pPr marL="0" indent="0">
              <a:buNone/>
            </a:pPr>
            <a:r>
              <a:rPr lang="en-US" sz="1400" b="1" dirty="0">
                <a:solidFill>
                  <a:srgbClr val="64748B"/>
                </a:solidFill>
              </a:rPr>
              <a:t>5 hábitos y antecedentes</a:t>
            </a:r>
            <a:endParaRPr lang="en-US" sz="1400" dirty="0"/>
          </a:p>
        </p:txBody>
      </p:sp>
      <p:sp>
        <p:nvSpPr>
          <p:cNvPr id="6" name="Shape 3"/>
          <p:cNvSpPr/>
          <p:nvPr/>
        </p:nvSpPr>
        <p:spPr>
          <a:xfrm>
            <a:off x="548640" y="2011680"/>
            <a:ext cx="3291840" cy="566928"/>
          </a:xfrm>
          <a:prstGeom prst="roundRect">
            <a:avLst>
              <a:gd name="adj" fmla="val 19355"/>
            </a:avLst>
          </a:prstGeom>
          <a:solidFill>
            <a:schemeClr val="bg2"/>
          </a:solidFill>
          <a:ln/>
        </p:spPr>
        <p:txBody>
          <a:bodyPr/>
          <a:lstStyle/>
          <a:p>
            <a:endParaRPr lang="es-AR"/>
          </a:p>
        </p:txBody>
      </p:sp>
      <p:sp>
        <p:nvSpPr>
          <p:cNvPr id="7" name="Shape 4"/>
          <p:cNvSpPr/>
          <p:nvPr/>
        </p:nvSpPr>
        <p:spPr>
          <a:xfrm>
            <a:off x="658368" y="2093976"/>
            <a:ext cx="402336" cy="402336"/>
          </a:xfrm>
          <a:prstGeom prst="ellipse">
            <a:avLst/>
          </a:prstGeom>
          <a:solidFill>
            <a:schemeClr val="accent1"/>
          </a:solidFill>
          <a:ln/>
        </p:spPr>
        <p:txBody>
          <a:bodyPr/>
          <a:lstStyle/>
          <a:p>
            <a:endParaRPr lang="es-AR"/>
          </a:p>
        </p:txBody>
      </p:sp>
      <p:pic>
        <p:nvPicPr>
          <p:cNvPr id="8" name="Image 0" descr="preencoded.png"/>
          <p:cNvPicPr>
            <a:picLocks noChangeAspect="1"/>
          </p:cNvPicPr>
          <p:nvPr/>
        </p:nvPicPr>
        <p:blipFill>
          <a:blip r:embed="rId3"/>
          <a:stretch>
            <a:fillRect/>
          </a:stretch>
        </p:blipFill>
        <p:spPr>
          <a:xfrm>
            <a:off x="762975" y="2198583"/>
            <a:ext cx="193121" cy="193121"/>
          </a:xfrm>
          <a:prstGeom prst="rect">
            <a:avLst/>
          </a:prstGeom>
        </p:spPr>
      </p:pic>
      <p:sp>
        <p:nvSpPr>
          <p:cNvPr id="9" name="Text 5"/>
          <p:cNvSpPr txBox="1"/>
          <p:nvPr/>
        </p:nvSpPr>
        <p:spPr>
          <a:xfrm>
            <a:off x="1188720" y="2011680"/>
            <a:ext cx="2560320" cy="566928"/>
          </a:xfrm>
          <a:prstGeom prst="rect">
            <a:avLst/>
          </a:prstGeom>
          <a:noFill/>
          <a:ln/>
        </p:spPr>
        <p:txBody>
          <a:bodyPr wrap="square" lIns="0" tIns="0" rIns="0" bIns="0" rtlCol="0" anchor="ctr"/>
          <a:lstStyle/>
          <a:p>
            <a:pPr marL="0" indent="0">
              <a:buNone/>
            </a:pPr>
            <a:r>
              <a:rPr lang="en-US" sz="1500" b="1" dirty="0">
                <a:solidFill>
                  <a:schemeClr val="tx2"/>
                </a:solidFill>
              </a:rPr>
              <a:t>Horas de estudio</a:t>
            </a:r>
            <a:endParaRPr lang="en-US" sz="1500" dirty="0"/>
          </a:p>
        </p:txBody>
      </p:sp>
      <p:sp>
        <p:nvSpPr>
          <p:cNvPr id="10" name="Shape 6"/>
          <p:cNvSpPr/>
          <p:nvPr/>
        </p:nvSpPr>
        <p:spPr>
          <a:xfrm>
            <a:off x="548640" y="2724912"/>
            <a:ext cx="3291840" cy="566928"/>
          </a:xfrm>
          <a:prstGeom prst="roundRect">
            <a:avLst>
              <a:gd name="adj" fmla="val 19355"/>
            </a:avLst>
          </a:prstGeom>
          <a:solidFill>
            <a:schemeClr val="bg2"/>
          </a:solidFill>
          <a:ln/>
        </p:spPr>
        <p:txBody>
          <a:bodyPr/>
          <a:lstStyle/>
          <a:p>
            <a:endParaRPr lang="es-AR"/>
          </a:p>
        </p:txBody>
      </p:sp>
      <p:sp>
        <p:nvSpPr>
          <p:cNvPr id="11" name="Shape 7"/>
          <p:cNvSpPr/>
          <p:nvPr/>
        </p:nvSpPr>
        <p:spPr>
          <a:xfrm>
            <a:off x="658368" y="2807208"/>
            <a:ext cx="402336" cy="402336"/>
          </a:xfrm>
          <a:prstGeom prst="ellipse">
            <a:avLst/>
          </a:prstGeom>
          <a:solidFill>
            <a:schemeClr val="accent1"/>
          </a:solidFill>
          <a:ln/>
        </p:spPr>
        <p:txBody>
          <a:bodyPr/>
          <a:lstStyle/>
          <a:p>
            <a:endParaRPr lang="es-AR"/>
          </a:p>
        </p:txBody>
      </p:sp>
      <p:pic>
        <p:nvPicPr>
          <p:cNvPr id="12" name="Image 1" descr="preencoded.png"/>
          <p:cNvPicPr>
            <a:picLocks noChangeAspect="1"/>
          </p:cNvPicPr>
          <p:nvPr/>
        </p:nvPicPr>
        <p:blipFill>
          <a:blip r:embed="rId4"/>
          <a:stretch>
            <a:fillRect/>
          </a:stretch>
        </p:blipFill>
        <p:spPr>
          <a:xfrm>
            <a:off x="762975" y="2911815"/>
            <a:ext cx="193121" cy="193121"/>
          </a:xfrm>
          <a:prstGeom prst="rect">
            <a:avLst/>
          </a:prstGeom>
        </p:spPr>
      </p:pic>
      <p:sp>
        <p:nvSpPr>
          <p:cNvPr id="13" name="Text 8"/>
          <p:cNvSpPr txBox="1"/>
          <p:nvPr/>
        </p:nvSpPr>
        <p:spPr>
          <a:xfrm>
            <a:off x="1188720" y="2724912"/>
            <a:ext cx="2560320" cy="566928"/>
          </a:xfrm>
          <a:prstGeom prst="rect">
            <a:avLst/>
          </a:prstGeom>
          <a:noFill/>
          <a:ln/>
        </p:spPr>
        <p:txBody>
          <a:bodyPr wrap="square" lIns="0" tIns="0" rIns="0" bIns="0" rtlCol="0" anchor="ctr"/>
          <a:lstStyle/>
          <a:p>
            <a:pPr marL="0" indent="0">
              <a:buNone/>
            </a:pPr>
            <a:r>
              <a:rPr lang="en-US" sz="1500" b="1" dirty="0">
                <a:solidFill>
                  <a:schemeClr val="tx2"/>
                </a:solidFill>
              </a:rPr>
              <a:t>Asistencia</a:t>
            </a:r>
            <a:endParaRPr lang="en-US" sz="1500" dirty="0"/>
          </a:p>
        </p:txBody>
      </p:sp>
      <p:sp>
        <p:nvSpPr>
          <p:cNvPr id="14" name="Shape 9"/>
          <p:cNvSpPr/>
          <p:nvPr/>
        </p:nvSpPr>
        <p:spPr>
          <a:xfrm>
            <a:off x="548640" y="3438144"/>
            <a:ext cx="3291840" cy="566928"/>
          </a:xfrm>
          <a:prstGeom prst="roundRect">
            <a:avLst>
              <a:gd name="adj" fmla="val 19355"/>
            </a:avLst>
          </a:prstGeom>
          <a:solidFill>
            <a:schemeClr val="bg2"/>
          </a:solidFill>
          <a:ln/>
        </p:spPr>
        <p:txBody>
          <a:bodyPr/>
          <a:lstStyle/>
          <a:p>
            <a:endParaRPr lang="es-AR"/>
          </a:p>
        </p:txBody>
      </p:sp>
      <p:sp>
        <p:nvSpPr>
          <p:cNvPr id="15" name="Shape 10"/>
          <p:cNvSpPr/>
          <p:nvPr/>
        </p:nvSpPr>
        <p:spPr>
          <a:xfrm>
            <a:off x="658368" y="3520440"/>
            <a:ext cx="402336" cy="402336"/>
          </a:xfrm>
          <a:prstGeom prst="ellipse">
            <a:avLst/>
          </a:prstGeom>
          <a:solidFill>
            <a:schemeClr val="accent1"/>
          </a:solidFill>
          <a:ln/>
        </p:spPr>
        <p:txBody>
          <a:bodyPr/>
          <a:lstStyle/>
          <a:p>
            <a:endParaRPr lang="es-AR"/>
          </a:p>
        </p:txBody>
      </p:sp>
      <p:pic>
        <p:nvPicPr>
          <p:cNvPr id="16" name="Image 2" descr="preencoded.png"/>
          <p:cNvPicPr>
            <a:picLocks noChangeAspect="1"/>
          </p:cNvPicPr>
          <p:nvPr/>
        </p:nvPicPr>
        <p:blipFill>
          <a:blip r:embed="rId5"/>
          <a:stretch>
            <a:fillRect/>
          </a:stretch>
        </p:blipFill>
        <p:spPr>
          <a:xfrm>
            <a:off x="762975" y="3625047"/>
            <a:ext cx="193121" cy="193121"/>
          </a:xfrm>
          <a:prstGeom prst="rect">
            <a:avLst/>
          </a:prstGeom>
        </p:spPr>
      </p:pic>
      <p:sp>
        <p:nvSpPr>
          <p:cNvPr id="17" name="Text 11"/>
          <p:cNvSpPr txBox="1"/>
          <p:nvPr/>
        </p:nvSpPr>
        <p:spPr>
          <a:xfrm>
            <a:off x="1188720" y="3438144"/>
            <a:ext cx="2560320" cy="566928"/>
          </a:xfrm>
          <a:prstGeom prst="rect">
            <a:avLst/>
          </a:prstGeom>
          <a:noFill/>
          <a:ln/>
        </p:spPr>
        <p:txBody>
          <a:bodyPr wrap="square" lIns="0" tIns="0" rIns="0" bIns="0" rtlCol="0" anchor="ctr"/>
          <a:lstStyle/>
          <a:p>
            <a:pPr marL="0" indent="0">
              <a:buNone/>
            </a:pPr>
            <a:r>
              <a:rPr lang="en-US" sz="1500" b="1" dirty="0">
                <a:solidFill>
                  <a:schemeClr val="tx2"/>
                </a:solidFill>
              </a:rPr>
              <a:t>Horas de internet</a:t>
            </a:r>
            <a:endParaRPr lang="en-US" sz="1500" dirty="0"/>
          </a:p>
        </p:txBody>
      </p:sp>
      <p:sp>
        <p:nvSpPr>
          <p:cNvPr id="18" name="Shape 12"/>
          <p:cNvSpPr/>
          <p:nvPr/>
        </p:nvSpPr>
        <p:spPr>
          <a:xfrm>
            <a:off x="548640" y="4151376"/>
            <a:ext cx="3291840" cy="566928"/>
          </a:xfrm>
          <a:prstGeom prst="roundRect">
            <a:avLst>
              <a:gd name="adj" fmla="val 19355"/>
            </a:avLst>
          </a:prstGeom>
          <a:solidFill>
            <a:schemeClr val="bg2"/>
          </a:solidFill>
          <a:ln/>
        </p:spPr>
        <p:txBody>
          <a:bodyPr/>
          <a:lstStyle/>
          <a:p>
            <a:endParaRPr lang="es-AR"/>
          </a:p>
        </p:txBody>
      </p:sp>
      <p:sp>
        <p:nvSpPr>
          <p:cNvPr id="19" name="Shape 13"/>
          <p:cNvSpPr/>
          <p:nvPr/>
        </p:nvSpPr>
        <p:spPr>
          <a:xfrm>
            <a:off x="658368" y="4233672"/>
            <a:ext cx="402336" cy="402336"/>
          </a:xfrm>
          <a:prstGeom prst="ellipse">
            <a:avLst/>
          </a:prstGeom>
          <a:solidFill>
            <a:schemeClr val="accent1"/>
          </a:solidFill>
          <a:ln/>
        </p:spPr>
        <p:txBody>
          <a:bodyPr/>
          <a:lstStyle/>
          <a:p>
            <a:endParaRPr lang="es-AR"/>
          </a:p>
        </p:txBody>
      </p:sp>
      <p:pic>
        <p:nvPicPr>
          <p:cNvPr id="20" name="Image 3" descr="preencoded.png"/>
          <p:cNvPicPr>
            <a:picLocks noChangeAspect="1"/>
          </p:cNvPicPr>
          <p:nvPr/>
        </p:nvPicPr>
        <p:blipFill>
          <a:blip r:embed="rId6"/>
          <a:stretch>
            <a:fillRect/>
          </a:stretch>
        </p:blipFill>
        <p:spPr>
          <a:xfrm>
            <a:off x="762975" y="4338279"/>
            <a:ext cx="193121" cy="193121"/>
          </a:xfrm>
          <a:prstGeom prst="rect">
            <a:avLst/>
          </a:prstGeom>
        </p:spPr>
      </p:pic>
      <p:sp>
        <p:nvSpPr>
          <p:cNvPr id="21" name="Text 14"/>
          <p:cNvSpPr txBox="1"/>
          <p:nvPr/>
        </p:nvSpPr>
        <p:spPr>
          <a:xfrm>
            <a:off x="1188720" y="4151376"/>
            <a:ext cx="2560320" cy="566928"/>
          </a:xfrm>
          <a:prstGeom prst="rect">
            <a:avLst/>
          </a:prstGeom>
          <a:noFill/>
          <a:ln/>
        </p:spPr>
        <p:txBody>
          <a:bodyPr wrap="square" lIns="0" tIns="0" rIns="0" bIns="0" rtlCol="0" anchor="ctr"/>
          <a:lstStyle/>
          <a:p>
            <a:pPr marL="0" indent="0">
              <a:buNone/>
            </a:pPr>
            <a:r>
              <a:rPr lang="en-US" sz="1500" b="1" dirty="0">
                <a:solidFill>
                  <a:schemeClr val="tx2"/>
                </a:solidFill>
              </a:rPr>
              <a:t>Tareas completadas</a:t>
            </a:r>
            <a:endParaRPr lang="en-US" sz="1500" dirty="0"/>
          </a:p>
        </p:txBody>
      </p:sp>
      <p:sp>
        <p:nvSpPr>
          <p:cNvPr id="22" name="Shape 15"/>
          <p:cNvSpPr/>
          <p:nvPr/>
        </p:nvSpPr>
        <p:spPr>
          <a:xfrm>
            <a:off x="548640" y="4864608"/>
            <a:ext cx="3291840" cy="566928"/>
          </a:xfrm>
          <a:prstGeom prst="roundRect">
            <a:avLst>
              <a:gd name="adj" fmla="val 19355"/>
            </a:avLst>
          </a:prstGeom>
          <a:solidFill>
            <a:schemeClr val="bg2"/>
          </a:solidFill>
          <a:ln/>
        </p:spPr>
        <p:txBody>
          <a:bodyPr/>
          <a:lstStyle/>
          <a:p>
            <a:endParaRPr lang="es-AR"/>
          </a:p>
        </p:txBody>
      </p:sp>
      <p:sp>
        <p:nvSpPr>
          <p:cNvPr id="23" name="Shape 16"/>
          <p:cNvSpPr/>
          <p:nvPr/>
        </p:nvSpPr>
        <p:spPr>
          <a:xfrm>
            <a:off x="658368" y="4946904"/>
            <a:ext cx="402336" cy="402336"/>
          </a:xfrm>
          <a:prstGeom prst="ellipse">
            <a:avLst/>
          </a:prstGeom>
          <a:solidFill>
            <a:schemeClr val="accent1"/>
          </a:solidFill>
          <a:ln/>
        </p:spPr>
        <p:txBody>
          <a:bodyPr/>
          <a:lstStyle/>
          <a:p>
            <a:endParaRPr lang="es-AR"/>
          </a:p>
        </p:txBody>
      </p:sp>
      <p:pic>
        <p:nvPicPr>
          <p:cNvPr id="24" name="Image 4" descr="preencoded.png"/>
          <p:cNvPicPr>
            <a:picLocks noChangeAspect="1"/>
          </p:cNvPicPr>
          <p:nvPr/>
        </p:nvPicPr>
        <p:blipFill>
          <a:blip r:embed="rId7"/>
          <a:stretch>
            <a:fillRect/>
          </a:stretch>
        </p:blipFill>
        <p:spPr>
          <a:xfrm>
            <a:off x="762975" y="5051511"/>
            <a:ext cx="193121" cy="193121"/>
          </a:xfrm>
          <a:prstGeom prst="rect">
            <a:avLst/>
          </a:prstGeom>
        </p:spPr>
      </p:pic>
      <p:sp>
        <p:nvSpPr>
          <p:cNvPr id="25" name="Text 17"/>
          <p:cNvSpPr txBox="1"/>
          <p:nvPr/>
        </p:nvSpPr>
        <p:spPr>
          <a:xfrm>
            <a:off x="1188720" y="4864608"/>
            <a:ext cx="2560320" cy="566928"/>
          </a:xfrm>
          <a:prstGeom prst="rect">
            <a:avLst/>
          </a:prstGeom>
          <a:noFill/>
          <a:ln/>
        </p:spPr>
        <p:txBody>
          <a:bodyPr wrap="square" lIns="0" tIns="0" rIns="0" bIns="0" rtlCol="0" anchor="ctr"/>
          <a:lstStyle/>
          <a:p>
            <a:pPr marL="0" indent="0">
              <a:buNone/>
            </a:pPr>
            <a:r>
              <a:rPr lang="en-US" sz="1500" b="1" dirty="0">
                <a:solidFill>
                  <a:schemeClr val="tx2"/>
                </a:solidFill>
              </a:rPr>
              <a:t>Nota previa</a:t>
            </a:r>
            <a:endParaRPr lang="en-US" sz="1500" dirty="0"/>
          </a:p>
        </p:txBody>
      </p:sp>
      <p:sp>
        <p:nvSpPr>
          <p:cNvPr id="26" name="Shape 18"/>
          <p:cNvSpPr/>
          <p:nvPr/>
        </p:nvSpPr>
        <p:spPr>
          <a:xfrm>
            <a:off x="4023360" y="3657600"/>
            <a:ext cx="548640" cy="914"/>
          </a:xfrm>
          <a:prstGeom prst="line">
            <a:avLst/>
          </a:prstGeom>
          <a:noFill/>
          <a:ln w="31750">
            <a:solidFill>
              <a:srgbClr val="0EA5A4"/>
            </a:solidFill>
            <a:prstDash val="solid"/>
            <a:tailEnd type="triangle"/>
          </a:ln>
        </p:spPr>
        <p:txBody>
          <a:bodyPr/>
          <a:lstStyle/>
          <a:p>
            <a:endParaRPr lang="es-AR"/>
          </a:p>
        </p:txBody>
      </p:sp>
      <p:sp>
        <p:nvSpPr>
          <p:cNvPr id="27" name="Shape 19"/>
          <p:cNvSpPr/>
          <p:nvPr/>
        </p:nvSpPr>
        <p:spPr>
          <a:xfrm>
            <a:off x="4709160" y="2514600"/>
            <a:ext cx="2286000" cy="2286000"/>
          </a:xfrm>
          <a:prstGeom prst="roundRect">
            <a:avLst>
              <a:gd name="adj" fmla="val 6000"/>
            </a:avLst>
          </a:prstGeom>
          <a:solidFill>
            <a:schemeClr val="tx2"/>
          </a:solidFill>
          <a:ln/>
        </p:spPr>
        <p:txBody>
          <a:bodyPr/>
          <a:lstStyle/>
          <a:p>
            <a:endParaRPr lang="es-AR"/>
          </a:p>
        </p:txBody>
      </p:sp>
      <p:sp>
        <p:nvSpPr>
          <p:cNvPr id="28" name="Text 20"/>
          <p:cNvSpPr txBox="1"/>
          <p:nvPr/>
        </p:nvSpPr>
        <p:spPr>
          <a:xfrm>
            <a:off x="4846320" y="2697480"/>
            <a:ext cx="2011680" cy="1920240"/>
          </a:xfrm>
          <a:prstGeom prst="rect">
            <a:avLst/>
          </a:prstGeom>
          <a:noFill/>
          <a:ln/>
        </p:spPr>
        <p:txBody>
          <a:bodyPr wrap="square" lIns="0" tIns="0" rIns="0" bIns="0" rtlCol="0" anchor="ctr"/>
          <a:lstStyle/>
          <a:p>
            <a:pPr marL="0" indent="0" algn="ctr">
              <a:buNone/>
            </a:pPr>
            <a:r>
              <a:rPr lang="en-US" sz="2200" b="1" dirty="0">
                <a:solidFill>
                  <a:schemeClr val="bg1"/>
                </a:solidFill>
              </a:rPr>
              <a:t>EM + ART 1</a:t>
            </a:r>
            <a:endParaRPr lang="en-US" sz="1500" dirty="0"/>
          </a:p>
          <a:p>
            <a:pPr marL="0" indent="0" algn="ctr">
              <a:buNone/>
            </a:pPr>
            <a:r>
              <a:rPr lang="en-US" sz="1300" dirty="0">
                <a:solidFill>
                  <a:srgbClr val="CBD5E1"/>
                </a:solidFill>
              </a:rPr>
              <a:t>predictor híbrido no supervisado</a:t>
            </a:r>
            <a:endParaRPr lang="en-US" sz="1500" dirty="0"/>
          </a:p>
        </p:txBody>
      </p:sp>
      <p:sp>
        <p:nvSpPr>
          <p:cNvPr id="29" name="Shape 21"/>
          <p:cNvSpPr/>
          <p:nvPr/>
        </p:nvSpPr>
        <p:spPr>
          <a:xfrm>
            <a:off x="7178040" y="3657600"/>
            <a:ext cx="548640" cy="914"/>
          </a:xfrm>
          <a:prstGeom prst="line">
            <a:avLst/>
          </a:prstGeom>
          <a:noFill/>
          <a:ln w="31750">
            <a:solidFill>
              <a:srgbClr val="0EA5A4"/>
            </a:solidFill>
            <a:prstDash val="solid"/>
            <a:tailEnd type="triangle"/>
          </a:ln>
        </p:spPr>
        <p:txBody>
          <a:bodyPr/>
          <a:lstStyle/>
          <a:p>
            <a:endParaRPr lang="es-AR"/>
          </a:p>
        </p:txBody>
      </p:sp>
      <p:sp>
        <p:nvSpPr>
          <p:cNvPr id="30" name="Text 22"/>
          <p:cNvSpPr txBox="1"/>
          <p:nvPr/>
        </p:nvSpPr>
        <p:spPr>
          <a:xfrm>
            <a:off x="7909560" y="1600200"/>
            <a:ext cx="3657600" cy="320040"/>
          </a:xfrm>
          <a:prstGeom prst="rect">
            <a:avLst/>
          </a:prstGeom>
          <a:noFill/>
          <a:ln/>
        </p:spPr>
        <p:txBody>
          <a:bodyPr wrap="square" lIns="0" tIns="0" rIns="0" bIns="0" rtlCol="0" anchor="t"/>
          <a:lstStyle/>
          <a:p>
            <a:pPr marL="0" indent="0">
              <a:buNone/>
            </a:pPr>
            <a:r>
              <a:rPr lang="en-US" sz="1400" b="1" dirty="0">
                <a:solidFill>
                  <a:srgbClr val="64748B"/>
                </a:solidFill>
              </a:rPr>
              <a:t>Nota esperada</a:t>
            </a:r>
            <a:endParaRPr lang="en-US" sz="1400" dirty="0"/>
          </a:p>
        </p:txBody>
      </p:sp>
      <p:sp>
        <p:nvSpPr>
          <p:cNvPr id="31" name="Text 23"/>
          <p:cNvSpPr txBox="1"/>
          <p:nvPr/>
        </p:nvSpPr>
        <p:spPr>
          <a:xfrm>
            <a:off x="7909560" y="1920240"/>
            <a:ext cx="3657600" cy="731520"/>
          </a:xfrm>
          <a:prstGeom prst="rect">
            <a:avLst/>
          </a:prstGeom>
          <a:noFill/>
          <a:ln/>
        </p:spPr>
        <p:txBody>
          <a:bodyPr wrap="square" lIns="0" tIns="0" rIns="0" bIns="0" rtlCol="0" anchor="t"/>
          <a:lstStyle/>
          <a:p>
            <a:pPr marL="0" indent="0">
              <a:buNone/>
            </a:pPr>
            <a:r>
              <a:rPr lang="en-US" sz="4400" b="1" dirty="0">
                <a:solidFill>
                  <a:schemeClr val="tx2"/>
                </a:solidFill>
              </a:rPr>
              <a:t>7,33 / 10</a:t>
            </a:r>
            <a:endParaRPr lang="en-US" sz="4400" dirty="0"/>
          </a:p>
        </p:txBody>
      </p:sp>
      <p:sp>
        <p:nvSpPr>
          <p:cNvPr id="32" name="Text 24"/>
          <p:cNvSpPr txBox="1"/>
          <p:nvPr/>
        </p:nvSpPr>
        <p:spPr>
          <a:xfrm>
            <a:off x="7909560" y="2788920"/>
            <a:ext cx="3657600" cy="320040"/>
          </a:xfrm>
          <a:prstGeom prst="rect">
            <a:avLst/>
          </a:prstGeom>
          <a:noFill/>
          <a:ln/>
        </p:spPr>
        <p:txBody>
          <a:bodyPr wrap="square" lIns="0" tIns="0" rIns="0" bIns="0" rtlCol="0" anchor="t"/>
          <a:lstStyle/>
          <a:p>
            <a:pPr marL="0" indent="0">
              <a:buNone/>
            </a:pPr>
            <a:r>
              <a:rPr lang="en-US" sz="1400" b="1" dirty="0">
                <a:solidFill>
                  <a:srgbClr val="64748B"/>
                </a:solidFill>
              </a:rPr>
              <a:t>Categoría</a:t>
            </a:r>
            <a:endParaRPr lang="en-US" sz="1400" dirty="0"/>
          </a:p>
        </p:txBody>
      </p:sp>
      <p:sp>
        <p:nvSpPr>
          <p:cNvPr id="33" name="Shape 25"/>
          <p:cNvSpPr/>
          <p:nvPr/>
        </p:nvSpPr>
        <p:spPr>
          <a:xfrm>
            <a:off x="7909560" y="3154680"/>
            <a:ext cx="3749040" cy="402336"/>
          </a:xfrm>
          <a:prstGeom prst="roundRect">
            <a:avLst>
              <a:gd name="adj" fmla="val 18182"/>
            </a:avLst>
          </a:prstGeom>
          <a:solidFill>
            <a:schemeClr val="accent4"/>
          </a:solidFill>
          <a:ln/>
        </p:spPr>
        <p:txBody>
          <a:bodyPr/>
          <a:lstStyle/>
          <a:p>
            <a:endParaRPr lang="es-AR"/>
          </a:p>
        </p:txBody>
      </p:sp>
      <p:sp>
        <p:nvSpPr>
          <p:cNvPr id="34" name="Text 26"/>
          <p:cNvSpPr txBox="1"/>
          <p:nvPr/>
        </p:nvSpPr>
        <p:spPr>
          <a:xfrm>
            <a:off x="8046720" y="3154680"/>
            <a:ext cx="2560320" cy="402336"/>
          </a:xfrm>
          <a:prstGeom prst="rect">
            <a:avLst/>
          </a:prstGeom>
          <a:noFill/>
          <a:ln/>
        </p:spPr>
        <p:txBody>
          <a:bodyPr wrap="square" lIns="0" tIns="0" rIns="0" bIns="0" rtlCol="0" anchor="ctr"/>
          <a:lstStyle/>
          <a:p>
            <a:pPr marL="0" indent="0">
              <a:buNone/>
            </a:pPr>
            <a:r>
              <a:rPr lang="en-US" sz="1500" b="1" dirty="0">
                <a:solidFill>
                  <a:schemeClr val="bg1"/>
                </a:solidFill>
              </a:rPr>
              <a:t>Desaprobado</a:t>
            </a:r>
            <a:endParaRPr lang="en-US" sz="1500" dirty="0"/>
          </a:p>
        </p:txBody>
      </p:sp>
      <p:sp>
        <p:nvSpPr>
          <p:cNvPr id="35" name="Text 27"/>
          <p:cNvSpPr txBox="1"/>
          <p:nvPr/>
        </p:nvSpPr>
        <p:spPr>
          <a:xfrm>
            <a:off x="10424160" y="3154680"/>
            <a:ext cx="1097280" cy="402336"/>
          </a:xfrm>
          <a:prstGeom prst="rect">
            <a:avLst/>
          </a:prstGeom>
          <a:noFill/>
          <a:ln/>
        </p:spPr>
        <p:txBody>
          <a:bodyPr wrap="square" lIns="0" tIns="0" rIns="0" bIns="0" rtlCol="0" anchor="ctr"/>
          <a:lstStyle/>
          <a:p>
            <a:pPr marL="0" indent="0" algn="r">
              <a:buNone/>
            </a:pPr>
            <a:r>
              <a:rPr lang="en-US" sz="1500" dirty="0">
                <a:solidFill>
                  <a:schemeClr val="bg1"/>
                </a:solidFill>
              </a:rPr>
              <a:t>&lt; 4</a:t>
            </a:r>
            <a:endParaRPr lang="en-US" sz="1500" dirty="0"/>
          </a:p>
        </p:txBody>
      </p:sp>
      <p:sp>
        <p:nvSpPr>
          <p:cNvPr id="36" name="Shape 28"/>
          <p:cNvSpPr/>
          <p:nvPr/>
        </p:nvSpPr>
        <p:spPr>
          <a:xfrm>
            <a:off x="7909560" y="3630168"/>
            <a:ext cx="3749040" cy="402336"/>
          </a:xfrm>
          <a:prstGeom prst="roundRect">
            <a:avLst>
              <a:gd name="adj" fmla="val 18182"/>
            </a:avLst>
          </a:prstGeom>
          <a:solidFill>
            <a:schemeClr val="accent2"/>
          </a:solidFill>
          <a:ln/>
        </p:spPr>
        <p:txBody>
          <a:bodyPr/>
          <a:lstStyle/>
          <a:p>
            <a:endParaRPr lang="es-AR"/>
          </a:p>
        </p:txBody>
      </p:sp>
      <p:sp>
        <p:nvSpPr>
          <p:cNvPr id="37" name="Text 29"/>
          <p:cNvSpPr txBox="1"/>
          <p:nvPr/>
        </p:nvSpPr>
        <p:spPr>
          <a:xfrm>
            <a:off x="8046720" y="3630168"/>
            <a:ext cx="2560320" cy="402336"/>
          </a:xfrm>
          <a:prstGeom prst="rect">
            <a:avLst/>
          </a:prstGeom>
          <a:noFill/>
          <a:ln/>
        </p:spPr>
        <p:txBody>
          <a:bodyPr wrap="square" lIns="0" tIns="0" rIns="0" bIns="0" rtlCol="0" anchor="ctr"/>
          <a:lstStyle/>
          <a:p>
            <a:pPr marL="0" indent="0">
              <a:buNone/>
            </a:pPr>
            <a:r>
              <a:rPr lang="en-US" sz="1500" b="1" dirty="0">
                <a:solidFill>
                  <a:schemeClr val="bg1"/>
                </a:solidFill>
              </a:rPr>
              <a:t>Recuperatorio</a:t>
            </a:r>
            <a:endParaRPr lang="en-US" sz="1500" dirty="0"/>
          </a:p>
        </p:txBody>
      </p:sp>
      <p:sp>
        <p:nvSpPr>
          <p:cNvPr id="38" name="Text 30"/>
          <p:cNvSpPr txBox="1"/>
          <p:nvPr/>
        </p:nvSpPr>
        <p:spPr>
          <a:xfrm>
            <a:off x="10424160" y="3630168"/>
            <a:ext cx="1097280" cy="402336"/>
          </a:xfrm>
          <a:prstGeom prst="rect">
            <a:avLst/>
          </a:prstGeom>
          <a:noFill/>
          <a:ln/>
        </p:spPr>
        <p:txBody>
          <a:bodyPr wrap="square" lIns="0" tIns="0" rIns="0" bIns="0" rtlCol="0" anchor="ctr"/>
          <a:lstStyle/>
          <a:p>
            <a:pPr marL="0" indent="0" algn="r">
              <a:buNone/>
            </a:pPr>
            <a:r>
              <a:rPr lang="en-US" sz="1500" dirty="0">
                <a:solidFill>
                  <a:schemeClr val="bg1"/>
                </a:solidFill>
              </a:rPr>
              <a:t>4 a 6</a:t>
            </a:r>
            <a:endParaRPr lang="en-US" sz="1500" dirty="0"/>
          </a:p>
        </p:txBody>
      </p:sp>
      <p:sp>
        <p:nvSpPr>
          <p:cNvPr id="39" name="Shape 31"/>
          <p:cNvSpPr/>
          <p:nvPr/>
        </p:nvSpPr>
        <p:spPr>
          <a:xfrm>
            <a:off x="7909560" y="4105656"/>
            <a:ext cx="3749040" cy="402336"/>
          </a:xfrm>
          <a:prstGeom prst="roundRect">
            <a:avLst>
              <a:gd name="adj" fmla="val 18182"/>
            </a:avLst>
          </a:prstGeom>
          <a:solidFill>
            <a:schemeClr val="accent6"/>
          </a:solidFill>
          <a:ln/>
        </p:spPr>
        <p:txBody>
          <a:bodyPr/>
          <a:lstStyle/>
          <a:p>
            <a:endParaRPr lang="es-AR"/>
          </a:p>
        </p:txBody>
      </p:sp>
      <p:sp>
        <p:nvSpPr>
          <p:cNvPr id="40" name="Text 32"/>
          <p:cNvSpPr txBox="1"/>
          <p:nvPr/>
        </p:nvSpPr>
        <p:spPr>
          <a:xfrm>
            <a:off x="8046720" y="4105656"/>
            <a:ext cx="2560320" cy="402336"/>
          </a:xfrm>
          <a:prstGeom prst="rect">
            <a:avLst/>
          </a:prstGeom>
          <a:noFill/>
          <a:ln/>
        </p:spPr>
        <p:txBody>
          <a:bodyPr wrap="square" lIns="0" tIns="0" rIns="0" bIns="0" rtlCol="0" anchor="ctr"/>
          <a:lstStyle/>
          <a:p>
            <a:pPr marL="0" indent="0">
              <a:buNone/>
            </a:pPr>
            <a:r>
              <a:rPr lang="en-US" sz="1500" b="1" dirty="0">
                <a:solidFill>
                  <a:schemeClr val="bg1"/>
                </a:solidFill>
              </a:rPr>
              <a:t>Aprobado Regular</a:t>
            </a:r>
            <a:endParaRPr lang="en-US" sz="1500" dirty="0"/>
          </a:p>
        </p:txBody>
      </p:sp>
      <p:sp>
        <p:nvSpPr>
          <p:cNvPr id="41" name="Text 33"/>
          <p:cNvSpPr txBox="1"/>
          <p:nvPr/>
        </p:nvSpPr>
        <p:spPr>
          <a:xfrm>
            <a:off x="10424160" y="4105656"/>
            <a:ext cx="1097280" cy="402336"/>
          </a:xfrm>
          <a:prstGeom prst="rect">
            <a:avLst/>
          </a:prstGeom>
          <a:noFill/>
          <a:ln/>
        </p:spPr>
        <p:txBody>
          <a:bodyPr wrap="square" lIns="0" tIns="0" rIns="0" bIns="0" rtlCol="0" anchor="ctr"/>
          <a:lstStyle/>
          <a:p>
            <a:pPr marL="0" indent="0" algn="r">
              <a:buNone/>
            </a:pPr>
            <a:r>
              <a:rPr lang="en-US" sz="1500" dirty="0">
                <a:solidFill>
                  <a:schemeClr val="bg1"/>
                </a:solidFill>
              </a:rPr>
              <a:t>6 a 8</a:t>
            </a:r>
            <a:endParaRPr lang="en-US" sz="1500" dirty="0"/>
          </a:p>
        </p:txBody>
      </p:sp>
      <p:sp>
        <p:nvSpPr>
          <p:cNvPr id="42" name="Shape 34"/>
          <p:cNvSpPr/>
          <p:nvPr/>
        </p:nvSpPr>
        <p:spPr>
          <a:xfrm>
            <a:off x="7909560" y="4581144"/>
            <a:ext cx="3749040" cy="402336"/>
          </a:xfrm>
          <a:prstGeom prst="roundRect">
            <a:avLst>
              <a:gd name="adj" fmla="val 18182"/>
            </a:avLst>
          </a:prstGeom>
          <a:solidFill>
            <a:schemeClr val="accent5"/>
          </a:solidFill>
          <a:ln/>
        </p:spPr>
        <p:txBody>
          <a:bodyPr/>
          <a:lstStyle/>
          <a:p>
            <a:endParaRPr lang="es-AR"/>
          </a:p>
        </p:txBody>
      </p:sp>
      <p:sp>
        <p:nvSpPr>
          <p:cNvPr id="43" name="Text 35"/>
          <p:cNvSpPr txBox="1"/>
          <p:nvPr/>
        </p:nvSpPr>
        <p:spPr>
          <a:xfrm>
            <a:off x="8046720" y="4581144"/>
            <a:ext cx="2560320" cy="402336"/>
          </a:xfrm>
          <a:prstGeom prst="rect">
            <a:avLst/>
          </a:prstGeom>
          <a:noFill/>
          <a:ln/>
        </p:spPr>
        <p:txBody>
          <a:bodyPr wrap="square" lIns="0" tIns="0" rIns="0" bIns="0" rtlCol="0" anchor="ctr"/>
          <a:lstStyle/>
          <a:p>
            <a:pPr marL="0" indent="0">
              <a:buNone/>
            </a:pPr>
            <a:r>
              <a:rPr lang="en-US" sz="1500" b="1" dirty="0">
                <a:solidFill>
                  <a:schemeClr val="bg1"/>
                </a:solidFill>
              </a:rPr>
              <a:t>Promoción</a:t>
            </a:r>
            <a:endParaRPr lang="en-US" sz="1500" dirty="0"/>
          </a:p>
        </p:txBody>
      </p:sp>
      <p:sp>
        <p:nvSpPr>
          <p:cNvPr id="44" name="Text 36"/>
          <p:cNvSpPr txBox="1"/>
          <p:nvPr/>
        </p:nvSpPr>
        <p:spPr>
          <a:xfrm>
            <a:off x="10424160" y="4581144"/>
            <a:ext cx="1097280" cy="402336"/>
          </a:xfrm>
          <a:prstGeom prst="rect">
            <a:avLst/>
          </a:prstGeom>
          <a:noFill/>
          <a:ln/>
        </p:spPr>
        <p:txBody>
          <a:bodyPr wrap="square" lIns="0" tIns="0" rIns="0" bIns="0" rtlCol="0" anchor="ctr"/>
          <a:lstStyle/>
          <a:p>
            <a:pPr marL="0" indent="0" algn="r">
              <a:buNone/>
            </a:pPr>
            <a:r>
              <a:rPr lang="en-US" sz="1500" dirty="0">
                <a:solidFill>
                  <a:schemeClr val="bg1"/>
                </a:solidFill>
              </a:rPr>
              <a:t>&gt; 8</a:t>
            </a:r>
            <a:endParaRPr lang="en-US" sz="1500" dirty="0"/>
          </a:p>
        </p:txBody>
      </p:sp>
      <p:sp>
        <p:nvSpPr>
          <p:cNvPr id="45" name="Shape 37"/>
          <p:cNvSpPr/>
          <p:nvPr/>
        </p:nvSpPr>
        <p:spPr>
          <a:xfrm>
            <a:off x="548640" y="5715000"/>
            <a:ext cx="11109960" cy="502920"/>
          </a:xfrm>
          <a:prstGeom prst="roundRect">
            <a:avLst>
              <a:gd name="adj" fmla="val 21818"/>
            </a:avLst>
          </a:prstGeom>
          <a:solidFill>
            <a:srgbClr val="FFF7E6"/>
          </a:solidFill>
          <a:ln/>
        </p:spPr>
        <p:txBody>
          <a:bodyPr/>
          <a:lstStyle/>
          <a:p>
            <a:endParaRPr lang="es-AR"/>
          </a:p>
        </p:txBody>
      </p:sp>
      <p:sp>
        <p:nvSpPr>
          <p:cNvPr id="46" name="Text 38"/>
          <p:cNvSpPr txBox="1"/>
          <p:nvPr/>
        </p:nvSpPr>
        <p:spPr>
          <a:xfrm>
            <a:off x="731520" y="5715000"/>
            <a:ext cx="10789920" cy="502920"/>
          </a:xfrm>
          <a:prstGeom prst="rect">
            <a:avLst/>
          </a:prstGeom>
          <a:noFill/>
          <a:ln/>
        </p:spPr>
        <p:txBody>
          <a:bodyPr wrap="square" lIns="0" tIns="0" rIns="0" bIns="0" rtlCol="0" anchor="ctr"/>
          <a:lstStyle/>
          <a:p>
            <a:pPr marL="0" indent="0">
              <a:buNone/>
            </a:pPr>
            <a:r>
              <a:rPr lang="en-US" sz="1400" b="1" dirty="0">
                <a:solidFill>
                  <a:srgbClr val="B45309"/>
                </a:solidFill>
              </a:rPr>
              <a:t>Alcance: </a:t>
            </a:r>
            <a:r>
              <a:rPr lang="en-US" sz="1400" dirty="0">
                <a:solidFill>
                  <a:schemeClr val="tx1"/>
                </a:solidFill>
              </a:rPr>
              <a:t>solo el desempeño del próximo examen. No predice deserción ni da recomendaciones pedagógicas. La nota real nunca entra a la red.</a:t>
            </a:r>
            <a:endParaRPr lang="en-US" sz="1400" dirty="0"/>
          </a:p>
        </p:txBody>
      </p:sp>
      <p:sp>
        <p:nvSpPr>
          <p:cNvPr id="4"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Dos datasets, la misma configuración</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2 · DATOS</a:t>
            </a:r>
            <a:endParaRPr lang="en-US" sz="1200" dirty="0"/>
          </a:p>
        </p:txBody>
      </p:sp>
      <p:sp>
        <p:nvSpPr>
          <p:cNvPr id="5" name="Shape 2"/>
          <p:cNvSpPr/>
          <p:nvPr/>
        </p:nvSpPr>
        <p:spPr>
          <a:xfrm>
            <a:off x="548640" y="1600200"/>
            <a:ext cx="5120640" cy="2148840"/>
          </a:xfrm>
          <a:prstGeom prst="roundRect">
            <a:avLst>
              <a:gd name="adj" fmla="val 5106"/>
            </a:avLst>
          </a:prstGeom>
          <a:solidFill>
            <a:srgbClr val="EAF1FE"/>
          </a:solidFill>
          <a:ln/>
        </p:spPr>
        <p:txBody>
          <a:bodyPr/>
          <a:lstStyle/>
          <a:p>
            <a:endParaRPr lang="es-AR"/>
          </a:p>
        </p:txBody>
      </p:sp>
      <p:sp>
        <p:nvSpPr>
          <p:cNvPr id="6" name="Text 3"/>
          <p:cNvSpPr txBox="1"/>
          <p:nvPr/>
        </p:nvSpPr>
        <p:spPr>
          <a:xfrm>
            <a:off x="777240" y="1737360"/>
            <a:ext cx="4754880" cy="365760"/>
          </a:xfrm>
          <a:prstGeom prst="rect">
            <a:avLst/>
          </a:prstGeom>
          <a:noFill/>
          <a:ln/>
        </p:spPr>
        <p:txBody>
          <a:bodyPr wrap="square" lIns="0" tIns="0" rIns="0" bIns="0" rtlCol="0" anchor="t"/>
          <a:lstStyle/>
          <a:p>
            <a:pPr marL="0" indent="0">
              <a:buNone/>
            </a:pPr>
            <a:r>
              <a:rPr lang="en-US" sz="1700" b="1" dirty="0">
                <a:solidFill>
                  <a:schemeClr val="accent6"/>
                </a:solidFill>
              </a:rPr>
              <a:t>Dataset 1 · simulado</a:t>
            </a:r>
            <a:endParaRPr lang="en-US" sz="1700" dirty="0"/>
          </a:p>
        </p:txBody>
      </p:sp>
      <p:sp>
        <p:nvSpPr>
          <p:cNvPr id="7" name="Text 4"/>
          <p:cNvSpPr txBox="1"/>
          <p:nvPr/>
        </p:nvSpPr>
        <p:spPr>
          <a:xfrm>
            <a:off x="777240" y="2103120"/>
            <a:ext cx="1737360" cy="640080"/>
          </a:xfrm>
          <a:prstGeom prst="rect">
            <a:avLst/>
          </a:prstGeom>
          <a:noFill/>
          <a:ln/>
        </p:spPr>
        <p:txBody>
          <a:bodyPr wrap="square" lIns="0" tIns="0" rIns="0" bIns="0" rtlCol="0" anchor="t"/>
          <a:lstStyle/>
          <a:p>
            <a:pPr marL="0" indent="0">
              <a:buNone/>
            </a:pPr>
            <a:r>
              <a:rPr lang="en-US" sz="3600" b="1" dirty="0">
                <a:solidFill>
                  <a:schemeClr val="tx2"/>
                </a:solidFill>
              </a:rPr>
              <a:t>10.000</a:t>
            </a:r>
            <a:endParaRPr lang="en-US" sz="3600" dirty="0"/>
          </a:p>
        </p:txBody>
      </p:sp>
      <p:sp>
        <p:nvSpPr>
          <p:cNvPr id="8" name="Text 5"/>
          <p:cNvSpPr txBox="1"/>
          <p:nvPr/>
        </p:nvSpPr>
        <p:spPr>
          <a:xfrm>
            <a:off x="777240" y="2743200"/>
            <a:ext cx="1737360" cy="822960"/>
          </a:xfrm>
          <a:prstGeom prst="rect">
            <a:avLst/>
          </a:prstGeom>
          <a:noFill/>
          <a:ln/>
        </p:spPr>
        <p:txBody>
          <a:bodyPr wrap="square" lIns="0" tIns="0" rIns="0" bIns="0" rtlCol="0" anchor="t"/>
          <a:lstStyle/>
          <a:p>
            <a:pPr marL="0" indent="0">
              <a:buNone/>
            </a:pPr>
            <a:r>
              <a:rPr lang="en-US" sz="1200" dirty="0">
                <a:solidFill>
                  <a:srgbClr val="64748B"/>
                </a:solidFill>
              </a:rPr>
              <a:t>alumnos (8.000 entrenan · 2.000 prueba)</a:t>
            </a:r>
            <a:endParaRPr lang="en-US" sz="1200" dirty="0"/>
          </a:p>
        </p:txBody>
      </p:sp>
      <p:sp>
        <p:nvSpPr>
          <p:cNvPr id="9" name="Text 6"/>
          <p:cNvSpPr txBox="1"/>
          <p:nvPr/>
        </p:nvSpPr>
        <p:spPr>
          <a:xfrm>
            <a:off x="2651760" y="2148840"/>
            <a:ext cx="2880360" cy="15087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Simulado por el equipo: 4 perfiles latentes (D-10)</a:t>
            </a:r>
            <a:endParaRPr lang="en-US" sz="1300" dirty="0"/>
          </a:p>
          <a:p>
            <a:pPr marL="342900" indent="-342900">
              <a:spcAft>
                <a:spcPts val="400"/>
              </a:spcAft>
              <a:buSzPct val="100000"/>
              <a:buChar char="•"/>
            </a:pPr>
            <a:r>
              <a:rPr lang="en-US" sz="1300" dirty="0">
                <a:solidFill>
                  <a:schemeClr val="tx1"/>
                </a:solidFill>
              </a:rPr>
              <a:t>Aprobado por la docente</a:t>
            </a:r>
            <a:endParaRPr lang="en-US" sz="1300" dirty="0"/>
          </a:p>
          <a:p>
            <a:pPr marL="342900" indent="-342900">
              <a:spcAft>
                <a:spcPts val="400"/>
              </a:spcAft>
              <a:buSzPct val="100000"/>
              <a:buChar char="•"/>
            </a:pPr>
            <a:r>
              <a:rPr lang="en-US" sz="1300" dirty="0">
                <a:solidFill>
                  <a:schemeClr val="tx1"/>
                </a:solidFill>
              </a:rPr>
              <a:t>Notas en las 4 categorías · media 6,2</a:t>
            </a:r>
            <a:endParaRPr lang="en-US" sz="1300" dirty="0"/>
          </a:p>
          <a:p>
            <a:pPr marL="342900" indent="-342900">
              <a:spcAft>
                <a:spcPts val="400"/>
              </a:spcAft>
              <a:buSzPct val="100000"/>
              <a:buChar char="•"/>
            </a:pPr>
            <a:r>
              <a:rPr lang="en-US" sz="1300" dirty="0">
                <a:solidFill>
                  <a:schemeClr val="tx1"/>
                </a:solidFill>
              </a:rPr>
              <a:t>Más relacionada: tareas (r = 0,66)</a:t>
            </a:r>
            <a:endParaRPr lang="en-US" sz="1300" dirty="0"/>
          </a:p>
        </p:txBody>
      </p:sp>
      <p:sp>
        <p:nvSpPr>
          <p:cNvPr id="10" name="Shape 7"/>
          <p:cNvSpPr/>
          <p:nvPr/>
        </p:nvSpPr>
        <p:spPr>
          <a:xfrm>
            <a:off x="548640" y="3931920"/>
            <a:ext cx="5120640" cy="2148840"/>
          </a:xfrm>
          <a:prstGeom prst="roundRect">
            <a:avLst>
              <a:gd name="adj" fmla="val 5106"/>
            </a:avLst>
          </a:prstGeom>
          <a:solidFill>
            <a:srgbClr val="FFF1E8"/>
          </a:solidFill>
          <a:ln/>
        </p:spPr>
        <p:txBody>
          <a:bodyPr/>
          <a:lstStyle/>
          <a:p>
            <a:endParaRPr lang="es-AR"/>
          </a:p>
        </p:txBody>
      </p:sp>
      <p:sp>
        <p:nvSpPr>
          <p:cNvPr id="11" name="Text 8"/>
          <p:cNvSpPr txBox="1"/>
          <p:nvPr/>
        </p:nvSpPr>
        <p:spPr>
          <a:xfrm>
            <a:off x="777240" y="4069080"/>
            <a:ext cx="4754880" cy="365760"/>
          </a:xfrm>
          <a:prstGeom prst="rect">
            <a:avLst/>
          </a:prstGeom>
          <a:noFill/>
          <a:ln/>
        </p:spPr>
        <p:txBody>
          <a:bodyPr wrap="square" lIns="0" tIns="0" rIns="0" bIns="0" rtlCol="0" anchor="t"/>
          <a:lstStyle/>
          <a:p>
            <a:pPr marL="0" indent="0">
              <a:buNone/>
            </a:pPr>
            <a:r>
              <a:rPr lang="en-US" sz="1700" b="1" dirty="0">
                <a:solidFill>
                  <a:srgbClr val="EA580C"/>
                </a:solidFill>
              </a:rPr>
              <a:t>Dataset 2 · Student Performance Factors</a:t>
            </a:r>
            <a:endParaRPr lang="en-US" sz="1700" dirty="0"/>
          </a:p>
        </p:txBody>
      </p:sp>
      <p:sp>
        <p:nvSpPr>
          <p:cNvPr id="12" name="Text 9"/>
          <p:cNvSpPr txBox="1"/>
          <p:nvPr/>
        </p:nvSpPr>
        <p:spPr>
          <a:xfrm>
            <a:off x="777240" y="4434840"/>
            <a:ext cx="1737360" cy="640080"/>
          </a:xfrm>
          <a:prstGeom prst="rect">
            <a:avLst/>
          </a:prstGeom>
          <a:noFill/>
          <a:ln/>
        </p:spPr>
        <p:txBody>
          <a:bodyPr wrap="square" lIns="0" tIns="0" rIns="0" bIns="0" rtlCol="0" anchor="t"/>
          <a:lstStyle/>
          <a:p>
            <a:pPr marL="0" indent="0">
              <a:buNone/>
            </a:pPr>
            <a:r>
              <a:rPr lang="en-US" sz="3600" b="1" dirty="0">
                <a:solidFill>
                  <a:schemeClr val="tx2"/>
                </a:solidFill>
              </a:rPr>
              <a:t>6.607</a:t>
            </a:r>
            <a:endParaRPr lang="en-US" sz="3600" dirty="0"/>
          </a:p>
        </p:txBody>
      </p:sp>
      <p:sp>
        <p:nvSpPr>
          <p:cNvPr id="13" name="Text 10"/>
          <p:cNvSpPr txBox="1"/>
          <p:nvPr/>
        </p:nvSpPr>
        <p:spPr>
          <a:xfrm>
            <a:off x="777240" y="5074920"/>
            <a:ext cx="1737360" cy="822960"/>
          </a:xfrm>
          <a:prstGeom prst="rect">
            <a:avLst/>
          </a:prstGeom>
          <a:noFill/>
          <a:ln/>
        </p:spPr>
        <p:txBody>
          <a:bodyPr wrap="square" lIns="0" tIns="0" rIns="0" bIns="0" rtlCol="0" anchor="t"/>
          <a:lstStyle/>
          <a:p>
            <a:pPr marL="0" indent="0">
              <a:buNone/>
            </a:pPr>
            <a:r>
              <a:rPr lang="en-US" sz="1200" dirty="0">
                <a:solidFill>
                  <a:srgbClr val="64748B"/>
                </a:solidFill>
              </a:rPr>
              <a:t>alumnos de Kaggle, también sintético (D-18)</a:t>
            </a:r>
            <a:endParaRPr lang="en-US" sz="1200" dirty="0"/>
          </a:p>
        </p:txBody>
      </p:sp>
      <p:sp>
        <p:nvSpPr>
          <p:cNvPr id="14" name="Text 11"/>
          <p:cNvSpPr txBox="1"/>
          <p:nvPr/>
        </p:nvSpPr>
        <p:spPr>
          <a:xfrm>
            <a:off x="2651760" y="4480560"/>
            <a:ext cx="2880360" cy="150876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Entran horas de sueño y tutorías</a:t>
            </a:r>
            <a:endParaRPr lang="en-US" sz="1300" dirty="0"/>
          </a:p>
          <a:p>
            <a:pPr marL="342900" indent="-342900">
              <a:spcAft>
                <a:spcPts val="400"/>
              </a:spcAft>
              <a:buSzPct val="100000"/>
              <a:buChar char="•"/>
            </a:pPr>
            <a:r>
              <a:rPr lang="en-US" sz="1300" dirty="0">
                <a:solidFill>
                  <a:schemeClr val="tx1"/>
                </a:solidFill>
              </a:rPr>
              <a:t>98% de las notas es Aprobado Regular</a:t>
            </a:r>
            <a:endParaRPr lang="en-US" sz="1300" dirty="0"/>
          </a:p>
          <a:p>
            <a:pPr marL="342900" indent="-342900">
              <a:spcAft>
                <a:spcPts val="400"/>
              </a:spcAft>
              <a:buSzPct val="100000"/>
              <a:buChar char="•"/>
            </a:pPr>
            <a:r>
              <a:rPr lang="en-US" sz="1300" dirty="0">
                <a:solidFill>
                  <a:schemeClr val="tx1"/>
                </a:solidFill>
              </a:rPr>
              <a:t>Más relacionada: asistencia (r = 0,59)</a:t>
            </a:r>
            <a:endParaRPr lang="en-US" sz="1300" dirty="0"/>
          </a:p>
        </p:txBody>
      </p:sp>
      <p:pic>
        <p:nvPicPr>
          <p:cNvPr id="15" name="Image 0" descr="figuras_evaluativo/f1_distribucion_notas.png"/>
          <p:cNvPicPr>
            <a:picLocks noChangeAspect="1"/>
          </p:cNvPicPr>
          <p:nvPr/>
        </p:nvPicPr>
        <p:blipFill>
          <a:blip r:embed="rId3"/>
          <a:stretch>
            <a:fillRect/>
          </a:stretch>
        </p:blipFill>
        <p:spPr>
          <a:xfrm>
            <a:off x="5989320" y="1920240"/>
            <a:ext cx="5669280" cy="2387684"/>
          </a:xfrm>
          <a:prstGeom prst="rect">
            <a:avLst/>
          </a:prstGeom>
        </p:spPr>
      </p:pic>
      <p:sp>
        <p:nvSpPr>
          <p:cNvPr id="16" name="Text 12"/>
          <p:cNvSpPr txBox="1"/>
          <p:nvPr/>
        </p:nvSpPr>
        <p:spPr>
          <a:xfrm>
            <a:off x="5989320" y="4434840"/>
            <a:ext cx="5669280" cy="274320"/>
          </a:xfrm>
          <a:prstGeom prst="rect">
            <a:avLst/>
          </a:prstGeom>
          <a:noFill/>
          <a:ln/>
        </p:spPr>
        <p:txBody>
          <a:bodyPr wrap="square" lIns="0" tIns="0" rIns="0" bIns="0" rtlCol="0" anchor="t"/>
          <a:lstStyle/>
          <a:p>
            <a:pPr marL="0" indent="0" algn="ctr">
              <a:buNone/>
            </a:pPr>
            <a:r>
              <a:rPr lang="en-US" sz="1200" dirty="0">
                <a:solidFill>
                  <a:srgbClr val="64748B"/>
                </a:solidFill>
              </a:rPr>
              <a:t>Nota real del examen en cada dataset, con las 4 categorías de fondo</a:t>
            </a:r>
            <a:endParaRPr lang="en-US" sz="1200" dirty="0"/>
          </a:p>
        </p:txBody>
      </p:sp>
      <p:sp>
        <p:nvSpPr>
          <p:cNvPr id="17" name="Text 13"/>
          <p:cNvSpPr txBox="1"/>
          <p:nvPr/>
        </p:nvSpPr>
        <p:spPr>
          <a:xfrm>
            <a:off x="5989320" y="5029200"/>
            <a:ext cx="5669280" cy="548640"/>
          </a:xfrm>
          <a:prstGeom prst="rect">
            <a:avLst/>
          </a:prstGeom>
          <a:solidFill>
            <a:schemeClr val="bg2"/>
          </a:solidFill>
          <a:ln/>
        </p:spPr>
        <p:txBody>
          <a:bodyPr wrap="square" lIns="0" tIns="0" rIns="0" bIns="0" rtlCol="0" anchor="ctr"/>
          <a:lstStyle/>
          <a:p>
            <a:pPr marL="0" indent="0" algn="ctr">
              <a:buNone/>
            </a:pPr>
            <a:r>
              <a:rPr lang="en-US" sz="1500" b="1" dirty="0">
                <a:solidFill>
                  <a:schemeClr val="tx2"/>
                </a:solidFill>
              </a:rPr>
              <a:t>Validación ex-post: 80% entrena · 20% reservado que la red nunca ve</a:t>
            </a:r>
            <a:endParaRPr lang="en-US" sz="15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Arquitectura: siete etapas en un pipeline</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2 · ARQUITECTURA</a:t>
            </a:r>
            <a:endParaRPr lang="en-US" sz="1200" dirty="0"/>
          </a:p>
        </p:txBody>
      </p:sp>
      <p:pic>
        <p:nvPicPr>
          <p:cNvPr id="5" name="Image 0" descr="figuras_esquema/1-vista_general.png"/>
          <p:cNvPicPr>
            <a:picLocks noChangeAspect="1"/>
          </p:cNvPicPr>
          <p:nvPr/>
        </p:nvPicPr>
        <p:blipFill>
          <a:blip r:embed="rId3"/>
          <a:stretch>
            <a:fillRect/>
          </a:stretch>
        </p:blipFill>
        <p:spPr>
          <a:xfrm>
            <a:off x="1356426" y="1463040"/>
            <a:ext cx="9494388" cy="4800600"/>
          </a:xfrm>
          <a:prstGeom prst="rect">
            <a:avLst/>
          </a:prstGeom>
        </p:spPr>
      </p:pic>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Decisiones que tomamos</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2 · REGISTRO DE DECISIONES D-01 A D-20</a:t>
            </a:r>
            <a:endParaRPr lang="en-US" sz="1200" dirty="0"/>
          </a:p>
        </p:txBody>
      </p:sp>
      <p:sp>
        <p:nvSpPr>
          <p:cNvPr id="5" name="Shape 2"/>
          <p:cNvSpPr/>
          <p:nvPr/>
        </p:nvSpPr>
        <p:spPr>
          <a:xfrm>
            <a:off x="548640" y="1600200"/>
            <a:ext cx="3520440" cy="1353312"/>
          </a:xfrm>
          <a:prstGeom prst="roundRect">
            <a:avLst>
              <a:gd name="adj" fmla="val 8108"/>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6" name="Text 3"/>
          <p:cNvSpPr txBox="1"/>
          <p:nvPr/>
        </p:nvSpPr>
        <p:spPr>
          <a:xfrm>
            <a:off x="731520" y="1764792"/>
            <a:ext cx="123444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D-01 · D-04</a:t>
            </a:r>
            <a:endParaRPr lang="en-US" sz="1100" dirty="0"/>
          </a:p>
        </p:txBody>
      </p:sp>
      <p:sp>
        <p:nvSpPr>
          <p:cNvPr id="7" name="Text 4"/>
          <p:cNvSpPr txBox="1"/>
          <p:nvPr/>
        </p:nvSpPr>
        <p:spPr>
          <a:xfrm>
            <a:off x="731520" y="2103120"/>
            <a:ext cx="3200400" cy="365760"/>
          </a:xfrm>
          <a:prstGeom prst="rect">
            <a:avLst/>
          </a:prstGeom>
          <a:noFill/>
          <a:ln/>
        </p:spPr>
        <p:txBody>
          <a:bodyPr wrap="square" lIns="0" tIns="0" rIns="0" bIns="0" rtlCol="0" anchor="t"/>
          <a:lstStyle/>
          <a:p>
            <a:pPr marL="0" indent="0">
              <a:buNone/>
            </a:pPr>
            <a:r>
              <a:rPr lang="en-US" sz="1600" b="1" dirty="0">
                <a:solidFill>
                  <a:schemeClr val="tx2"/>
                </a:solidFill>
              </a:rPr>
              <a:t>5 variables de entrada</a:t>
            </a:r>
            <a:endParaRPr lang="en-US" sz="1600" dirty="0"/>
          </a:p>
        </p:txBody>
      </p:sp>
      <p:sp>
        <p:nvSpPr>
          <p:cNvPr id="8" name="Text 5"/>
          <p:cNvSpPr txBox="1"/>
          <p:nvPr/>
        </p:nvSpPr>
        <p:spPr>
          <a:xfrm>
            <a:off x="731520" y="2450592"/>
            <a:ext cx="3200400" cy="457200"/>
          </a:xfrm>
          <a:prstGeom prst="rect">
            <a:avLst/>
          </a:prstGeom>
          <a:noFill/>
          <a:ln/>
        </p:spPr>
        <p:txBody>
          <a:bodyPr wrap="square" lIns="0" tIns="0" rIns="0" bIns="0" rtlCol="0" anchor="t"/>
          <a:lstStyle/>
          <a:p>
            <a:pPr marL="0" indent="0">
              <a:buNone/>
            </a:pPr>
            <a:r>
              <a:rPr lang="en-US" sz="1300" dirty="0">
                <a:solidFill>
                  <a:schemeClr val="tx1"/>
                </a:solidFill>
              </a:rPr>
              <a:t>Portabilidad y vectores cortos (20 bits).</a:t>
            </a:r>
            <a:endParaRPr lang="en-US" sz="1300" dirty="0"/>
          </a:p>
        </p:txBody>
      </p:sp>
      <p:sp>
        <p:nvSpPr>
          <p:cNvPr id="9" name="Shape 6"/>
          <p:cNvSpPr/>
          <p:nvPr/>
        </p:nvSpPr>
        <p:spPr>
          <a:xfrm>
            <a:off x="4297680" y="1600200"/>
            <a:ext cx="3520440" cy="1353312"/>
          </a:xfrm>
          <a:prstGeom prst="roundRect">
            <a:avLst>
              <a:gd name="adj" fmla="val 8108"/>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0" name="Text 7"/>
          <p:cNvSpPr txBox="1"/>
          <p:nvPr/>
        </p:nvSpPr>
        <p:spPr>
          <a:xfrm>
            <a:off x="4480560" y="1764792"/>
            <a:ext cx="123444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D-03</a:t>
            </a:r>
            <a:endParaRPr lang="en-US" sz="1100" dirty="0"/>
          </a:p>
        </p:txBody>
      </p:sp>
      <p:sp>
        <p:nvSpPr>
          <p:cNvPr id="11" name="Text 8"/>
          <p:cNvSpPr txBox="1"/>
          <p:nvPr/>
        </p:nvSpPr>
        <p:spPr>
          <a:xfrm>
            <a:off x="4480560" y="2103120"/>
            <a:ext cx="3200400" cy="365760"/>
          </a:xfrm>
          <a:prstGeom prst="rect">
            <a:avLst/>
          </a:prstGeom>
          <a:noFill/>
          <a:ln/>
        </p:spPr>
        <p:txBody>
          <a:bodyPr wrap="square" lIns="0" tIns="0" rIns="0" bIns="0" rtlCol="0" anchor="t"/>
          <a:lstStyle/>
          <a:p>
            <a:pPr marL="0" indent="0">
              <a:buNone/>
            </a:pPr>
            <a:r>
              <a:rPr lang="en-US" sz="1600" b="1" dirty="0">
                <a:solidFill>
                  <a:schemeClr val="tx2"/>
                </a:solidFill>
              </a:rPr>
              <a:t>Tareas: una variable a base 100</a:t>
            </a:r>
            <a:endParaRPr lang="en-US" sz="1600" dirty="0"/>
          </a:p>
        </p:txBody>
      </p:sp>
      <p:sp>
        <p:nvSpPr>
          <p:cNvPr id="12" name="Text 9"/>
          <p:cNvSpPr txBox="1"/>
          <p:nvPr/>
        </p:nvSpPr>
        <p:spPr>
          <a:xfrm>
            <a:off x="4480560" y="2450592"/>
            <a:ext cx="3200400" cy="457200"/>
          </a:xfrm>
          <a:prstGeom prst="rect">
            <a:avLst/>
          </a:prstGeom>
          <a:noFill/>
          <a:ln/>
        </p:spPr>
        <p:txBody>
          <a:bodyPr wrap="square" lIns="0" tIns="0" rIns="0" bIns="0" rtlCol="0" anchor="t"/>
          <a:lstStyle/>
          <a:p>
            <a:pPr marL="0" indent="0">
              <a:buNone/>
            </a:pPr>
            <a:r>
              <a:rPr lang="en-US" sz="1300" dirty="0">
                <a:solidFill>
                  <a:schemeClr val="tx1"/>
                </a:solidFill>
              </a:rPr>
              <a:t>13 de 20 → 65. Dividirla sería inventar datos.</a:t>
            </a:r>
            <a:endParaRPr lang="en-US" sz="1300" dirty="0"/>
          </a:p>
        </p:txBody>
      </p:sp>
      <p:sp>
        <p:nvSpPr>
          <p:cNvPr id="13" name="Shape 10"/>
          <p:cNvSpPr/>
          <p:nvPr/>
        </p:nvSpPr>
        <p:spPr>
          <a:xfrm>
            <a:off x="8046720" y="1600200"/>
            <a:ext cx="3520440" cy="1353312"/>
          </a:xfrm>
          <a:prstGeom prst="roundRect">
            <a:avLst>
              <a:gd name="adj" fmla="val 8108"/>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4" name="Text 11"/>
          <p:cNvSpPr txBox="1"/>
          <p:nvPr/>
        </p:nvSpPr>
        <p:spPr>
          <a:xfrm>
            <a:off x="8229600" y="1764792"/>
            <a:ext cx="123444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D-06 · D-07</a:t>
            </a:r>
            <a:endParaRPr lang="en-US" sz="1100" dirty="0"/>
          </a:p>
        </p:txBody>
      </p:sp>
      <p:sp>
        <p:nvSpPr>
          <p:cNvPr id="15" name="Text 12"/>
          <p:cNvSpPr txBox="1"/>
          <p:nvPr/>
        </p:nvSpPr>
        <p:spPr>
          <a:xfrm>
            <a:off x="8229600" y="2103120"/>
            <a:ext cx="3200400" cy="365760"/>
          </a:xfrm>
          <a:prstGeom prst="rect">
            <a:avLst/>
          </a:prstGeom>
          <a:noFill/>
          <a:ln/>
        </p:spPr>
        <p:txBody>
          <a:bodyPr wrap="square" lIns="0" tIns="0" rIns="0" bIns="0" rtlCol="0" anchor="t"/>
          <a:lstStyle/>
          <a:p>
            <a:pPr marL="0" indent="0">
              <a:buNone/>
            </a:pPr>
            <a:r>
              <a:rPr lang="en-US" sz="1600" b="1" dirty="0">
                <a:solidFill>
                  <a:schemeClr val="tx2"/>
                </a:solidFill>
              </a:rPr>
              <a:t>Horas 000–024, bins no uniformes</a:t>
            </a:r>
            <a:endParaRPr lang="en-US" sz="1600" dirty="0"/>
          </a:p>
        </p:txBody>
      </p:sp>
      <p:sp>
        <p:nvSpPr>
          <p:cNvPr id="16" name="Text 13"/>
          <p:cNvSpPr txBox="1"/>
          <p:nvPr/>
        </p:nvSpPr>
        <p:spPr>
          <a:xfrm>
            <a:off x="8229600" y="2450592"/>
            <a:ext cx="3200400" cy="457200"/>
          </a:xfrm>
          <a:prstGeom prst="rect">
            <a:avLst/>
          </a:prstGeom>
          <a:noFill/>
          <a:ln/>
        </p:spPr>
        <p:txBody>
          <a:bodyPr wrap="square" lIns="0" tIns="0" rIns="0" bIns="0" rtlCol="0" anchor="t"/>
          <a:lstStyle/>
          <a:p>
            <a:pPr marL="0" indent="0">
              <a:buNone/>
            </a:pPr>
            <a:r>
              <a:rPr lang="en-US" sz="1300" dirty="0">
                <a:solidFill>
                  <a:schemeClr val="tx1"/>
                </a:solidFill>
              </a:rPr>
              <a:t>Cada hora de 2 a 8 tiene su propio bin.</a:t>
            </a:r>
            <a:endParaRPr lang="en-US" sz="1300" dirty="0"/>
          </a:p>
        </p:txBody>
      </p:sp>
      <p:sp>
        <p:nvSpPr>
          <p:cNvPr id="17" name="Shape 14"/>
          <p:cNvSpPr/>
          <p:nvPr/>
        </p:nvSpPr>
        <p:spPr>
          <a:xfrm>
            <a:off x="548640" y="3136392"/>
            <a:ext cx="3520440" cy="1353312"/>
          </a:xfrm>
          <a:prstGeom prst="roundRect">
            <a:avLst>
              <a:gd name="adj" fmla="val 8108"/>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8" name="Text 15"/>
          <p:cNvSpPr txBox="1"/>
          <p:nvPr/>
        </p:nvSpPr>
        <p:spPr>
          <a:xfrm>
            <a:off x="731520" y="3300984"/>
            <a:ext cx="1234440"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100" b="1" dirty="0">
                <a:solidFill>
                  <a:schemeClr val="bg1"/>
                </a:solidFill>
              </a:rPr>
              <a:t>D-08 · D-09</a:t>
            </a:r>
            <a:endParaRPr lang="en-US" sz="1100" dirty="0"/>
          </a:p>
        </p:txBody>
      </p:sp>
      <p:sp>
        <p:nvSpPr>
          <p:cNvPr id="19" name="Text 16"/>
          <p:cNvSpPr txBox="1"/>
          <p:nvPr/>
        </p:nvSpPr>
        <p:spPr>
          <a:xfrm>
            <a:off x="731520" y="3639312"/>
            <a:ext cx="3200400" cy="365760"/>
          </a:xfrm>
          <a:prstGeom prst="rect">
            <a:avLst/>
          </a:prstGeom>
          <a:noFill/>
          <a:ln/>
        </p:spPr>
        <p:txBody>
          <a:bodyPr wrap="square" lIns="0" tIns="0" rIns="0" bIns="0" rtlCol="0" anchor="t"/>
          <a:lstStyle/>
          <a:p>
            <a:pPr marL="0" indent="0">
              <a:buNone/>
            </a:pPr>
            <a:r>
              <a:rPr lang="en-US" sz="1600" b="1" dirty="0">
                <a:solidFill>
                  <a:schemeClr val="tx2"/>
                </a:solidFill>
              </a:rPr>
              <a:t>K = 4 en EM</a:t>
            </a:r>
            <a:endParaRPr lang="en-US" sz="1600" dirty="0"/>
          </a:p>
        </p:txBody>
      </p:sp>
      <p:sp>
        <p:nvSpPr>
          <p:cNvPr id="20" name="Text 17"/>
          <p:cNvSpPr txBox="1"/>
          <p:nvPr/>
        </p:nvSpPr>
        <p:spPr>
          <a:xfrm>
            <a:off x="731520" y="3986784"/>
            <a:ext cx="3200400" cy="457200"/>
          </a:xfrm>
          <a:prstGeom prst="rect">
            <a:avLst/>
          </a:prstGeom>
          <a:noFill/>
          <a:ln/>
        </p:spPr>
        <p:txBody>
          <a:bodyPr wrap="square" lIns="0" tIns="0" rIns="0" bIns="0" rtlCol="0" anchor="t"/>
          <a:lstStyle/>
          <a:p>
            <a:pPr marL="0" indent="0">
              <a:buNone/>
            </a:pPr>
            <a:r>
              <a:rPr lang="en-US" sz="1300" dirty="0">
                <a:solidFill>
                  <a:schemeClr val="tx1"/>
                </a:solidFill>
              </a:rPr>
              <a:t>Mínimo de BIC y una clase por categoría.</a:t>
            </a:r>
            <a:endParaRPr lang="en-US" sz="1300" dirty="0"/>
          </a:p>
        </p:txBody>
      </p:sp>
      <p:sp>
        <p:nvSpPr>
          <p:cNvPr id="25" name="Shape 22"/>
          <p:cNvSpPr/>
          <p:nvPr/>
        </p:nvSpPr>
        <p:spPr>
          <a:xfrm>
            <a:off x="8046720" y="3136392"/>
            <a:ext cx="3520440" cy="1353312"/>
          </a:xfrm>
          <a:prstGeom prst="roundRect">
            <a:avLst>
              <a:gd name="adj" fmla="val 8108"/>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26" name="Text 23"/>
          <p:cNvSpPr txBox="1"/>
          <p:nvPr/>
        </p:nvSpPr>
        <p:spPr>
          <a:xfrm>
            <a:off x="8229600" y="3300984"/>
            <a:ext cx="1234440"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100" b="1" dirty="0">
                <a:solidFill>
                  <a:schemeClr val="bg1"/>
                </a:solidFill>
              </a:rPr>
              <a:t>D-12</a:t>
            </a:r>
            <a:endParaRPr lang="en-US" sz="1100" dirty="0"/>
          </a:p>
        </p:txBody>
      </p:sp>
      <p:sp>
        <p:nvSpPr>
          <p:cNvPr id="27" name="Text 24"/>
          <p:cNvSpPr txBox="1"/>
          <p:nvPr/>
        </p:nvSpPr>
        <p:spPr>
          <a:xfrm>
            <a:off x="8229600" y="3639312"/>
            <a:ext cx="3200400" cy="365760"/>
          </a:xfrm>
          <a:prstGeom prst="rect">
            <a:avLst/>
          </a:prstGeom>
          <a:noFill/>
          <a:ln/>
        </p:spPr>
        <p:txBody>
          <a:bodyPr wrap="square" lIns="0" tIns="0" rIns="0" bIns="0" rtlCol="0" anchor="t"/>
          <a:lstStyle/>
          <a:p>
            <a:pPr marL="0" indent="0">
              <a:buNone/>
            </a:pPr>
            <a:r>
              <a:rPr lang="en-US" sz="1600" b="1" dirty="0">
                <a:solidFill>
                  <a:schemeClr val="tx2"/>
                </a:solidFill>
              </a:rPr>
              <a:t>Binario posicional de 4 bits</a:t>
            </a:r>
            <a:endParaRPr lang="en-US" sz="1600" dirty="0"/>
          </a:p>
        </p:txBody>
      </p:sp>
      <p:sp>
        <p:nvSpPr>
          <p:cNvPr id="28" name="Text 25"/>
          <p:cNvSpPr txBox="1"/>
          <p:nvPr/>
        </p:nvSpPr>
        <p:spPr>
          <a:xfrm>
            <a:off x="8229600" y="3986784"/>
            <a:ext cx="3200400" cy="457200"/>
          </a:xfrm>
          <a:prstGeom prst="rect">
            <a:avLst/>
          </a:prstGeom>
          <a:noFill/>
          <a:ln/>
        </p:spPr>
        <p:txBody>
          <a:bodyPr wrap="square" lIns="0" tIns="0" rIns="0" bIns="0" rtlCol="0" anchor="t"/>
          <a:lstStyle/>
          <a:p>
            <a:pPr marL="0" indent="0">
              <a:buNone/>
            </a:pPr>
            <a:r>
              <a:rPr lang="en-US" sz="1300" dirty="0">
                <a:solidFill>
                  <a:schemeClr val="tx1"/>
                </a:solidFill>
              </a:rPr>
              <a:t>6 → 0110.</a:t>
            </a:r>
            <a:endParaRPr lang="en-US" sz="1300" dirty="0"/>
          </a:p>
        </p:txBody>
      </p:sp>
      <p:sp>
        <p:nvSpPr>
          <p:cNvPr id="29" name="Shape 26"/>
          <p:cNvSpPr/>
          <p:nvPr/>
        </p:nvSpPr>
        <p:spPr>
          <a:xfrm>
            <a:off x="548640" y="4672584"/>
            <a:ext cx="3520440" cy="1353312"/>
          </a:xfrm>
          <a:prstGeom prst="roundRect">
            <a:avLst>
              <a:gd name="adj" fmla="val 8108"/>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30" name="Text 27"/>
          <p:cNvSpPr txBox="1"/>
          <p:nvPr/>
        </p:nvSpPr>
        <p:spPr>
          <a:xfrm>
            <a:off x="731520" y="4837176"/>
            <a:ext cx="1234440"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100" b="1" dirty="0">
                <a:solidFill>
                  <a:schemeClr val="bg1"/>
                </a:solidFill>
              </a:rPr>
              <a:t>D-13</a:t>
            </a:r>
            <a:endParaRPr lang="en-US" sz="1100" dirty="0"/>
          </a:p>
        </p:txBody>
      </p:sp>
      <p:sp>
        <p:nvSpPr>
          <p:cNvPr id="31" name="Text 28"/>
          <p:cNvSpPr txBox="1"/>
          <p:nvPr/>
        </p:nvSpPr>
        <p:spPr>
          <a:xfrm>
            <a:off x="731520" y="5175504"/>
            <a:ext cx="3200400" cy="365760"/>
          </a:xfrm>
          <a:prstGeom prst="rect">
            <a:avLst/>
          </a:prstGeom>
          <a:noFill/>
          <a:ln/>
        </p:spPr>
        <p:txBody>
          <a:bodyPr wrap="square" lIns="0" tIns="0" rIns="0" bIns="0" rtlCol="0" anchor="t"/>
          <a:lstStyle/>
          <a:p>
            <a:pPr marL="0" indent="0">
              <a:buNone/>
            </a:pPr>
            <a:r>
              <a:rPr lang="en-US" sz="1600" b="1" dirty="0">
                <a:solidFill>
                  <a:schemeClr val="tx2"/>
                </a:solidFill>
              </a:rPr>
              <a:t>ρ = 0,65</a:t>
            </a:r>
            <a:endParaRPr lang="en-US" sz="1600" dirty="0"/>
          </a:p>
        </p:txBody>
      </p:sp>
      <p:sp>
        <p:nvSpPr>
          <p:cNvPr id="32" name="Text 29"/>
          <p:cNvSpPr txBox="1"/>
          <p:nvPr/>
        </p:nvSpPr>
        <p:spPr>
          <a:xfrm>
            <a:off x="731520" y="5522976"/>
            <a:ext cx="3200400" cy="457200"/>
          </a:xfrm>
          <a:prstGeom prst="rect">
            <a:avLst/>
          </a:prstGeom>
          <a:noFill/>
          <a:ln/>
        </p:spPr>
        <p:txBody>
          <a:bodyPr wrap="square" lIns="0" tIns="0" rIns="0" bIns="0" rtlCol="0" anchor="t"/>
          <a:lstStyle/>
          <a:p>
            <a:pPr marL="0" indent="0">
              <a:buNone/>
            </a:pPr>
            <a:r>
              <a:rPr lang="en-US" sz="1300" dirty="0">
                <a:solidFill>
                  <a:schemeClr val="tx1"/>
                </a:solidFill>
              </a:rPr>
              <a:t>Pureza 81,4% con el menor MAE del barrido.</a:t>
            </a:r>
            <a:endParaRPr lang="en-US" sz="1300" dirty="0"/>
          </a:p>
        </p:txBody>
      </p:sp>
      <p:sp>
        <p:nvSpPr>
          <p:cNvPr id="33" name="Shape 30"/>
          <p:cNvSpPr/>
          <p:nvPr/>
        </p:nvSpPr>
        <p:spPr>
          <a:xfrm>
            <a:off x="4297680" y="4672584"/>
            <a:ext cx="3520440" cy="1353312"/>
          </a:xfrm>
          <a:prstGeom prst="roundRect">
            <a:avLst>
              <a:gd name="adj" fmla="val 8108"/>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34" name="Text 31"/>
          <p:cNvSpPr txBox="1"/>
          <p:nvPr/>
        </p:nvSpPr>
        <p:spPr>
          <a:xfrm>
            <a:off x="4480560" y="4837176"/>
            <a:ext cx="1234440"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100" b="1" dirty="0">
                <a:solidFill>
                  <a:schemeClr val="bg1"/>
                </a:solidFill>
              </a:rPr>
              <a:t>D-15 · D-16</a:t>
            </a:r>
            <a:endParaRPr lang="en-US" sz="1100" dirty="0"/>
          </a:p>
        </p:txBody>
      </p:sp>
      <p:sp>
        <p:nvSpPr>
          <p:cNvPr id="35" name="Text 32"/>
          <p:cNvSpPr txBox="1"/>
          <p:nvPr/>
        </p:nvSpPr>
        <p:spPr>
          <a:xfrm>
            <a:off x="4480560" y="5175504"/>
            <a:ext cx="3200400" cy="365760"/>
          </a:xfrm>
          <a:prstGeom prst="rect">
            <a:avLst/>
          </a:prstGeom>
          <a:noFill/>
          <a:ln/>
        </p:spPr>
        <p:txBody>
          <a:bodyPr wrap="square" lIns="0" tIns="0" rIns="0" bIns="0" rtlCol="0" anchor="t"/>
          <a:lstStyle/>
          <a:p>
            <a:pPr marL="0" indent="0">
              <a:buNone/>
            </a:pPr>
            <a:r>
              <a:rPr lang="en-US" sz="1600" b="1" dirty="0">
                <a:solidFill>
                  <a:schemeClr val="tx2"/>
                </a:solidFill>
              </a:rPr>
              <a:t>Categoría desde la nota</a:t>
            </a:r>
            <a:endParaRPr lang="en-US" sz="1600" dirty="0"/>
          </a:p>
        </p:txBody>
      </p:sp>
      <p:sp>
        <p:nvSpPr>
          <p:cNvPr id="36" name="Text 33"/>
          <p:cNvSpPr txBox="1"/>
          <p:nvPr/>
        </p:nvSpPr>
        <p:spPr>
          <a:xfrm>
            <a:off x="4480560" y="5522976"/>
            <a:ext cx="3200400" cy="457200"/>
          </a:xfrm>
          <a:prstGeom prst="rect">
            <a:avLst/>
          </a:prstGeom>
          <a:noFill/>
          <a:ln/>
        </p:spPr>
        <p:txBody>
          <a:bodyPr wrap="square" lIns="0" tIns="0" rIns="0" bIns="0" rtlCol="0" anchor="t"/>
          <a:lstStyle/>
          <a:p>
            <a:pPr marL="0" indent="0">
              <a:buNone/>
            </a:pPr>
            <a:r>
              <a:rPr lang="en-US" sz="1300" dirty="0">
                <a:solidFill>
                  <a:schemeClr val="tx1"/>
                </a:solidFill>
              </a:rPr>
              <a:t>Acierto 47,4% → 57,2%. Nodo de reemplazo.</a:t>
            </a:r>
            <a:endParaRPr lang="en-US" sz="1300" dirty="0"/>
          </a:p>
        </p:txBody>
      </p:sp>
      <p:sp>
        <p:nvSpPr>
          <p:cNvPr id="37" name="Shape 34"/>
          <p:cNvSpPr/>
          <p:nvPr/>
        </p:nvSpPr>
        <p:spPr>
          <a:xfrm>
            <a:off x="8046720" y="4672584"/>
            <a:ext cx="3520440" cy="1353312"/>
          </a:xfrm>
          <a:prstGeom prst="roundRect">
            <a:avLst>
              <a:gd name="adj" fmla="val 8108"/>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38" name="Text 35"/>
          <p:cNvSpPr txBox="1"/>
          <p:nvPr/>
        </p:nvSpPr>
        <p:spPr>
          <a:xfrm>
            <a:off x="8229600" y="4837176"/>
            <a:ext cx="1234440" cy="274320"/>
          </a:xfrm>
          <a:prstGeom prst="roundRect">
            <a:avLst>
              <a:gd name="adj" fmla="val 50000"/>
            </a:avLst>
          </a:prstGeom>
          <a:solidFill>
            <a:schemeClr val="accent2"/>
          </a:solidFill>
          <a:ln/>
        </p:spPr>
        <p:txBody>
          <a:bodyPr wrap="square" lIns="0" tIns="0" rIns="0" bIns="0" rtlCol="0" anchor="ctr"/>
          <a:lstStyle/>
          <a:p>
            <a:pPr marL="0" indent="0" algn="ctr">
              <a:buNone/>
            </a:pPr>
            <a:r>
              <a:rPr lang="en-US" sz="1100" b="1" dirty="0">
                <a:solidFill>
                  <a:schemeClr val="bg1"/>
                </a:solidFill>
              </a:rPr>
              <a:t>D-17 · D-20</a:t>
            </a:r>
            <a:endParaRPr lang="en-US" sz="1100" dirty="0"/>
          </a:p>
        </p:txBody>
      </p:sp>
      <p:sp>
        <p:nvSpPr>
          <p:cNvPr id="39" name="Text 36"/>
          <p:cNvSpPr txBox="1"/>
          <p:nvPr/>
        </p:nvSpPr>
        <p:spPr>
          <a:xfrm>
            <a:off x="8229600" y="5175504"/>
            <a:ext cx="3200400" cy="365760"/>
          </a:xfrm>
          <a:prstGeom prst="rect">
            <a:avLst/>
          </a:prstGeom>
          <a:noFill/>
          <a:ln/>
        </p:spPr>
        <p:txBody>
          <a:bodyPr wrap="square" lIns="0" tIns="0" rIns="0" bIns="0" rtlCol="0" anchor="t"/>
          <a:lstStyle/>
          <a:p>
            <a:pPr marL="0" indent="0">
              <a:buNone/>
            </a:pPr>
            <a:r>
              <a:rPr lang="en-US" sz="1600" b="1" dirty="0">
                <a:solidFill>
                  <a:schemeClr val="tx2"/>
                </a:solidFill>
              </a:rPr>
              <a:t>Límites documentados</a:t>
            </a:r>
            <a:endParaRPr lang="en-US" sz="1600" dirty="0"/>
          </a:p>
        </p:txBody>
      </p:sp>
      <p:sp>
        <p:nvSpPr>
          <p:cNvPr id="40" name="Text 37"/>
          <p:cNvSpPr txBox="1"/>
          <p:nvPr/>
        </p:nvSpPr>
        <p:spPr>
          <a:xfrm>
            <a:off x="8229600" y="5522976"/>
            <a:ext cx="3200400" cy="457200"/>
          </a:xfrm>
          <a:prstGeom prst="rect">
            <a:avLst/>
          </a:prstGeom>
          <a:noFill/>
          <a:ln/>
        </p:spPr>
        <p:txBody>
          <a:bodyPr wrap="square" lIns="0" tIns="0" rIns="0" bIns="0" rtlCol="0" anchor="t"/>
          <a:lstStyle/>
          <a:p>
            <a:pPr marL="0" indent="0">
              <a:buNone/>
            </a:pPr>
            <a:r>
              <a:rPr lang="en-US" sz="1300" dirty="0">
                <a:solidFill>
                  <a:schemeClr val="tx1"/>
                </a:solidFill>
              </a:rPr>
              <a:t>Nota no monótona; categoría «Desaprobado».</a:t>
            </a:r>
            <a:endParaRPr lang="en-US" sz="1300" dirty="0"/>
          </a:p>
        </p:txBody>
      </p:sp>
      <p:sp>
        <p:nvSpPr>
          <p:cNvPr id="4"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EM: descubrir cuatro perfiles de alumnos</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2 · ETAPA 2 · EXPECTATION-MAXIMIZATION</a:t>
            </a:r>
            <a:endParaRPr lang="en-US" sz="1200" dirty="0"/>
          </a:p>
        </p:txBody>
      </p:sp>
      <p:pic>
        <p:nvPicPr>
          <p:cNvPr id="5" name="Image 0" descr="figuras_esquema/3-em.png"/>
          <p:cNvPicPr>
            <a:picLocks noChangeAspect="1"/>
          </p:cNvPicPr>
          <p:nvPr/>
        </p:nvPicPr>
        <p:blipFill>
          <a:blip r:embed="rId3"/>
          <a:stretch>
            <a:fillRect/>
          </a:stretch>
        </p:blipFill>
        <p:spPr>
          <a:xfrm>
            <a:off x="548640" y="1508760"/>
            <a:ext cx="7589520" cy="3884886"/>
          </a:xfrm>
          <a:prstGeom prst="rect">
            <a:avLst/>
          </a:prstGeom>
        </p:spPr>
      </p:pic>
      <p:sp>
        <p:nvSpPr>
          <p:cNvPr id="6" name="Shape 2"/>
          <p:cNvSpPr/>
          <p:nvPr/>
        </p:nvSpPr>
        <p:spPr>
          <a:xfrm>
            <a:off x="8412480" y="1600200"/>
            <a:ext cx="3246120" cy="841248"/>
          </a:xfrm>
          <a:prstGeom prst="roundRect">
            <a:avLst>
              <a:gd name="adj" fmla="val 13043"/>
            </a:avLst>
          </a:prstGeom>
          <a:solidFill>
            <a:schemeClr val="bg2"/>
          </a:solidFill>
          <a:ln/>
        </p:spPr>
        <p:txBody>
          <a:bodyPr/>
          <a:lstStyle/>
          <a:p>
            <a:endParaRPr lang="es-AR"/>
          </a:p>
        </p:txBody>
      </p:sp>
      <p:sp>
        <p:nvSpPr>
          <p:cNvPr id="7" name="Text 3"/>
          <p:cNvSpPr txBox="1"/>
          <p:nvPr/>
        </p:nvSpPr>
        <p:spPr>
          <a:xfrm>
            <a:off x="8595360" y="1673352"/>
            <a:ext cx="2926080" cy="320040"/>
          </a:xfrm>
          <a:prstGeom prst="rect">
            <a:avLst/>
          </a:prstGeom>
          <a:noFill/>
          <a:ln/>
        </p:spPr>
        <p:txBody>
          <a:bodyPr wrap="square" lIns="0" tIns="0" rIns="0" bIns="0" rtlCol="0" anchor="t"/>
          <a:lstStyle/>
          <a:p>
            <a:pPr marL="0" indent="0">
              <a:buNone/>
            </a:pPr>
            <a:r>
              <a:rPr lang="en-US" sz="1600" b="1" dirty="0">
                <a:solidFill>
                  <a:schemeClr val="accent5"/>
                </a:solidFill>
              </a:rPr>
              <a:t>Paso E</a:t>
            </a:r>
            <a:endParaRPr lang="en-US" sz="1600" dirty="0"/>
          </a:p>
        </p:txBody>
      </p:sp>
      <p:sp>
        <p:nvSpPr>
          <p:cNvPr id="8" name="Text 4"/>
          <p:cNvSpPr txBox="1"/>
          <p:nvPr/>
        </p:nvSpPr>
        <p:spPr>
          <a:xfrm>
            <a:off x="8595360" y="1984248"/>
            <a:ext cx="2926080" cy="438912"/>
          </a:xfrm>
          <a:prstGeom prst="rect">
            <a:avLst/>
          </a:prstGeom>
          <a:noFill/>
          <a:ln/>
        </p:spPr>
        <p:txBody>
          <a:bodyPr wrap="square" lIns="0" tIns="0" rIns="0" bIns="0" rtlCol="0" anchor="t"/>
          <a:lstStyle/>
          <a:p>
            <a:pPr marL="0" indent="0">
              <a:buNone/>
            </a:pPr>
            <a:r>
              <a:rPr lang="en-US" sz="1300" dirty="0">
                <a:solidFill>
                  <a:schemeClr val="tx1"/>
                </a:solidFill>
              </a:rPr>
              <a:t>probabilidad de cada alumno en cada perfil</a:t>
            </a:r>
            <a:endParaRPr lang="en-US" sz="1300" dirty="0"/>
          </a:p>
        </p:txBody>
      </p:sp>
      <p:sp>
        <p:nvSpPr>
          <p:cNvPr id="9" name="Shape 5"/>
          <p:cNvSpPr/>
          <p:nvPr/>
        </p:nvSpPr>
        <p:spPr>
          <a:xfrm>
            <a:off x="8412480" y="2587752"/>
            <a:ext cx="3246120" cy="841248"/>
          </a:xfrm>
          <a:prstGeom prst="roundRect">
            <a:avLst>
              <a:gd name="adj" fmla="val 13043"/>
            </a:avLst>
          </a:prstGeom>
          <a:solidFill>
            <a:schemeClr val="bg2"/>
          </a:solidFill>
          <a:ln/>
        </p:spPr>
        <p:txBody>
          <a:bodyPr/>
          <a:lstStyle/>
          <a:p>
            <a:endParaRPr lang="es-AR"/>
          </a:p>
        </p:txBody>
      </p:sp>
      <p:sp>
        <p:nvSpPr>
          <p:cNvPr id="10" name="Text 6"/>
          <p:cNvSpPr txBox="1"/>
          <p:nvPr/>
        </p:nvSpPr>
        <p:spPr>
          <a:xfrm>
            <a:off x="8595360" y="2660904"/>
            <a:ext cx="2926080" cy="320040"/>
          </a:xfrm>
          <a:prstGeom prst="rect">
            <a:avLst/>
          </a:prstGeom>
          <a:noFill/>
          <a:ln/>
        </p:spPr>
        <p:txBody>
          <a:bodyPr wrap="square" lIns="0" tIns="0" rIns="0" bIns="0" rtlCol="0" anchor="t"/>
          <a:lstStyle/>
          <a:p>
            <a:pPr marL="0" indent="0">
              <a:buNone/>
            </a:pPr>
            <a:r>
              <a:rPr lang="en-US" sz="1600" b="1" dirty="0">
                <a:solidFill>
                  <a:schemeClr val="accent5"/>
                </a:solidFill>
              </a:rPr>
              <a:t>Paso M</a:t>
            </a:r>
            <a:endParaRPr lang="en-US" sz="1600" dirty="0"/>
          </a:p>
        </p:txBody>
      </p:sp>
      <p:sp>
        <p:nvSpPr>
          <p:cNvPr id="11" name="Text 7"/>
          <p:cNvSpPr txBox="1"/>
          <p:nvPr/>
        </p:nvSpPr>
        <p:spPr>
          <a:xfrm>
            <a:off x="8595360" y="2971800"/>
            <a:ext cx="2926080" cy="438912"/>
          </a:xfrm>
          <a:prstGeom prst="rect">
            <a:avLst/>
          </a:prstGeom>
          <a:noFill/>
          <a:ln/>
        </p:spPr>
        <p:txBody>
          <a:bodyPr wrap="square" lIns="0" tIns="0" rIns="0" bIns="0" rtlCol="0" anchor="t"/>
          <a:lstStyle/>
          <a:p>
            <a:pPr marL="0" indent="0">
              <a:buNone/>
            </a:pPr>
            <a:r>
              <a:rPr lang="en-US" sz="1300" dirty="0">
                <a:solidFill>
                  <a:schemeClr val="tx1"/>
                </a:solidFill>
              </a:rPr>
              <a:t>recalcula cada campana con esas probabilidades</a:t>
            </a:r>
            <a:endParaRPr lang="en-US" sz="1300" dirty="0"/>
          </a:p>
        </p:txBody>
      </p:sp>
      <p:sp>
        <p:nvSpPr>
          <p:cNvPr id="12" name="Shape 8"/>
          <p:cNvSpPr/>
          <p:nvPr/>
        </p:nvSpPr>
        <p:spPr>
          <a:xfrm>
            <a:off x="8412480" y="3575304"/>
            <a:ext cx="3246120" cy="841248"/>
          </a:xfrm>
          <a:prstGeom prst="roundRect">
            <a:avLst>
              <a:gd name="adj" fmla="val 13043"/>
            </a:avLst>
          </a:prstGeom>
          <a:solidFill>
            <a:schemeClr val="bg2"/>
          </a:solidFill>
          <a:ln/>
        </p:spPr>
        <p:txBody>
          <a:bodyPr/>
          <a:lstStyle/>
          <a:p>
            <a:endParaRPr lang="es-AR"/>
          </a:p>
        </p:txBody>
      </p:sp>
      <p:sp>
        <p:nvSpPr>
          <p:cNvPr id="13" name="Text 9"/>
          <p:cNvSpPr txBox="1"/>
          <p:nvPr/>
        </p:nvSpPr>
        <p:spPr>
          <a:xfrm>
            <a:off x="8595360" y="3648456"/>
            <a:ext cx="2926080" cy="320040"/>
          </a:xfrm>
          <a:prstGeom prst="rect">
            <a:avLst/>
          </a:prstGeom>
          <a:noFill/>
          <a:ln/>
        </p:spPr>
        <p:txBody>
          <a:bodyPr wrap="square" lIns="0" tIns="0" rIns="0" bIns="0" rtlCol="0" anchor="t"/>
          <a:lstStyle/>
          <a:p>
            <a:pPr marL="0" indent="0">
              <a:buNone/>
            </a:pPr>
            <a:r>
              <a:rPr lang="en-US" sz="1600" b="1" dirty="0">
                <a:solidFill>
                  <a:schemeClr val="accent5"/>
                </a:solidFill>
              </a:rPr>
              <a:t>BIC</a:t>
            </a:r>
            <a:endParaRPr lang="en-US" sz="1600" dirty="0"/>
          </a:p>
        </p:txBody>
      </p:sp>
      <p:sp>
        <p:nvSpPr>
          <p:cNvPr id="14" name="Text 10"/>
          <p:cNvSpPr txBox="1"/>
          <p:nvPr/>
        </p:nvSpPr>
        <p:spPr>
          <a:xfrm>
            <a:off x="8595360" y="3959352"/>
            <a:ext cx="2926080" cy="438912"/>
          </a:xfrm>
          <a:prstGeom prst="rect">
            <a:avLst/>
          </a:prstGeom>
          <a:noFill/>
          <a:ln/>
        </p:spPr>
        <p:txBody>
          <a:bodyPr wrap="square" lIns="0" tIns="0" rIns="0" bIns="0" rtlCol="0" anchor="t"/>
          <a:lstStyle/>
          <a:p>
            <a:pPr marL="0" indent="0">
              <a:buNone/>
            </a:pPr>
            <a:r>
              <a:rPr lang="en-US" sz="1300" dirty="0">
                <a:solidFill>
                  <a:schemeClr val="tx1"/>
                </a:solidFill>
              </a:rPr>
              <a:t>mínimo en K = 4 (de 2 a 7)</a:t>
            </a:r>
            <a:endParaRPr lang="en-US" sz="1300" dirty="0"/>
          </a:p>
        </p:txBody>
      </p:sp>
      <p:sp>
        <p:nvSpPr>
          <p:cNvPr id="15" name="Shape 11"/>
          <p:cNvSpPr/>
          <p:nvPr/>
        </p:nvSpPr>
        <p:spPr>
          <a:xfrm>
            <a:off x="8412480" y="4562856"/>
            <a:ext cx="3246120" cy="841248"/>
          </a:xfrm>
          <a:prstGeom prst="roundRect">
            <a:avLst>
              <a:gd name="adj" fmla="val 13043"/>
            </a:avLst>
          </a:prstGeom>
          <a:solidFill>
            <a:schemeClr val="bg2"/>
          </a:solidFill>
          <a:ln/>
        </p:spPr>
        <p:txBody>
          <a:bodyPr/>
          <a:lstStyle/>
          <a:p>
            <a:endParaRPr lang="es-AR"/>
          </a:p>
        </p:txBody>
      </p:sp>
      <p:sp>
        <p:nvSpPr>
          <p:cNvPr id="16" name="Text 12"/>
          <p:cNvSpPr txBox="1"/>
          <p:nvPr/>
        </p:nvSpPr>
        <p:spPr>
          <a:xfrm>
            <a:off x="8595360" y="4636008"/>
            <a:ext cx="2926080" cy="320040"/>
          </a:xfrm>
          <a:prstGeom prst="rect">
            <a:avLst/>
          </a:prstGeom>
          <a:noFill/>
          <a:ln/>
        </p:spPr>
        <p:txBody>
          <a:bodyPr wrap="square" lIns="0" tIns="0" rIns="0" bIns="0" rtlCol="0" anchor="t"/>
          <a:lstStyle/>
          <a:p>
            <a:pPr marL="0" indent="0">
              <a:buNone/>
            </a:pPr>
            <a:r>
              <a:rPr lang="en-US" sz="1600" b="1" dirty="0">
                <a:solidFill>
                  <a:schemeClr val="accent5"/>
                </a:solidFill>
              </a:rPr>
              <a:t>Índice ℛ</a:t>
            </a:r>
            <a:endParaRPr lang="en-US" sz="1600" dirty="0"/>
          </a:p>
        </p:txBody>
      </p:sp>
      <p:sp>
        <p:nvSpPr>
          <p:cNvPr id="17" name="Text 13"/>
          <p:cNvSpPr txBox="1"/>
          <p:nvPr/>
        </p:nvSpPr>
        <p:spPr>
          <a:xfrm>
            <a:off x="8595360" y="4946904"/>
            <a:ext cx="2926080" cy="438912"/>
          </a:xfrm>
          <a:prstGeom prst="rect">
            <a:avLst/>
          </a:prstGeom>
          <a:noFill/>
          <a:ln/>
        </p:spPr>
        <p:txBody>
          <a:bodyPr wrap="square" lIns="0" tIns="0" rIns="0" bIns="0" rtlCol="0" anchor="t"/>
          <a:lstStyle/>
          <a:p>
            <a:pPr marL="0" indent="0">
              <a:buNone/>
            </a:pPr>
            <a:r>
              <a:rPr lang="en-US" sz="1300" dirty="0">
                <a:solidFill>
                  <a:schemeClr val="tx1"/>
                </a:solidFill>
              </a:rPr>
              <a:t>el autovector ordena los perfiles: nota 7,6 → 4,4</a:t>
            </a:r>
            <a:endParaRPr lang="en-US" sz="1300" dirty="0"/>
          </a:p>
        </p:txBody>
      </p:sp>
      <p:sp>
        <p:nvSpPr>
          <p:cNvPr id="18" name="Text 14"/>
          <p:cNvSpPr txBox="1"/>
          <p:nvPr/>
        </p:nvSpPr>
        <p:spPr>
          <a:xfrm>
            <a:off x="8412480" y="5623560"/>
            <a:ext cx="3246120" cy="502920"/>
          </a:xfrm>
          <a:prstGeom prst="rect">
            <a:avLst/>
          </a:prstGeom>
          <a:noFill/>
          <a:ln/>
        </p:spPr>
        <p:txBody>
          <a:bodyPr wrap="square" lIns="0" tIns="0" rIns="0" bIns="0" rtlCol="0" anchor="t"/>
          <a:lstStyle/>
          <a:p>
            <a:pPr marL="0" indent="0">
              <a:buNone/>
            </a:pPr>
            <a:r>
              <a:rPr lang="en-US" sz="1200" i="1" dirty="0">
                <a:solidFill>
                  <a:srgbClr val="B45309"/>
                </a:solidFill>
              </a:rPr>
              <a:t>Silhouette 0,19: los perfiles se superponen (meta 0,40)</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Codificador: de números a 20 bits</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2 · ETAPA 3</a:t>
            </a:r>
            <a:endParaRPr lang="en-US" sz="1200" dirty="0"/>
          </a:p>
        </p:txBody>
      </p:sp>
      <p:pic>
        <p:nvPicPr>
          <p:cNvPr id="5" name="Image 0" descr="figuras_esquema/4-codificador.png"/>
          <p:cNvPicPr>
            <a:picLocks noChangeAspect="1"/>
          </p:cNvPicPr>
          <p:nvPr/>
        </p:nvPicPr>
        <p:blipFill>
          <a:blip r:embed="rId3"/>
          <a:stretch>
            <a:fillRect/>
          </a:stretch>
        </p:blipFill>
        <p:spPr>
          <a:xfrm>
            <a:off x="3977640" y="1508760"/>
            <a:ext cx="7680960" cy="3821278"/>
          </a:xfrm>
          <a:prstGeom prst="rect">
            <a:avLst/>
          </a:prstGeom>
        </p:spPr>
      </p:pic>
      <p:sp>
        <p:nvSpPr>
          <p:cNvPr id="6" name="Shape 2"/>
          <p:cNvSpPr/>
          <p:nvPr/>
        </p:nvSpPr>
        <p:spPr>
          <a:xfrm>
            <a:off x="548640" y="1600200"/>
            <a:ext cx="3154680" cy="4434840"/>
          </a:xfrm>
          <a:prstGeom prst="roundRect">
            <a:avLst>
              <a:gd name="adj" fmla="val 3478"/>
            </a:avLst>
          </a:prstGeom>
          <a:solidFill>
            <a:schemeClr val="tx2"/>
          </a:solidFill>
          <a:ln/>
        </p:spPr>
        <p:txBody>
          <a:bodyPr/>
          <a:lstStyle/>
          <a:p>
            <a:endParaRPr lang="es-AR"/>
          </a:p>
        </p:txBody>
      </p:sp>
      <p:sp>
        <p:nvSpPr>
          <p:cNvPr id="7" name="Text 3"/>
          <p:cNvSpPr txBox="1"/>
          <p:nvPr/>
        </p:nvSpPr>
        <p:spPr>
          <a:xfrm>
            <a:off x="777240" y="1783080"/>
            <a:ext cx="2743200" cy="320040"/>
          </a:xfrm>
          <a:prstGeom prst="rect">
            <a:avLst/>
          </a:prstGeom>
          <a:noFill/>
          <a:ln/>
        </p:spPr>
        <p:txBody>
          <a:bodyPr wrap="square" lIns="0" tIns="0" rIns="0" bIns="0" rtlCol="0" anchor="t"/>
          <a:lstStyle/>
          <a:p>
            <a:pPr marL="0" indent="0">
              <a:buNone/>
            </a:pPr>
            <a:r>
              <a:rPr lang="en-US" sz="1400" b="1" dirty="0">
                <a:solidFill>
                  <a:srgbClr val="5EEAD4"/>
                </a:solidFill>
              </a:rPr>
              <a:t>Ejemplo</a:t>
            </a:r>
            <a:endParaRPr lang="en-US" sz="1400" dirty="0"/>
          </a:p>
        </p:txBody>
      </p:sp>
      <p:sp>
        <p:nvSpPr>
          <p:cNvPr id="8" name="Text 4"/>
          <p:cNvSpPr txBox="1"/>
          <p:nvPr/>
        </p:nvSpPr>
        <p:spPr>
          <a:xfrm>
            <a:off x="777240" y="2194560"/>
            <a:ext cx="1828800" cy="457200"/>
          </a:xfrm>
          <a:prstGeom prst="rect">
            <a:avLst/>
          </a:prstGeom>
          <a:noFill/>
          <a:ln/>
        </p:spPr>
        <p:txBody>
          <a:bodyPr wrap="square" lIns="0" tIns="0" rIns="0" bIns="0" rtlCol="0" anchor="ctr"/>
          <a:lstStyle/>
          <a:p>
            <a:pPr marL="0" indent="0">
              <a:buNone/>
            </a:pPr>
            <a:r>
              <a:rPr lang="en-US" sz="1500" dirty="0">
                <a:solidFill>
                  <a:srgbClr val="CBD5E1"/>
                </a:solidFill>
              </a:rPr>
              <a:t>13 de 20 tareas</a:t>
            </a:r>
            <a:endParaRPr lang="en-US" sz="1500" dirty="0"/>
          </a:p>
        </p:txBody>
      </p:sp>
      <p:sp>
        <p:nvSpPr>
          <p:cNvPr id="9" name="Text 5"/>
          <p:cNvSpPr txBox="1"/>
          <p:nvPr/>
        </p:nvSpPr>
        <p:spPr>
          <a:xfrm>
            <a:off x="2377440" y="2194560"/>
            <a:ext cx="1188720" cy="457200"/>
          </a:xfrm>
          <a:prstGeom prst="rect">
            <a:avLst/>
          </a:prstGeom>
          <a:noFill/>
          <a:ln/>
        </p:spPr>
        <p:txBody>
          <a:bodyPr wrap="square" lIns="0" tIns="0" rIns="0" bIns="0" rtlCol="0" anchor="ctr"/>
          <a:lstStyle/>
          <a:p>
            <a:pPr marL="0" indent="0" algn="r">
              <a:buNone/>
            </a:pPr>
            <a:endParaRPr lang="en-US" sz="2200" dirty="0"/>
          </a:p>
        </p:txBody>
      </p:sp>
      <p:sp>
        <p:nvSpPr>
          <p:cNvPr id="10" name="Text 6"/>
          <p:cNvSpPr txBox="1"/>
          <p:nvPr/>
        </p:nvSpPr>
        <p:spPr>
          <a:xfrm>
            <a:off x="777240" y="2852928"/>
            <a:ext cx="1828800" cy="457200"/>
          </a:xfrm>
          <a:prstGeom prst="rect">
            <a:avLst/>
          </a:prstGeom>
          <a:noFill/>
          <a:ln/>
        </p:spPr>
        <p:txBody>
          <a:bodyPr wrap="square" lIns="0" tIns="0" rIns="0" bIns="0" rtlCol="0" anchor="ctr"/>
          <a:lstStyle/>
          <a:p>
            <a:pPr marL="0" indent="0">
              <a:buNone/>
            </a:pPr>
            <a:r>
              <a:rPr lang="en-US" sz="1500" dirty="0">
                <a:solidFill>
                  <a:srgbClr val="CBD5E1"/>
                </a:solidFill>
              </a:rPr>
              <a:t>× 100 / 20</a:t>
            </a:r>
            <a:endParaRPr lang="en-US" sz="1500" dirty="0"/>
          </a:p>
        </p:txBody>
      </p:sp>
      <p:sp>
        <p:nvSpPr>
          <p:cNvPr id="11" name="Text 7"/>
          <p:cNvSpPr txBox="1"/>
          <p:nvPr/>
        </p:nvSpPr>
        <p:spPr>
          <a:xfrm>
            <a:off x="2377440" y="2852928"/>
            <a:ext cx="1188720" cy="457200"/>
          </a:xfrm>
          <a:prstGeom prst="rect">
            <a:avLst/>
          </a:prstGeom>
          <a:noFill/>
          <a:ln/>
        </p:spPr>
        <p:txBody>
          <a:bodyPr wrap="square" lIns="0" tIns="0" rIns="0" bIns="0" rtlCol="0" anchor="ctr"/>
          <a:lstStyle/>
          <a:p>
            <a:pPr marL="0" indent="0" algn="r">
              <a:buNone/>
            </a:pPr>
            <a:r>
              <a:rPr lang="en-US" sz="2200" b="1" dirty="0">
                <a:solidFill>
                  <a:schemeClr val="bg1"/>
                </a:solidFill>
              </a:rPr>
              <a:t>65</a:t>
            </a:r>
            <a:endParaRPr lang="en-US" sz="2200" dirty="0"/>
          </a:p>
        </p:txBody>
      </p:sp>
      <p:sp>
        <p:nvSpPr>
          <p:cNvPr id="12" name="Text 8"/>
          <p:cNvSpPr txBox="1"/>
          <p:nvPr/>
        </p:nvSpPr>
        <p:spPr>
          <a:xfrm>
            <a:off x="777240" y="3511296"/>
            <a:ext cx="1828800" cy="457200"/>
          </a:xfrm>
          <a:prstGeom prst="rect">
            <a:avLst/>
          </a:prstGeom>
          <a:noFill/>
          <a:ln/>
        </p:spPr>
        <p:txBody>
          <a:bodyPr wrap="square" lIns="0" tIns="0" rIns="0" bIns="0" rtlCol="0" anchor="ctr"/>
          <a:lstStyle/>
          <a:p>
            <a:pPr marL="0" indent="0">
              <a:buNone/>
            </a:pPr>
            <a:r>
              <a:rPr lang="en-US" sz="1500" dirty="0">
                <a:solidFill>
                  <a:srgbClr val="CBD5E1"/>
                </a:solidFill>
              </a:rPr>
              <a:t>bin = 65 / 10</a:t>
            </a:r>
            <a:endParaRPr lang="en-US" sz="1500" dirty="0"/>
          </a:p>
        </p:txBody>
      </p:sp>
      <p:sp>
        <p:nvSpPr>
          <p:cNvPr id="13" name="Text 9"/>
          <p:cNvSpPr txBox="1"/>
          <p:nvPr/>
        </p:nvSpPr>
        <p:spPr>
          <a:xfrm>
            <a:off x="2377440" y="3511296"/>
            <a:ext cx="1188720" cy="457200"/>
          </a:xfrm>
          <a:prstGeom prst="rect">
            <a:avLst/>
          </a:prstGeom>
          <a:noFill/>
          <a:ln/>
        </p:spPr>
        <p:txBody>
          <a:bodyPr wrap="square" lIns="0" tIns="0" rIns="0" bIns="0" rtlCol="0" anchor="ctr"/>
          <a:lstStyle/>
          <a:p>
            <a:pPr marL="0" indent="0" algn="r">
              <a:buNone/>
            </a:pPr>
            <a:r>
              <a:rPr lang="en-US" sz="2200" b="1" dirty="0">
                <a:solidFill>
                  <a:schemeClr val="bg1"/>
                </a:solidFill>
              </a:rPr>
              <a:t>6</a:t>
            </a:r>
            <a:endParaRPr lang="en-US" sz="2200" dirty="0"/>
          </a:p>
        </p:txBody>
      </p:sp>
      <p:sp>
        <p:nvSpPr>
          <p:cNvPr id="14" name="Text 10"/>
          <p:cNvSpPr txBox="1"/>
          <p:nvPr/>
        </p:nvSpPr>
        <p:spPr>
          <a:xfrm>
            <a:off x="777240" y="4169664"/>
            <a:ext cx="1828800" cy="457200"/>
          </a:xfrm>
          <a:prstGeom prst="rect">
            <a:avLst/>
          </a:prstGeom>
          <a:noFill/>
          <a:ln/>
        </p:spPr>
        <p:txBody>
          <a:bodyPr wrap="square" lIns="0" tIns="0" rIns="0" bIns="0" rtlCol="0" anchor="ctr"/>
          <a:lstStyle/>
          <a:p>
            <a:pPr marL="0" indent="0">
              <a:buNone/>
            </a:pPr>
            <a:r>
              <a:rPr lang="en-US" sz="1500" dirty="0">
                <a:solidFill>
                  <a:srgbClr val="CBD5E1"/>
                </a:solidFill>
              </a:rPr>
              <a:t>4 bits</a:t>
            </a:r>
            <a:endParaRPr lang="en-US" sz="1500" dirty="0"/>
          </a:p>
        </p:txBody>
      </p:sp>
      <p:sp>
        <p:nvSpPr>
          <p:cNvPr id="15" name="Text 11"/>
          <p:cNvSpPr txBox="1"/>
          <p:nvPr/>
        </p:nvSpPr>
        <p:spPr>
          <a:xfrm>
            <a:off x="2377440" y="4169664"/>
            <a:ext cx="1188720" cy="457200"/>
          </a:xfrm>
          <a:prstGeom prst="rect">
            <a:avLst/>
          </a:prstGeom>
          <a:noFill/>
          <a:ln/>
        </p:spPr>
        <p:txBody>
          <a:bodyPr wrap="square" lIns="0" tIns="0" rIns="0" bIns="0" rtlCol="0" anchor="ctr"/>
          <a:lstStyle/>
          <a:p>
            <a:pPr marL="0" indent="0" algn="r">
              <a:buNone/>
            </a:pPr>
            <a:r>
              <a:rPr lang="en-US" sz="2200" b="1" dirty="0">
                <a:solidFill>
                  <a:srgbClr val="FBBF24"/>
                </a:solidFill>
                <a:latin typeface="Courier New" pitchFamily="34" charset="0"/>
                <a:ea typeface="Courier New" pitchFamily="34" charset="-122"/>
                <a:cs typeface="Courier New" pitchFamily="34" charset="-120"/>
              </a:rPr>
              <a:t>0110</a:t>
            </a:r>
            <a:endParaRPr lang="en-US" sz="2200" dirty="0"/>
          </a:p>
        </p:txBody>
      </p:sp>
      <p:sp>
        <p:nvSpPr>
          <p:cNvPr id="16" name="Text 12"/>
          <p:cNvSpPr txBox="1"/>
          <p:nvPr/>
        </p:nvSpPr>
        <p:spPr>
          <a:xfrm>
            <a:off x="777240" y="4937760"/>
            <a:ext cx="2743200" cy="822960"/>
          </a:xfrm>
          <a:prstGeom prst="rect">
            <a:avLst/>
          </a:prstGeom>
          <a:noFill/>
          <a:ln/>
        </p:spPr>
        <p:txBody>
          <a:bodyPr wrap="square" lIns="0" tIns="0" rIns="0" bIns="0" rtlCol="0" anchor="t"/>
          <a:lstStyle/>
          <a:p>
            <a:pPr marL="0" indent="0">
              <a:buNone/>
            </a:pPr>
            <a:r>
              <a:rPr lang="en-US" sz="1600" b="1" dirty="0">
                <a:solidFill>
                  <a:schemeClr val="bg1"/>
                </a:solidFill>
              </a:rPr>
              <a:t>5 variables × 4 bits = 20 bits por alumno</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ART 1 en nuestro sistema</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2 · ETAPA 4</a:t>
            </a:r>
            <a:endParaRPr lang="en-US" sz="1200" dirty="0"/>
          </a:p>
        </p:txBody>
      </p:sp>
      <p:pic>
        <p:nvPicPr>
          <p:cNvPr id="5" name="Image 0" descr="figuras_esquema/5-art1.png"/>
          <p:cNvPicPr>
            <a:picLocks noChangeAspect="1"/>
          </p:cNvPicPr>
          <p:nvPr/>
        </p:nvPicPr>
        <p:blipFill>
          <a:blip r:embed="rId3"/>
          <a:stretch>
            <a:fillRect/>
          </a:stretch>
        </p:blipFill>
        <p:spPr>
          <a:xfrm>
            <a:off x="548640" y="1463040"/>
            <a:ext cx="7680960" cy="4723790"/>
          </a:xfrm>
          <a:prstGeom prst="rect">
            <a:avLst/>
          </a:prstGeom>
        </p:spPr>
      </p:pic>
      <p:sp>
        <p:nvSpPr>
          <p:cNvPr id="6" name="Shape 2"/>
          <p:cNvSpPr/>
          <p:nvPr/>
        </p:nvSpPr>
        <p:spPr>
          <a:xfrm>
            <a:off x="8503920" y="1600200"/>
            <a:ext cx="3154680" cy="1325880"/>
          </a:xfrm>
          <a:prstGeom prst="roundRect">
            <a:avLst>
              <a:gd name="adj" fmla="val 827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7" name="Text 3"/>
          <p:cNvSpPr txBox="1"/>
          <p:nvPr/>
        </p:nvSpPr>
        <p:spPr>
          <a:xfrm>
            <a:off x="8686800" y="1709928"/>
            <a:ext cx="2834640" cy="685800"/>
          </a:xfrm>
          <a:prstGeom prst="rect">
            <a:avLst/>
          </a:prstGeom>
          <a:noFill/>
          <a:ln/>
        </p:spPr>
        <p:txBody>
          <a:bodyPr wrap="square" lIns="0" tIns="0" rIns="0" bIns="0" rtlCol="0" anchor="t"/>
          <a:lstStyle/>
          <a:p>
            <a:pPr marL="0" indent="0">
              <a:buNone/>
            </a:pPr>
            <a:r>
              <a:rPr lang="en-US" sz="3800" b="1" dirty="0">
                <a:solidFill>
                  <a:schemeClr val="accent1"/>
                </a:solidFill>
              </a:rPr>
              <a:t>871</a:t>
            </a:r>
            <a:endParaRPr lang="en-US" sz="3800" dirty="0"/>
          </a:p>
        </p:txBody>
      </p:sp>
      <p:sp>
        <p:nvSpPr>
          <p:cNvPr id="8" name="Text 4"/>
          <p:cNvSpPr txBox="1"/>
          <p:nvPr/>
        </p:nvSpPr>
        <p:spPr>
          <a:xfrm>
            <a:off x="8686800" y="2404872"/>
            <a:ext cx="2834640" cy="411480"/>
          </a:xfrm>
          <a:prstGeom prst="rect">
            <a:avLst/>
          </a:prstGeom>
          <a:noFill/>
          <a:ln/>
        </p:spPr>
        <p:txBody>
          <a:bodyPr wrap="square" lIns="0" tIns="0" rIns="0" bIns="0" rtlCol="0" anchor="t"/>
          <a:lstStyle/>
          <a:p>
            <a:pPr marL="0" indent="0">
              <a:buNone/>
            </a:pPr>
            <a:r>
              <a:rPr lang="en-US" sz="1300" dirty="0">
                <a:solidFill>
                  <a:schemeClr val="tx1"/>
                </a:solidFill>
              </a:rPr>
              <a:t>nodos para 8.000 alumnos</a:t>
            </a:r>
            <a:endParaRPr lang="en-US" sz="1300" dirty="0"/>
          </a:p>
        </p:txBody>
      </p:sp>
      <p:sp>
        <p:nvSpPr>
          <p:cNvPr id="9" name="Shape 5"/>
          <p:cNvSpPr/>
          <p:nvPr/>
        </p:nvSpPr>
        <p:spPr>
          <a:xfrm>
            <a:off x="8503920" y="3108960"/>
            <a:ext cx="3154680" cy="1325880"/>
          </a:xfrm>
          <a:prstGeom prst="roundRect">
            <a:avLst>
              <a:gd name="adj" fmla="val 827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0" name="Text 6"/>
          <p:cNvSpPr txBox="1"/>
          <p:nvPr/>
        </p:nvSpPr>
        <p:spPr>
          <a:xfrm>
            <a:off x="8686800" y="3218688"/>
            <a:ext cx="2834640" cy="685800"/>
          </a:xfrm>
          <a:prstGeom prst="rect">
            <a:avLst/>
          </a:prstGeom>
          <a:noFill/>
          <a:ln/>
        </p:spPr>
        <p:txBody>
          <a:bodyPr wrap="square" lIns="0" tIns="0" rIns="0" bIns="0" rtlCol="0" anchor="t"/>
          <a:lstStyle/>
          <a:p>
            <a:pPr marL="0" indent="0">
              <a:buNone/>
            </a:pPr>
            <a:r>
              <a:rPr lang="en-US" sz="3800" b="1" dirty="0">
                <a:solidFill>
                  <a:schemeClr val="accent1"/>
                </a:solidFill>
              </a:rPr>
              <a:t>0,109</a:t>
            </a:r>
            <a:endParaRPr lang="en-US" sz="3800" dirty="0"/>
          </a:p>
        </p:txBody>
      </p:sp>
      <p:sp>
        <p:nvSpPr>
          <p:cNvPr id="11" name="Text 7"/>
          <p:cNvSpPr txBox="1"/>
          <p:nvPr/>
        </p:nvSpPr>
        <p:spPr>
          <a:xfrm>
            <a:off x="8686800" y="3913632"/>
            <a:ext cx="2834640" cy="411480"/>
          </a:xfrm>
          <a:prstGeom prst="rect">
            <a:avLst/>
          </a:prstGeom>
          <a:noFill/>
          <a:ln/>
        </p:spPr>
        <p:txBody>
          <a:bodyPr wrap="square" lIns="0" tIns="0" rIns="0" bIns="0" rtlCol="0" anchor="t"/>
          <a:lstStyle/>
          <a:p>
            <a:pPr marL="0" indent="0">
              <a:buNone/>
            </a:pPr>
            <a:r>
              <a:rPr lang="en-US" sz="1300" dirty="0">
                <a:solidFill>
                  <a:schemeClr val="tx1"/>
                </a:solidFill>
              </a:rPr>
              <a:t>compresión CR (meta 0,05–0,20)</a:t>
            </a:r>
            <a:endParaRPr lang="en-US" sz="1300" dirty="0"/>
          </a:p>
        </p:txBody>
      </p:sp>
      <p:sp>
        <p:nvSpPr>
          <p:cNvPr id="12" name="Shape 8"/>
          <p:cNvSpPr/>
          <p:nvPr/>
        </p:nvSpPr>
        <p:spPr>
          <a:xfrm>
            <a:off x="8503920" y="4617720"/>
            <a:ext cx="3154680" cy="1325880"/>
          </a:xfrm>
          <a:prstGeom prst="roundRect">
            <a:avLst>
              <a:gd name="adj" fmla="val 827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3" name="Text 9"/>
          <p:cNvSpPr txBox="1"/>
          <p:nvPr/>
        </p:nvSpPr>
        <p:spPr>
          <a:xfrm>
            <a:off x="8686800" y="4727448"/>
            <a:ext cx="2834640" cy="685800"/>
          </a:xfrm>
          <a:prstGeom prst="rect">
            <a:avLst/>
          </a:prstGeom>
          <a:noFill/>
          <a:ln/>
        </p:spPr>
        <p:txBody>
          <a:bodyPr wrap="square" lIns="0" tIns="0" rIns="0" bIns="0" rtlCol="0" anchor="t"/>
          <a:lstStyle/>
          <a:p>
            <a:pPr marL="0" indent="0">
              <a:buNone/>
            </a:pPr>
            <a:r>
              <a:rPr lang="en-US" sz="3800" b="1" dirty="0">
                <a:solidFill>
                  <a:schemeClr val="accent1"/>
                </a:solidFill>
              </a:rPr>
              <a:t>81,4%</a:t>
            </a:r>
            <a:endParaRPr lang="en-US" sz="3800" dirty="0"/>
          </a:p>
        </p:txBody>
      </p:sp>
      <p:sp>
        <p:nvSpPr>
          <p:cNvPr id="14" name="Text 10"/>
          <p:cNvSpPr txBox="1"/>
          <p:nvPr/>
        </p:nvSpPr>
        <p:spPr>
          <a:xfrm>
            <a:off x="8686800" y="5422392"/>
            <a:ext cx="2834640" cy="411480"/>
          </a:xfrm>
          <a:prstGeom prst="rect">
            <a:avLst/>
          </a:prstGeom>
          <a:noFill/>
          <a:ln/>
        </p:spPr>
        <p:txBody>
          <a:bodyPr wrap="square" lIns="0" tIns="0" rIns="0" bIns="0" rtlCol="0" anchor="t"/>
          <a:lstStyle/>
          <a:p>
            <a:pPr marL="0" indent="0">
              <a:buNone/>
            </a:pPr>
            <a:r>
              <a:rPr lang="en-US" sz="1300" dirty="0">
                <a:solidFill>
                  <a:schemeClr val="tx1"/>
                </a:solidFill>
              </a:rPr>
              <a:t>pureza respecto de EM (meta ≥ 80%)</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El parámetro de vigilancia ρ: por qué 0,65</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2 · BARRIDO DE Ρ (D-13)</a:t>
            </a:r>
            <a:endParaRPr lang="en-US" sz="1200" dirty="0"/>
          </a:p>
        </p:txBody>
      </p:sp>
      <p:sp>
        <p:nvSpPr>
          <p:cNvPr id="5" name="Shape 2"/>
          <p:cNvSpPr/>
          <p:nvPr/>
        </p:nvSpPr>
        <p:spPr>
          <a:xfrm>
            <a:off x="548640" y="1554480"/>
            <a:ext cx="3520440" cy="3017520"/>
          </a:xfrm>
          <a:prstGeom prst="roundRect">
            <a:avLst>
              <a:gd name="adj" fmla="val 363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graphicFrame>
        <p:nvGraphicFramePr>
          <p:cNvPr id="6" name="Chart 0"/>
          <p:cNvGraphicFramePr/>
          <p:nvPr/>
        </p:nvGraphicFramePr>
        <p:xfrm>
          <a:off x="640080" y="1645920"/>
          <a:ext cx="3337560" cy="2834640"/>
        </p:xfrm>
        <a:graphic>
          <a:graphicData uri="http://schemas.openxmlformats.org/drawingml/2006/chart">
            <c:chart xmlns:c="http://schemas.openxmlformats.org/drawingml/2006/chart" xmlns:r="http://schemas.openxmlformats.org/officeDocument/2006/relationships" r:id="rId3"/>
          </a:graphicData>
        </a:graphic>
      </p:graphicFrame>
      <p:sp>
        <p:nvSpPr>
          <p:cNvPr id="7" name="Shape 3"/>
          <p:cNvSpPr/>
          <p:nvPr/>
        </p:nvSpPr>
        <p:spPr>
          <a:xfrm>
            <a:off x="4297680" y="1554480"/>
            <a:ext cx="3520440" cy="3017520"/>
          </a:xfrm>
          <a:prstGeom prst="roundRect">
            <a:avLst>
              <a:gd name="adj" fmla="val 363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graphicFrame>
        <p:nvGraphicFramePr>
          <p:cNvPr id="8" name="Chart 1"/>
          <p:cNvGraphicFramePr/>
          <p:nvPr/>
        </p:nvGraphicFramePr>
        <p:xfrm>
          <a:off x="4389120" y="1645920"/>
          <a:ext cx="333756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9" name="Shape 4"/>
          <p:cNvSpPr/>
          <p:nvPr/>
        </p:nvSpPr>
        <p:spPr>
          <a:xfrm>
            <a:off x="8046720" y="1554480"/>
            <a:ext cx="3520440" cy="3017520"/>
          </a:xfrm>
          <a:prstGeom prst="roundRect">
            <a:avLst>
              <a:gd name="adj" fmla="val 363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graphicFrame>
        <p:nvGraphicFramePr>
          <p:cNvPr id="10" name="Chart 2"/>
          <p:cNvGraphicFramePr/>
          <p:nvPr/>
        </p:nvGraphicFramePr>
        <p:xfrm>
          <a:off x="8138160" y="1645920"/>
          <a:ext cx="3337560" cy="2834640"/>
        </p:xfrm>
        <a:graphic>
          <a:graphicData uri="http://schemas.openxmlformats.org/drawingml/2006/chart">
            <c:chart xmlns:c="http://schemas.openxmlformats.org/drawingml/2006/chart" xmlns:r="http://schemas.openxmlformats.org/officeDocument/2006/relationships" r:id="rId5"/>
          </a:graphicData>
        </a:graphic>
      </p:graphicFrame>
      <p:sp>
        <p:nvSpPr>
          <p:cNvPr id="11" name="Shape 5"/>
          <p:cNvSpPr/>
          <p:nvPr/>
        </p:nvSpPr>
        <p:spPr>
          <a:xfrm>
            <a:off x="548640" y="4800600"/>
            <a:ext cx="3520440" cy="1280160"/>
          </a:xfrm>
          <a:prstGeom prst="roundRect">
            <a:avLst>
              <a:gd name="adj" fmla="val 8571"/>
            </a:avLst>
          </a:prstGeom>
          <a:solidFill>
            <a:schemeClr val="bg2"/>
          </a:solidFill>
          <a:ln/>
        </p:spPr>
        <p:txBody>
          <a:bodyPr/>
          <a:lstStyle/>
          <a:p>
            <a:endParaRPr lang="es-AR"/>
          </a:p>
        </p:txBody>
      </p:sp>
      <p:sp>
        <p:nvSpPr>
          <p:cNvPr id="12" name="Text 6"/>
          <p:cNvSpPr txBox="1"/>
          <p:nvPr/>
        </p:nvSpPr>
        <p:spPr>
          <a:xfrm>
            <a:off x="731520" y="4892040"/>
            <a:ext cx="3200400" cy="365760"/>
          </a:xfrm>
          <a:prstGeom prst="rect">
            <a:avLst/>
          </a:prstGeom>
          <a:noFill/>
          <a:ln/>
        </p:spPr>
        <p:txBody>
          <a:bodyPr wrap="square" lIns="0" tIns="0" rIns="0" bIns="0" rtlCol="0" anchor="t"/>
          <a:lstStyle/>
          <a:p>
            <a:pPr marL="0" indent="0">
              <a:buNone/>
            </a:pPr>
            <a:r>
              <a:rPr lang="en-US" sz="1800" b="1" dirty="0">
                <a:solidFill>
                  <a:schemeClr val="tx1"/>
                </a:solidFill>
              </a:rPr>
              <a:t>ρ = 0,60</a:t>
            </a:r>
            <a:endParaRPr lang="en-US" sz="1800" dirty="0"/>
          </a:p>
        </p:txBody>
      </p:sp>
      <p:sp>
        <p:nvSpPr>
          <p:cNvPr id="13" name="Text 7"/>
          <p:cNvSpPr txBox="1"/>
          <p:nvPr/>
        </p:nvSpPr>
        <p:spPr>
          <a:xfrm>
            <a:off x="731520" y="5285232"/>
            <a:ext cx="3200400" cy="320040"/>
          </a:xfrm>
          <a:prstGeom prst="rect">
            <a:avLst/>
          </a:prstGeom>
          <a:noFill/>
          <a:ln/>
        </p:spPr>
        <p:txBody>
          <a:bodyPr wrap="square" lIns="0" tIns="0" rIns="0" bIns="0" rtlCol="0" anchor="t"/>
          <a:lstStyle/>
          <a:p>
            <a:pPr marL="0" indent="0">
              <a:buNone/>
            </a:pPr>
            <a:r>
              <a:rPr lang="en-US" sz="1300" dirty="0">
                <a:solidFill>
                  <a:schemeClr val="tx1"/>
                </a:solidFill>
              </a:rPr>
              <a:t>pureza 78,3% · 690 nodos · MAE 0,97</a:t>
            </a:r>
            <a:endParaRPr lang="en-US" sz="1300" dirty="0"/>
          </a:p>
        </p:txBody>
      </p:sp>
      <p:sp>
        <p:nvSpPr>
          <p:cNvPr id="14" name="Text 8"/>
          <p:cNvSpPr txBox="1"/>
          <p:nvPr/>
        </p:nvSpPr>
        <p:spPr>
          <a:xfrm>
            <a:off x="731520" y="5605272"/>
            <a:ext cx="3200400" cy="320040"/>
          </a:xfrm>
          <a:prstGeom prst="rect">
            <a:avLst/>
          </a:prstGeom>
          <a:noFill/>
          <a:ln/>
        </p:spPr>
        <p:txBody>
          <a:bodyPr wrap="square" lIns="0" tIns="0" rIns="0" bIns="0" rtlCol="0" anchor="t"/>
          <a:lstStyle/>
          <a:p>
            <a:pPr marL="0" indent="0">
              <a:buNone/>
            </a:pPr>
            <a:r>
              <a:rPr lang="en-US" sz="1300" i="1" dirty="0">
                <a:solidFill>
                  <a:schemeClr val="tx1"/>
                </a:solidFill>
              </a:rPr>
              <a:t>no llega al 80%</a:t>
            </a:r>
            <a:endParaRPr lang="en-US" sz="1300" dirty="0"/>
          </a:p>
        </p:txBody>
      </p:sp>
      <p:sp>
        <p:nvSpPr>
          <p:cNvPr id="15" name="Shape 9"/>
          <p:cNvSpPr/>
          <p:nvPr/>
        </p:nvSpPr>
        <p:spPr>
          <a:xfrm>
            <a:off x="4297680" y="4800600"/>
            <a:ext cx="3520440" cy="1280160"/>
          </a:xfrm>
          <a:prstGeom prst="roundRect">
            <a:avLst>
              <a:gd name="adj" fmla="val 8571"/>
            </a:avLst>
          </a:prstGeom>
          <a:solidFill>
            <a:schemeClr val="accent1"/>
          </a:solidFill>
          <a:ln/>
        </p:spPr>
        <p:txBody>
          <a:bodyPr/>
          <a:lstStyle/>
          <a:p>
            <a:endParaRPr lang="es-AR"/>
          </a:p>
        </p:txBody>
      </p:sp>
      <p:sp>
        <p:nvSpPr>
          <p:cNvPr id="16" name="Text 10"/>
          <p:cNvSpPr txBox="1"/>
          <p:nvPr/>
        </p:nvSpPr>
        <p:spPr>
          <a:xfrm>
            <a:off x="4480560" y="4892040"/>
            <a:ext cx="3200400" cy="365760"/>
          </a:xfrm>
          <a:prstGeom prst="rect">
            <a:avLst/>
          </a:prstGeom>
          <a:noFill/>
          <a:ln/>
        </p:spPr>
        <p:txBody>
          <a:bodyPr wrap="square" lIns="0" tIns="0" rIns="0" bIns="0" rtlCol="0" anchor="t"/>
          <a:lstStyle/>
          <a:p>
            <a:pPr marL="0" indent="0">
              <a:buNone/>
            </a:pPr>
            <a:r>
              <a:rPr lang="en-US" sz="1800" b="1" dirty="0">
                <a:solidFill>
                  <a:schemeClr val="bg1"/>
                </a:solidFill>
              </a:rPr>
              <a:t>ρ = 0,65  ✓ elegido</a:t>
            </a:r>
            <a:endParaRPr lang="en-US" sz="1800" dirty="0"/>
          </a:p>
        </p:txBody>
      </p:sp>
      <p:sp>
        <p:nvSpPr>
          <p:cNvPr id="17" name="Text 11"/>
          <p:cNvSpPr txBox="1"/>
          <p:nvPr/>
        </p:nvSpPr>
        <p:spPr>
          <a:xfrm>
            <a:off x="4480560" y="5285232"/>
            <a:ext cx="3200400" cy="320040"/>
          </a:xfrm>
          <a:prstGeom prst="rect">
            <a:avLst/>
          </a:prstGeom>
          <a:noFill/>
          <a:ln/>
        </p:spPr>
        <p:txBody>
          <a:bodyPr wrap="square" lIns="0" tIns="0" rIns="0" bIns="0" rtlCol="0" anchor="t"/>
          <a:lstStyle/>
          <a:p>
            <a:pPr marL="0" indent="0">
              <a:buNone/>
            </a:pPr>
            <a:r>
              <a:rPr lang="en-US" sz="1300" dirty="0">
                <a:solidFill>
                  <a:schemeClr val="bg1"/>
                </a:solidFill>
              </a:rPr>
              <a:t>pureza 81,4% · 871 nodos · MAE 0,94</a:t>
            </a:r>
            <a:endParaRPr lang="en-US" sz="1300" dirty="0"/>
          </a:p>
        </p:txBody>
      </p:sp>
      <p:sp>
        <p:nvSpPr>
          <p:cNvPr id="18" name="Text 12"/>
          <p:cNvSpPr txBox="1"/>
          <p:nvPr/>
        </p:nvSpPr>
        <p:spPr>
          <a:xfrm>
            <a:off x="4480560" y="5605272"/>
            <a:ext cx="3200400" cy="320040"/>
          </a:xfrm>
          <a:prstGeom prst="rect">
            <a:avLst/>
          </a:prstGeom>
          <a:noFill/>
          <a:ln/>
        </p:spPr>
        <p:txBody>
          <a:bodyPr wrap="square" lIns="0" tIns="0" rIns="0" bIns="0" rtlCol="0" anchor="t"/>
          <a:lstStyle/>
          <a:p>
            <a:pPr marL="0" indent="0">
              <a:buNone/>
            </a:pPr>
            <a:r>
              <a:rPr lang="en-US" sz="1300" i="1" dirty="0">
                <a:solidFill>
                  <a:schemeClr val="bg1"/>
                </a:solidFill>
              </a:rPr>
              <a:t>el menor error del barrido</a:t>
            </a:r>
            <a:endParaRPr lang="en-US" sz="1300" dirty="0"/>
          </a:p>
        </p:txBody>
      </p:sp>
      <p:sp>
        <p:nvSpPr>
          <p:cNvPr id="19" name="Shape 13"/>
          <p:cNvSpPr/>
          <p:nvPr/>
        </p:nvSpPr>
        <p:spPr>
          <a:xfrm>
            <a:off x="8046720" y="4800600"/>
            <a:ext cx="3520440" cy="1280160"/>
          </a:xfrm>
          <a:prstGeom prst="roundRect">
            <a:avLst>
              <a:gd name="adj" fmla="val 8571"/>
            </a:avLst>
          </a:prstGeom>
          <a:solidFill>
            <a:schemeClr val="bg2"/>
          </a:solidFill>
          <a:ln/>
        </p:spPr>
        <p:txBody>
          <a:bodyPr/>
          <a:lstStyle/>
          <a:p>
            <a:endParaRPr lang="es-AR"/>
          </a:p>
        </p:txBody>
      </p:sp>
      <p:sp>
        <p:nvSpPr>
          <p:cNvPr id="20" name="Text 14"/>
          <p:cNvSpPr txBox="1"/>
          <p:nvPr/>
        </p:nvSpPr>
        <p:spPr>
          <a:xfrm>
            <a:off x="8229600" y="4892040"/>
            <a:ext cx="3200400" cy="365760"/>
          </a:xfrm>
          <a:prstGeom prst="rect">
            <a:avLst/>
          </a:prstGeom>
          <a:noFill/>
          <a:ln/>
        </p:spPr>
        <p:txBody>
          <a:bodyPr wrap="square" lIns="0" tIns="0" rIns="0" bIns="0" rtlCol="0" anchor="t"/>
          <a:lstStyle/>
          <a:p>
            <a:pPr marL="0" indent="0">
              <a:buNone/>
            </a:pPr>
            <a:r>
              <a:rPr lang="en-US" sz="1800" b="1" dirty="0">
                <a:solidFill>
                  <a:schemeClr val="tx1"/>
                </a:solidFill>
              </a:rPr>
              <a:t>ρ = 0,70</a:t>
            </a:r>
            <a:endParaRPr lang="en-US" sz="1800" dirty="0"/>
          </a:p>
        </p:txBody>
      </p:sp>
      <p:sp>
        <p:nvSpPr>
          <p:cNvPr id="21" name="Text 15"/>
          <p:cNvSpPr txBox="1"/>
          <p:nvPr/>
        </p:nvSpPr>
        <p:spPr>
          <a:xfrm>
            <a:off x="8229600" y="5285232"/>
            <a:ext cx="3200400" cy="320040"/>
          </a:xfrm>
          <a:prstGeom prst="rect">
            <a:avLst/>
          </a:prstGeom>
          <a:noFill/>
          <a:ln/>
        </p:spPr>
        <p:txBody>
          <a:bodyPr wrap="square" lIns="0" tIns="0" rIns="0" bIns="0" rtlCol="0" anchor="t"/>
          <a:lstStyle/>
          <a:p>
            <a:pPr marL="0" indent="0">
              <a:buNone/>
            </a:pPr>
            <a:r>
              <a:rPr lang="en-US" sz="1300" dirty="0">
                <a:solidFill>
                  <a:schemeClr val="tx1"/>
                </a:solidFill>
              </a:rPr>
              <a:t>pureza 84,5% · 1.220 nodos · MAE 0,96</a:t>
            </a:r>
            <a:endParaRPr lang="en-US" sz="1300" dirty="0"/>
          </a:p>
        </p:txBody>
      </p:sp>
      <p:sp>
        <p:nvSpPr>
          <p:cNvPr id="22" name="Text 16"/>
          <p:cNvSpPr txBox="1"/>
          <p:nvPr/>
        </p:nvSpPr>
        <p:spPr>
          <a:xfrm>
            <a:off x="8229600" y="5605272"/>
            <a:ext cx="3200400" cy="320040"/>
          </a:xfrm>
          <a:prstGeom prst="rect">
            <a:avLst/>
          </a:prstGeom>
          <a:noFill/>
          <a:ln/>
        </p:spPr>
        <p:txBody>
          <a:bodyPr wrap="square" lIns="0" tIns="0" rIns="0" bIns="0" rtlCol="0" anchor="t"/>
          <a:lstStyle/>
          <a:p>
            <a:pPr marL="0" indent="0">
              <a:buNone/>
            </a:pPr>
            <a:r>
              <a:rPr lang="en-US" sz="1300" i="1" dirty="0">
                <a:solidFill>
                  <a:schemeClr val="tx1"/>
                </a:solidFill>
              </a:rPr>
              <a:t>más nodos y más error</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Manual rápido: CLI y app visual</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2 · CÓMO SE USA</a:t>
            </a:r>
            <a:endParaRPr lang="en-US" sz="1200" dirty="0"/>
          </a:p>
        </p:txBody>
      </p:sp>
      <p:sp>
        <p:nvSpPr>
          <p:cNvPr id="5" name="Shape 2"/>
          <p:cNvSpPr/>
          <p:nvPr/>
        </p:nvSpPr>
        <p:spPr>
          <a:xfrm>
            <a:off x="548640" y="1554480"/>
            <a:ext cx="6858000" cy="1417320"/>
          </a:xfrm>
          <a:prstGeom prst="roundRect">
            <a:avLst>
              <a:gd name="adj" fmla="val 7742"/>
            </a:avLst>
          </a:prstGeom>
          <a:solidFill>
            <a:schemeClr val="tx2"/>
          </a:solidFill>
          <a:ln/>
        </p:spPr>
        <p:txBody>
          <a:bodyPr/>
          <a:lstStyle/>
          <a:p>
            <a:endParaRPr lang="es-AR"/>
          </a:p>
        </p:txBody>
      </p:sp>
      <p:sp>
        <p:nvSpPr>
          <p:cNvPr id="6" name="Text 3"/>
          <p:cNvSpPr txBox="1"/>
          <p:nvPr/>
        </p:nvSpPr>
        <p:spPr>
          <a:xfrm>
            <a:off x="777240" y="1691640"/>
            <a:ext cx="6492240" cy="1188720"/>
          </a:xfrm>
          <a:prstGeom prst="rect">
            <a:avLst/>
          </a:prstGeom>
          <a:noFill/>
          <a:ln/>
        </p:spPr>
        <p:txBody>
          <a:bodyPr wrap="square" lIns="0" tIns="0" rIns="0" bIns="0" rtlCol="0" anchor="ctr"/>
          <a:lstStyle/>
          <a:p>
            <a:pPr marL="0" indent="0">
              <a:spcAft>
                <a:spcPts val="400"/>
              </a:spcAft>
              <a:buNone/>
            </a:pPr>
            <a:r>
              <a:rPr lang="en-US" sz="1400" dirty="0">
                <a:solidFill>
                  <a:srgbClr val="5EEAD4"/>
                </a:solidFill>
                <a:latin typeface="Courier New" pitchFamily="34" charset="0"/>
                <a:ea typeface="Courier New" pitchFamily="34" charset="-122"/>
                <a:cs typeface="Courier New" pitchFamily="34" charset="-120"/>
              </a:rPr>
              <a:t>&gt; py -3.13 CarGross.py --mode eval --dataset 1</a:t>
            </a:r>
            <a:endParaRPr lang="en-US" sz="1400" dirty="0"/>
          </a:p>
          <a:p>
            <a:pPr marL="0" indent="0">
              <a:spcAft>
                <a:spcPts val="400"/>
              </a:spcAft>
              <a:buNone/>
            </a:pPr>
            <a:r>
              <a:rPr lang="en-US" sz="1400" dirty="0">
                <a:solidFill>
                  <a:srgbClr val="5EEAD4"/>
                </a:solidFill>
                <a:latin typeface="Courier New" pitchFamily="34" charset="0"/>
                <a:ea typeface="Courier New" pitchFamily="34" charset="-122"/>
                <a:cs typeface="Courier New" pitchFamily="34" charset="-120"/>
              </a:rPr>
              <a:t>&gt; py -3.13 CarGross.py --mode predict -i alumnos.csv</a:t>
            </a:r>
            <a:endParaRPr lang="en-US" sz="1400" dirty="0"/>
          </a:p>
          <a:p>
            <a:pPr marL="0" indent="0">
              <a:spcAft>
                <a:spcPts val="400"/>
              </a:spcAft>
              <a:buNone/>
            </a:pPr>
            <a:r>
              <a:rPr lang="en-US" sz="1400" dirty="0">
                <a:solidFill>
                  <a:srgbClr val="5EEAD4"/>
                </a:solidFill>
                <a:latin typeface="Courier New" pitchFamily="34" charset="0"/>
                <a:ea typeface="Courier New" pitchFamily="34" charset="-122"/>
                <a:cs typeface="Courier New" pitchFamily="34" charset="-120"/>
              </a:rPr>
              <a:t>&gt; py -3.13 CarGross.py --man</a:t>
            </a:r>
            <a:endParaRPr lang="en-US" sz="1400" dirty="0"/>
          </a:p>
        </p:txBody>
      </p:sp>
      <p:sp>
        <p:nvSpPr>
          <p:cNvPr id="7" name="Shape 4"/>
          <p:cNvSpPr/>
          <p:nvPr/>
        </p:nvSpPr>
        <p:spPr>
          <a:xfrm>
            <a:off x="548640" y="3154680"/>
            <a:ext cx="1280160" cy="960120"/>
          </a:xfrm>
          <a:prstGeom prst="roundRect">
            <a:avLst>
              <a:gd name="adj" fmla="val 11429"/>
            </a:avLst>
          </a:prstGeom>
          <a:solidFill>
            <a:schemeClr val="bg2"/>
          </a:solidFill>
          <a:ln/>
        </p:spPr>
        <p:txBody>
          <a:bodyPr/>
          <a:lstStyle/>
          <a:p>
            <a:endParaRPr lang="es-AR"/>
          </a:p>
        </p:txBody>
      </p:sp>
      <p:sp>
        <p:nvSpPr>
          <p:cNvPr id="8" name="Text 5"/>
          <p:cNvSpPr txBox="1"/>
          <p:nvPr/>
        </p:nvSpPr>
        <p:spPr>
          <a:xfrm>
            <a:off x="548640" y="3227832"/>
            <a:ext cx="1280160" cy="365760"/>
          </a:xfrm>
          <a:prstGeom prst="rect">
            <a:avLst/>
          </a:prstGeom>
          <a:noFill/>
          <a:ln/>
        </p:spPr>
        <p:txBody>
          <a:bodyPr wrap="square" lIns="0" tIns="0" rIns="0" bIns="0" rtlCol="0" anchor="t"/>
          <a:lstStyle/>
          <a:p>
            <a:pPr marL="0" indent="0" algn="ctr">
              <a:buNone/>
            </a:pPr>
            <a:r>
              <a:rPr lang="en-US" sz="1600" b="1" dirty="0">
                <a:solidFill>
                  <a:schemeClr val="accent1"/>
                </a:solidFill>
                <a:latin typeface="Courier New" pitchFamily="34" charset="0"/>
                <a:ea typeface="Courier New" pitchFamily="34" charset="-122"/>
                <a:cs typeface="Courier New" pitchFamily="34" charset="-120"/>
              </a:rPr>
              <a:t>demo</a:t>
            </a:r>
            <a:endParaRPr lang="en-US" sz="1600" dirty="0"/>
          </a:p>
        </p:txBody>
      </p:sp>
      <p:sp>
        <p:nvSpPr>
          <p:cNvPr id="9" name="Text 6"/>
          <p:cNvSpPr txBox="1"/>
          <p:nvPr/>
        </p:nvSpPr>
        <p:spPr>
          <a:xfrm>
            <a:off x="594360" y="3611880"/>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prueba en ~3 s</a:t>
            </a:r>
            <a:endParaRPr lang="en-US" sz="1200" dirty="0"/>
          </a:p>
        </p:txBody>
      </p:sp>
      <p:sp>
        <p:nvSpPr>
          <p:cNvPr id="10" name="Shape 7"/>
          <p:cNvSpPr/>
          <p:nvPr/>
        </p:nvSpPr>
        <p:spPr>
          <a:xfrm>
            <a:off x="1938528" y="3154680"/>
            <a:ext cx="1280160" cy="960120"/>
          </a:xfrm>
          <a:prstGeom prst="roundRect">
            <a:avLst>
              <a:gd name="adj" fmla="val 11429"/>
            </a:avLst>
          </a:prstGeom>
          <a:solidFill>
            <a:schemeClr val="bg2"/>
          </a:solidFill>
          <a:ln/>
        </p:spPr>
        <p:txBody>
          <a:bodyPr/>
          <a:lstStyle/>
          <a:p>
            <a:endParaRPr lang="es-AR"/>
          </a:p>
        </p:txBody>
      </p:sp>
      <p:sp>
        <p:nvSpPr>
          <p:cNvPr id="11" name="Text 8"/>
          <p:cNvSpPr txBox="1"/>
          <p:nvPr/>
        </p:nvSpPr>
        <p:spPr>
          <a:xfrm>
            <a:off x="1938528" y="3227832"/>
            <a:ext cx="1280160" cy="365760"/>
          </a:xfrm>
          <a:prstGeom prst="rect">
            <a:avLst/>
          </a:prstGeom>
          <a:noFill/>
          <a:ln/>
        </p:spPr>
        <p:txBody>
          <a:bodyPr wrap="square" lIns="0" tIns="0" rIns="0" bIns="0" rtlCol="0" anchor="t"/>
          <a:lstStyle/>
          <a:p>
            <a:pPr marL="0" indent="0" algn="ctr">
              <a:buNone/>
            </a:pPr>
            <a:r>
              <a:rPr lang="en-US" sz="1600" b="1" dirty="0">
                <a:solidFill>
                  <a:schemeClr val="accent1"/>
                </a:solidFill>
                <a:latin typeface="Courier New" pitchFamily="34" charset="0"/>
                <a:ea typeface="Courier New" pitchFamily="34" charset="-122"/>
                <a:cs typeface="Courier New" pitchFamily="34" charset="-120"/>
              </a:rPr>
              <a:t>train</a:t>
            </a:r>
            <a:endParaRPr lang="en-US" sz="1600" dirty="0"/>
          </a:p>
        </p:txBody>
      </p:sp>
      <p:sp>
        <p:nvSpPr>
          <p:cNvPr id="12" name="Text 9"/>
          <p:cNvSpPr txBox="1"/>
          <p:nvPr/>
        </p:nvSpPr>
        <p:spPr>
          <a:xfrm>
            <a:off x="1984248" y="3611880"/>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guarda los nodos</a:t>
            </a:r>
            <a:endParaRPr lang="en-US" sz="1200" dirty="0"/>
          </a:p>
        </p:txBody>
      </p:sp>
      <p:sp>
        <p:nvSpPr>
          <p:cNvPr id="13" name="Shape 10"/>
          <p:cNvSpPr/>
          <p:nvPr/>
        </p:nvSpPr>
        <p:spPr>
          <a:xfrm>
            <a:off x="3328416" y="3154680"/>
            <a:ext cx="1280160" cy="960120"/>
          </a:xfrm>
          <a:prstGeom prst="roundRect">
            <a:avLst>
              <a:gd name="adj" fmla="val 11429"/>
            </a:avLst>
          </a:prstGeom>
          <a:solidFill>
            <a:schemeClr val="bg2"/>
          </a:solidFill>
          <a:ln/>
        </p:spPr>
        <p:txBody>
          <a:bodyPr/>
          <a:lstStyle/>
          <a:p>
            <a:endParaRPr lang="es-AR"/>
          </a:p>
        </p:txBody>
      </p:sp>
      <p:sp>
        <p:nvSpPr>
          <p:cNvPr id="14" name="Text 11"/>
          <p:cNvSpPr txBox="1"/>
          <p:nvPr/>
        </p:nvSpPr>
        <p:spPr>
          <a:xfrm>
            <a:off x="3328416" y="3227832"/>
            <a:ext cx="1280160" cy="365760"/>
          </a:xfrm>
          <a:prstGeom prst="rect">
            <a:avLst/>
          </a:prstGeom>
          <a:noFill/>
          <a:ln/>
        </p:spPr>
        <p:txBody>
          <a:bodyPr wrap="square" lIns="0" tIns="0" rIns="0" bIns="0" rtlCol="0" anchor="t"/>
          <a:lstStyle/>
          <a:p>
            <a:pPr marL="0" indent="0" algn="ctr">
              <a:buNone/>
            </a:pPr>
            <a:r>
              <a:rPr lang="en-US" sz="1600" b="1" dirty="0">
                <a:solidFill>
                  <a:schemeClr val="accent1"/>
                </a:solidFill>
                <a:latin typeface="Courier New" pitchFamily="34" charset="0"/>
                <a:ea typeface="Courier New" pitchFamily="34" charset="-122"/>
                <a:cs typeface="Courier New" pitchFamily="34" charset="-120"/>
              </a:rPr>
              <a:t>eval</a:t>
            </a:r>
            <a:endParaRPr lang="en-US" sz="1600" dirty="0"/>
          </a:p>
        </p:txBody>
      </p:sp>
      <p:sp>
        <p:nvSpPr>
          <p:cNvPr id="15" name="Text 12"/>
          <p:cNvSpPr txBox="1"/>
          <p:nvPr/>
        </p:nvSpPr>
        <p:spPr>
          <a:xfrm>
            <a:off x="3374136" y="3611880"/>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mide en el 20%</a:t>
            </a:r>
            <a:endParaRPr lang="en-US" sz="1200" dirty="0"/>
          </a:p>
        </p:txBody>
      </p:sp>
      <p:sp>
        <p:nvSpPr>
          <p:cNvPr id="16" name="Shape 13"/>
          <p:cNvSpPr/>
          <p:nvPr/>
        </p:nvSpPr>
        <p:spPr>
          <a:xfrm>
            <a:off x="4718304" y="3154680"/>
            <a:ext cx="1280160" cy="960120"/>
          </a:xfrm>
          <a:prstGeom prst="roundRect">
            <a:avLst>
              <a:gd name="adj" fmla="val 11429"/>
            </a:avLst>
          </a:prstGeom>
          <a:solidFill>
            <a:schemeClr val="bg2"/>
          </a:solidFill>
          <a:ln/>
        </p:spPr>
        <p:txBody>
          <a:bodyPr/>
          <a:lstStyle/>
          <a:p>
            <a:endParaRPr lang="es-AR"/>
          </a:p>
        </p:txBody>
      </p:sp>
      <p:sp>
        <p:nvSpPr>
          <p:cNvPr id="17" name="Text 14"/>
          <p:cNvSpPr txBox="1"/>
          <p:nvPr/>
        </p:nvSpPr>
        <p:spPr>
          <a:xfrm>
            <a:off x="4718304" y="3227832"/>
            <a:ext cx="1280160" cy="365760"/>
          </a:xfrm>
          <a:prstGeom prst="rect">
            <a:avLst/>
          </a:prstGeom>
          <a:noFill/>
          <a:ln/>
        </p:spPr>
        <p:txBody>
          <a:bodyPr wrap="square" lIns="0" tIns="0" rIns="0" bIns="0" rtlCol="0" anchor="t"/>
          <a:lstStyle/>
          <a:p>
            <a:pPr marL="0" indent="0" algn="ctr">
              <a:buNone/>
            </a:pPr>
            <a:r>
              <a:rPr lang="en-US" sz="1600" b="1" dirty="0">
                <a:solidFill>
                  <a:schemeClr val="accent1"/>
                </a:solidFill>
                <a:latin typeface="Courier New" pitchFamily="34" charset="0"/>
                <a:ea typeface="Courier New" pitchFamily="34" charset="-122"/>
                <a:cs typeface="Courier New" pitchFamily="34" charset="-120"/>
              </a:rPr>
              <a:t>predict</a:t>
            </a:r>
            <a:endParaRPr lang="en-US" sz="1600" dirty="0"/>
          </a:p>
        </p:txBody>
      </p:sp>
      <p:sp>
        <p:nvSpPr>
          <p:cNvPr id="18" name="Text 15"/>
          <p:cNvSpPr txBox="1"/>
          <p:nvPr/>
        </p:nvSpPr>
        <p:spPr>
          <a:xfrm>
            <a:off x="4764024" y="3611880"/>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alumnos nuevos</a:t>
            </a:r>
            <a:endParaRPr lang="en-US" sz="1200" dirty="0"/>
          </a:p>
        </p:txBody>
      </p:sp>
      <p:sp>
        <p:nvSpPr>
          <p:cNvPr id="19" name="Shape 16"/>
          <p:cNvSpPr/>
          <p:nvPr/>
        </p:nvSpPr>
        <p:spPr>
          <a:xfrm>
            <a:off x="6108192" y="3154680"/>
            <a:ext cx="1280160" cy="960120"/>
          </a:xfrm>
          <a:prstGeom prst="roundRect">
            <a:avLst>
              <a:gd name="adj" fmla="val 11429"/>
            </a:avLst>
          </a:prstGeom>
          <a:solidFill>
            <a:schemeClr val="bg2"/>
          </a:solidFill>
          <a:ln/>
        </p:spPr>
        <p:txBody>
          <a:bodyPr/>
          <a:lstStyle/>
          <a:p>
            <a:endParaRPr lang="es-AR"/>
          </a:p>
        </p:txBody>
      </p:sp>
      <p:sp>
        <p:nvSpPr>
          <p:cNvPr id="20" name="Text 17"/>
          <p:cNvSpPr txBox="1"/>
          <p:nvPr/>
        </p:nvSpPr>
        <p:spPr>
          <a:xfrm>
            <a:off x="6108192" y="3227832"/>
            <a:ext cx="1280160" cy="365760"/>
          </a:xfrm>
          <a:prstGeom prst="rect">
            <a:avLst/>
          </a:prstGeom>
          <a:noFill/>
          <a:ln/>
        </p:spPr>
        <p:txBody>
          <a:bodyPr wrap="square" lIns="0" tIns="0" rIns="0" bIns="0" rtlCol="0" anchor="t"/>
          <a:lstStyle/>
          <a:p>
            <a:pPr marL="0" indent="0" algn="ctr">
              <a:buNone/>
            </a:pPr>
            <a:r>
              <a:rPr lang="en-US" sz="1600" b="1" dirty="0">
                <a:solidFill>
                  <a:schemeClr val="accent1"/>
                </a:solidFill>
                <a:latin typeface="Courier New" pitchFamily="34" charset="0"/>
                <a:ea typeface="Courier New" pitchFamily="34" charset="-122"/>
                <a:cs typeface="Courier New" pitchFamily="34" charset="-120"/>
              </a:rPr>
              <a:t>sweep</a:t>
            </a:r>
            <a:endParaRPr lang="en-US" sz="1600" dirty="0"/>
          </a:p>
        </p:txBody>
      </p:sp>
      <p:sp>
        <p:nvSpPr>
          <p:cNvPr id="21" name="Text 18"/>
          <p:cNvSpPr txBox="1"/>
          <p:nvPr/>
        </p:nvSpPr>
        <p:spPr>
          <a:xfrm>
            <a:off x="6153912" y="3611880"/>
            <a:ext cx="1188720" cy="457200"/>
          </a:xfrm>
          <a:prstGeom prst="rect">
            <a:avLst/>
          </a:prstGeom>
          <a:noFill/>
          <a:ln/>
        </p:spPr>
        <p:txBody>
          <a:bodyPr wrap="square" lIns="0" tIns="0" rIns="0" bIns="0" rtlCol="0" anchor="t"/>
          <a:lstStyle/>
          <a:p>
            <a:pPr marL="0" indent="0" algn="ctr">
              <a:buNone/>
            </a:pPr>
            <a:r>
              <a:rPr lang="en-US" sz="1200" dirty="0">
                <a:solidFill>
                  <a:schemeClr val="tx1"/>
                </a:solidFill>
              </a:rPr>
              <a:t>barrido de ρ</a:t>
            </a:r>
            <a:endParaRPr lang="en-US" sz="1200" dirty="0"/>
          </a:p>
        </p:txBody>
      </p:sp>
      <p:sp>
        <p:nvSpPr>
          <p:cNvPr id="22" name="Text 19"/>
          <p:cNvSpPr txBox="1"/>
          <p:nvPr/>
        </p:nvSpPr>
        <p:spPr>
          <a:xfrm>
            <a:off x="548640" y="4297680"/>
            <a:ext cx="6858000" cy="320040"/>
          </a:xfrm>
          <a:prstGeom prst="rect">
            <a:avLst/>
          </a:prstGeom>
          <a:noFill/>
          <a:ln/>
        </p:spPr>
        <p:txBody>
          <a:bodyPr wrap="square" lIns="0" tIns="0" rIns="0" bIns="0" rtlCol="0" anchor="t"/>
          <a:lstStyle/>
          <a:p>
            <a:pPr marL="0" indent="0">
              <a:buNone/>
            </a:pPr>
            <a:r>
              <a:rPr lang="en-US" sz="1400" b="1" dirty="0">
                <a:solidFill>
                  <a:schemeClr val="tx2"/>
                </a:solidFill>
              </a:rPr>
              <a:t>Errores: «ERROR: motivo» + manual man, sin traceback</a:t>
            </a:r>
            <a:endParaRPr lang="en-US" sz="1400" dirty="0"/>
          </a:p>
        </p:txBody>
      </p:sp>
      <p:sp>
        <p:nvSpPr>
          <p:cNvPr id="23" name="Shape 20"/>
          <p:cNvSpPr/>
          <p:nvPr/>
        </p:nvSpPr>
        <p:spPr>
          <a:xfrm>
            <a:off x="960120" y="4709160"/>
            <a:ext cx="457200" cy="457200"/>
          </a:xfrm>
          <a:prstGeom prst="ellipse">
            <a:avLst/>
          </a:prstGeom>
          <a:solidFill>
            <a:schemeClr val="accent5"/>
          </a:solidFill>
          <a:ln/>
        </p:spPr>
        <p:txBody>
          <a:bodyPr/>
          <a:lstStyle/>
          <a:p>
            <a:endParaRPr lang="es-AR"/>
          </a:p>
        </p:txBody>
      </p:sp>
      <p:sp>
        <p:nvSpPr>
          <p:cNvPr id="24" name="Text 21"/>
          <p:cNvSpPr txBox="1"/>
          <p:nvPr/>
        </p:nvSpPr>
        <p:spPr>
          <a:xfrm>
            <a:off x="960120" y="47091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0</a:t>
            </a:r>
            <a:endParaRPr lang="en-US" sz="1800" dirty="0"/>
          </a:p>
        </p:txBody>
      </p:sp>
      <p:sp>
        <p:nvSpPr>
          <p:cNvPr id="25" name="Text 22"/>
          <p:cNvSpPr txBox="1"/>
          <p:nvPr/>
        </p:nvSpPr>
        <p:spPr>
          <a:xfrm>
            <a:off x="548640" y="5212080"/>
            <a:ext cx="1280160" cy="274320"/>
          </a:xfrm>
          <a:prstGeom prst="rect">
            <a:avLst/>
          </a:prstGeom>
          <a:noFill/>
          <a:ln/>
        </p:spPr>
        <p:txBody>
          <a:bodyPr wrap="square" lIns="0" tIns="0" rIns="0" bIns="0" rtlCol="0" anchor="t"/>
          <a:lstStyle/>
          <a:p>
            <a:pPr marL="0" indent="0" algn="ctr">
              <a:buNone/>
            </a:pPr>
            <a:r>
              <a:rPr lang="en-US" sz="1200" dirty="0">
                <a:solidFill>
                  <a:schemeClr val="tx1"/>
                </a:solidFill>
              </a:rPr>
              <a:t>bien</a:t>
            </a:r>
            <a:endParaRPr lang="en-US" sz="1200" dirty="0"/>
          </a:p>
        </p:txBody>
      </p:sp>
      <p:sp>
        <p:nvSpPr>
          <p:cNvPr id="26" name="Shape 23"/>
          <p:cNvSpPr/>
          <p:nvPr/>
        </p:nvSpPr>
        <p:spPr>
          <a:xfrm>
            <a:off x="2350008" y="4709160"/>
            <a:ext cx="457200" cy="457200"/>
          </a:xfrm>
          <a:prstGeom prst="ellipse">
            <a:avLst/>
          </a:prstGeom>
          <a:solidFill>
            <a:schemeClr val="accent2"/>
          </a:solidFill>
          <a:ln/>
        </p:spPr>
        <p:txBody>
          <a:bodyPr/>
          <a:lstStyle/>
          <a:p>
            <a:endParaRPr lang="es-AR"/>
          </a:p>
        </p:txBody>
      </p:sp>
      <p:sp>
        <p:nvSpPr>
          <p:cNvPr id="27" name="Text 24"/>
          <p:cNvSpPr txBox="1"/>
          <p:nvPr/>
        </p:nvSpPr>
        <p:spPr>
          <a:xfrm>
            <a:off x="2350008" y="47091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28" name="Text 25"/>
          <p:cNvSpPr txBox="1"/>
          <p:nvPr/>
        </p:nvSpPr>
        <p:spPr>
          <a:xfrm>
            <a:off x="1938528" y="5212080"/>
            <a:ext cx="1280160" cy="274320"/>
          </a:xfrm>
          <a:prstGeom prst="rect">
            <a:avLst/>
          </a:prstGeom>
          <a:noFill/>
          <a:ln/>
        </p:spPr>
        <p:txBody>
          <a:bodyPr wrap="square" lIns="0" tIns="0" rIns="0" bIns="0" rtlCol="0" anchor="t"/>
          <a:lstStyle/>
          <a:p>
            <a:pPr marL="0" indent="0" algn="ctr">
              <a:buNone/>
            </a:pPr>
            <a:r>
              <a:rPr lang="en-US" sz="1200" dirty="0">
                <a:solidFill>
                  <a:schemeClr val="tx1"/>
                </a:solidFill>
              </a:rPr>
              <a:t>opciones</a:t>
            </a:r>
            <a:endParaRPr lang="en-US" sz="1200" dirty="0"/>
          </a:p>
        </p:txBody>
      </p:sp>
      <p:sp>
        <p:nvSpPr>
          <p:cNvPr id="29" name="Shape 26"/>
          <p:cNvSpPr/>
          <p:nvPr/>
        </p:nvSpPr>
        <p:spPr>
          <a:xfrm>
            <a:off x="3739896" y="4709160"/>
            <a:ext cx="457200" cy="457200"/>
          </a:xfrm>
          <a:prstGeom prst="ellipse">
            <a:avLst/>
          </a:prstGeom>
          <a:solidFill>
            <a:schemeClr val="accent2"/>
          </a:solidFill>
          <a:ln/>
        </p:spPr>
        <p:txBody>
          <a:bodyPr/>
          <a:lstStyle/>
          <a:p>
            <a:endParaRPr lang="es-AR"/>
          </a:p>
        </p:txBody>
      </p:sp>
      <p:sp>
        <p:nvSpPr>
          <p:cNvPr id="30" name="Text 27"/>
          <p:cNvSpPr txBox="1"/>
          <p:nvPr/>
        </p:nvSpPr>
        <p:spPr>
          <a:xfrm>
            <a:off x="3739896" y="47091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31" name="Text 28"/>
          <p:cNvSpPr txBox="1"/>
          <p:nvPr/>
        </p:nvSpPr>
        <p:spPr>
          <a:xfrm>
            <a:off x="3328416" y="5212080"/>
            <a:ext cx="1280160" cy="274320"/>
          </a:xfrm>
          <a:prstGeom prst="rect">
            <a:avLst/>
          </a:prstGeom>
          <a:noFill/>
          <a:ln/>
        </p:spPr>
        <p:txBody>
          <a:bodyPr wrap="square" lIns="0" tIns="0" rIns="0" bIns="0" rtlCol="0" anchor="t"/>
          <a:lstStyle/>
          <a:p>
            <a:pPr marL="0" indent="0" algn="ctr">
              <a:buNone/>
            </a:pPr>
            <a:r>
              <a:rPr lang="en-US" sz="1200" dirty="0">
                <a:solidFill>
                  <a:schemeClr val="tx1"/>
                </a:solidFill>
              </a:rPr>
              <a:t>archivo</a:t>
            </a:r>
            <a:endParaRPr lang="en-US" sz="1200" dirty="0"/>
          </a:p>
        </p:txBody>
      </p:sp>
      <p:sp>
        <p:nvSpPr>
          <p:cNvPr id="32" name="Shape 29"/>
          <p:cNvSpPr/>
          <p:nvPr/>
        </p:nvSpPr>
        <p:spPr>
          <a:xfrm>
            <a:off x="5129784" y="4709160"/>
            <a:ext cx="457200" cy="457200"/>
          </a:xfrm>
          <a:prstGeom prst="ellipse">
            <a:avLst/>
          </a:prstGeom>
          <a:solidFill>
            <a:schemeClr val="accent2"/>
          </a:solidFill>
          <a:ln/>
        </p:spPr>
        <p:txBody>
          <a:bodyPr/>
          <a:lstStyle/>
          <a:p>
            <a:endParaRPr lang="es-AR"/>
          </a:p>
        </p:txBody>
      </p:sp>
      <p:sp>
        <p:nvSpPr>
          <p:cNvPr id="33" name="Text 30"/>
          <p:cNvSpPr txBox="1"/>
          <p:nvPr/>
        </p:nvSpPr>
        <p:spPr>
          <a:xfrm>
            <a:off x="5129784" y="47091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34" name="Text 31"/>
          <p:cNvSpPr txBox="1"/>
          <p:nvPr/>
        </p:nvSpPr>
        <p:spPr>
          <a:xfrm>
            <a:off x="4718304" y="5212080"/>
            <a:ext cx="1280160" cy="274320"/>
          </a:xfrm>
          <a:prstGeom prst="rect">
            <a:avLst/>
          </a:prstGeom>
          <a:noFill/>
          <a:ln/>
        </p:spPr>
        <p:txBody>
          <a:bodyPr wrap="square" lIns="0" tIns="0" rIns="0" bIns="0" rtlCol="0" anchor="t"/>
          <a:lstStyle/>
          <a:p>
            <a:pPr marL="0" indent="0" algn="ctr">
              <a:buNone/>
            </a:pPr>
            <a:r>
              <a:rPr lang="en-US" sz="1200" dirty="0">
                <a:solidFill>
                  <a:schemeClr val="tx1"/>
                </a:solidFill>
              </a:rPr>
              <a:t>datos</a:t>
            </a:r>
            <a:endParaRPr lang="en-US" sz="1200" dirty="0"/>
          </a:p>
        </p:txBody>
      </p:sp>
      <p:sp>
        <p:nvSpPr>
          <p:cNvPr id="35" name="Shape 32"/>
          <p:cNvSpPr/>
          <p:nvPr/>
        </p:nvSpPr>
        <p:spPr>
          <a:xfrm>
            <a:off x="6519672" y="4709160"/>
            <a:ext cx="457200" cy="457200"/>
          </a:xfrm>
          <a:prstGeom prst="ellipse">
            <a:avLst/>
          </a:prstGeom>
          <a:solidFill>
            <a:schemeClr val="accent4"/>
          </a:solidFill>
          <a:ln/>
        </p:spPr>
        <p:txBody>
          <a:bodyPr/>
          <a:lstStyle/>
          <a:p>
            <a:endParaRPr lang="es-AR"/>
          </a:p>
        </p:txBody>
      </p:sp>
      <p:sp>
        <p:nvSpPr>
          <p:cNvPr id="36" name="Text 33"/>
          <p:cNvSpPr txBox="1"/>
          <p:nvPr/>
        </p:nvSpPr>
        <p:spPr>
          <a:xfrm>
            <a:off x="6519672" y="4709160"/>
            <a:ext cx="457200" cy="45720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37" name="Text 34"/>
          <p:cNvSpPr txBox="1"/>
          <p:nvPr/>
        </p:nvSpPr>
        <p:spPr>
          <a:xfrm>
            <a:off x="6108192" y="5212080"/>
            <a:ext cx="1280160" cy="274320"/>
          </a:xfrm>
          <a:prstGeom prst="rect">
            <a:avLst/>
          </a:prstGeom>
          <a:noFill/>
          <a:ln/>
        </p:spPr>
        <p:txBody>
          <a:bodyPr wrap="square" lIns="0" tIns="0" rIns="0" bIns="0" rtlCol="0" anchor="t"/>
          <a:lstStyle/>
          <a:p>
            <a:pPr marL="0" indent="0" algn="ctr">
              <a:buNone/>
            </a:pPr>
            <a:r>
              <a:rPr lang="en-US" sz="1200" dirty="0">
                <a:solidFill>
                  <a:schemeClr val="tx1"/>
                </a:solidFill>
              </a:rPr>
              <a:t>inesperado</a:t>
            </a:r>
            <a:endParaRPr lang="en-US" sz="1200" dirty="0"/>
          </a:p>
        </p:txBody>
      </p:sp>
      <p:sp>
        <p:nvSpPr>
          <p:cNvPr id="38" name="Text 35"/>
          <p:cNvSpPr txBox="1"/>
          <p:nvPr/>
        </p:nvSpPr>
        <p:spPr>
          <a:xfrm>
            <a:off x="548640" y="5715000"/>
            <a:ext cx="6858000" cy="320040"/>
          </a:xfrm>
          <a:prstGeom prst="rect">
            <a:avLst/>
          </a:prstGeom>
          <a:noFill/>
          <a:ln/>
        </p:spPr>
        <p:txBody>
          <a:bodyPr wrap="square" lIns="0" tIns="0" rIns="0" bIns="0" rtlCol="0" anchor="t"/>
          <a:lstStyle/>
          <a:p>
            <a:pPr marL="0" indent="0">
              <a:buNone/>
            </a:pPr>
            <a:r>
              <a:rPr lang="en-US" sz="1300" i="1" dirty="0">
                <a:solidFill>
                  <a:srgbClr val="64748B"/>
                </a:solidFill>
              </a:rPr>
              <a:t>Entrada y salida solo en CSV (data/output/)</a:t>
            </a:r>
            <a:endParaRPr lang="en-US" sz="1300" dirty="0"/>
          </a:p>
        </p:txBody>
      </p:sp>
      <p:pic>
        <p:nvPicPr>
          <p:cNvPr id="39" name="Image 0" descr="figuras_app/app_un_alumno.png"/>
          <p:cNvPicPr>
            <a:picLocks noChangeAspect="1"/>
          </p:cNvPicPr>
          <p:nvPr/>
        </p:nvPicPr>
        <p:blipFill>
          <a:blip r:embed="rId3"/>
          <a:stretch>
            <a:fillRect/>
          </a:stretch>
        </p:blipFill>
        <p:spPr>
          <a:xfrm>
            <a:off x="7726680" y="1554480"/>
            <a:ext cx="3931920" cy="4109634"/>
          </a:xfrm>
          <a:prstGeom prst="rect">
            <a:avLst/>
          </a:prstGeom>
        </p:spPr>
      </p:pic>
      <p:sp>
        <p:nvSpPr>
          <p:cNvPr id="40" name="Shape 36"/>
          <p:cNvSpPr/>
          <p:nvPr/>
        </p:nvSpPr>
        <p:spPr>
          <a:xfrm>
            <a:off x="7726680" y="1554480"/>
            <a:ext cx="3931920" cy="4109634"/>
          </a:xfrm>
          <a:prstGeom prst="rect">
            <a:avLst/>
          </a:prstGeom>
          <a:ln w="9525">
            <a:solidFill>
              <a:srgbClr val="CBD5E1"/>
            </a:solidFill>
            <a:prstDash val="solid"/>
          </a:ln>
        </p:spPr>
        <p:txBody>
          <a:bodyPr/>
          <a:lstStyle/>
          <a:p>
            <a:endParaRPr lang="es-AR"/>
          </a:p>
        </p:txBody>
      </p:sp>
      <p:sp>
        <p:nvSpPr>
          <p:cNvPr id="41" name="Text 37"/>
          <p:cNvSpPr txBox="1"/>
          <p:nvPr/>
        </p:nvSpPr>
        <p:spPr>
          <a:xfrm>
            <a:off x="7726680" y="5779008"/>
            <a:ext cx="3931920" cy="274320"/>
          </a:xfrm>
          <a:prstGeom prst="rect">
            <a:avLst/>
          </a:prstGeom>
          <a:noFill/>
          <a:ln/>
        </p:spPr>
        <p:txBody>
          <a:bodyPr wrap="square" lIns="0" tIns="0" rIns="0" bIns="0" rtlCol="0" anchor="t"/>
          <a:lstStyle/>
          <a:p>
            <a:pPr marL="0" indent="0" algn="ctr">
              <a:buNone/>
            </a:pPr>
            <a:r>
              <a:rPr lang="en-US" sz="1200" dirty="0">
                <a:solidFill>
                  <a:srgbClr val="64748B"/>
                </a:solidFill>
              </a:rPr>
              <a:t>App visual: streamlit run src/app_visual.py</a:t>
            </a:r>
            <a:endParaRPr lang="en-US" sz="1200" dirty="0"/>
          </a:p>
        </p:txBody>
      </p:sp>
      <p:sp>
        <p:nvSpPr>
          <p:cNvPr id="4"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Demo en vivo</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2 · 1 MINUTO</a:t>
            </a:r>
            <a:endParaRPr lang="en-US" sz="1200" dirty="0"/>
          </a:p>
        </p:txBody>
      </p:sp>
      <p:sp>
        <p:nvSpPr>
          <p:cNvPr id="5" name="Shape 2"/>
          <p:cNvSpPr/>
          <p:nvPr/>
        </p:nvSpPr>
        <p:spPr>
          <a:xfrm>
            <a:off x="548640" y="1645920"/>
            <a:ext cx="4846320" cy="1261872"/>
          </a:xfrm>
          <a:prstGeom prst="roundRect">
            <a:avLst>
              <a:gd name="adj" fmla="val 869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6" name="Shape 3"/>
          <p:cNvSpPr/>
          <p:nvPr/>
        </p:nvSpPr>
        <p:spPr>
          <a:xfrm>
            <a:off x="777240" y="1920240"/>
            <a:ext cx="713232" cy="713232"/>
          </a:xfrm>
          <a:prstGeom prst="ellipse">
            <a:avLst/>
          </a:prstGeom>
          <a:solidFill>
            <a:schemeClr val="accent1"/>
          </a:solidFill>
          <a:ln/>
        </p:spPr>
        <p:txBody>
          <a:bodyPr/>
          <a:lstStyle/>
          <a:p>
            <a:endParaRPr lang="es-AR"/>
          </a:p>
        </p:txBody>
      </p:sp>
      <p:pic>
        <p:nvPicPr>
          <p:cNvPr id="7" name="Image 0" descr="preencoded.png"/>
          <p:cNvPicPr>
            <a:picLocks noChangeAspect="1"/>
          </p:cNvPicPr>
          <p:nvPr/>
        </p:nvPicPr>
        <p:blipFill>
          <a:blip r:embed="rId3"/>
          <a:stretch>
            <a:fillRect/>
          </a:stretch>
        </p:blipFill>
        <p:spPr>
          <a:xfrm>
            <a:off x="962680" y="2105680"/>
            <a:ext cx="342351" cy="342351"/>
          </a:xfrm>
          <a:prstGeom prst="rect">
            <a:avLst/>
          </a:prstGeom>
        </p:spPr>
      </p:pic>
      <p:sp>
        <p:nvSpPr>
          <p:cNvPr id="8" name="Text 4"/>
          <p:cNvSpPr txBox="1"/>
          <p:nvPr/>
        </p:nvSpPr>
        <p:spPr>
          <a:xfrm>
            <a:off x="1691640" y="1847088"/>
            <a:ext cx="3566160" cy="365760"/>
          </a:xfrm>
          <a:prstGeom prst="rect">
            <a:avLst/>
          </a:prstGeom>
          <a:noFill/>
          <a:ln/>
        </p:spPr>
        <p:txBody>
          <a:bodyPr wrap="square" lIns="0" tIns="0" rIns="0" bIns="0" rtlCol="0" anchor="t"/>
          <a:lstStyle/>
          <a:p>
            <a:pPr marL="0" indent="0">
              <a:buNone/>
            </a:pPr>
            <a:r>
              <a:rPr lang="en-US" sz="1800" b="1" dirty="0">
                <a:solidFill>
                  <a:schemeClr val="tx2"/>
                </a:solidFill>
              </a:rPr>
              <a:t>1. CLI en modo demo</a:t>
            </a:r>
            <a:endParaRPr lang="en-US" sz="1800" dirty="0"/>
          </a:p>
        </p:txBody>
      </p:sp>
      <p:sp>
        <p:nvSpPr>
          <p:cNvPr id="9" name="Text 5"/>
          <p:cNvSpPr txBox="1"/>
          <p:nvPr/>
        </p:nvSpPr>
        <p:spPr>
          <a:xfrm>
            <a:off x="1691640" y="2240280"/>
            <a:ext cx="3566160" cy="548640"/>
          </a:xfrm>
          <a:prstGeom prst="rect">
            <a:avLst/>
          </a:prstGeom>
          <a:noFill/>
          <a:ln/>
        </p:spPr>
        <p:txBody>
          <a:bodyPr wrap="square" lIns="0" tIns="0" rIns="0" bIns="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py -3.13 CarGross.py --mode demo</a:t>
            </a:r>
            <a:endParaRPr lang="en-US" sz="1300" dirty="0"/>
          </a:p>
        </p:txBody>
      </p:sp>
      <p:sp>
        <p:nvSpPr>
          <p:cNvPr id="10" name="Shape 6"/>
          <p:cNvSpPr/>
          <p:nvPr/>
        </p:nvSpPr>
        <p:spPr>
          <a:xfrm>
            <a:off x="548640" y="3108960"/>
            <a:ext cx="4846320" cy="1261872"/>
          </a:xfrm>
          <a:prstGeom prst="roundRect">
            <a:avLst>
              <a:gd name="adj" fmla="val 869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1" name="Shape 7"/>
          <p:cNvSpPr/>
          <p:nvPr/>
        </p:nvSpPr>
        <p:spPr>
          <a:xfrm>
            <a:off x="777240" y="3383280"/>
            <a:ext cx="713232" cy="713232"/>
          </a:xfrm>
          <a:prstGeom prst="ellipse">
            <a:avLst/>
          </a:prstGeom>
          <a:solidFill>
            <a:schemeClr val="accent3"/>
          </a:solidFill>
          <a:ln/>
        </p:spPr>
        <p:txBody>
          <a:bodyPr/>
          <a:lstStyle/>
          <a:p>
            <a:endParaRPr lang="es-AR"/>
          </a:p>
        </p:txBody>
      </p:sp>
      <p:pic>
        <p:nvPicPr>
          <p:cNvPr id="12" name="Image 1" descr="preencoded.png"/>
          <p:cNvPicPr>
            <a:picLocks noChangeAspect="1"/>
          </p:cNvPicPr>
          <p:nvPr/>
        </p:nvPicPr>
        <p:blipFill>
          <a:blip r:embed="rId4"/>
          <a:stretch>
            <a:fillRect/>
          </a:stretch>
        </p:blipFill>
        <p:spPr>
          <a:xfrm>
            <a:off x="962680" y="3568720"/>
            <a:ext cx="342351" cy="342351"/>
          </a:xfrm>
          <a:prstGeom prst="rect">
            <a:avLst/>
          </a:prstGeom>
        </p:spPr>
      </p:pic>
      <p:sp>
        <p:nvSpPr>
          <p:cNvPr id="13" name="Text 8"/>
          <p:cNvSpPr txBox="1"/>
          <p:nvPr/>
        </p:nvSpPr>
        <p:spPr>
          <a:xfrm>
            <a:off x="1691640" y="3310128"/>
            <a:ext cx="3566160" cy="365760"/>
          </a:xfrm>
          <a:prstGeom prst="rect">
            <a:avLst/>
          </a:prstGeom>
          <a:noFill/>
          <a:ln/>
        </p:spPr>
        <p:txBody>
          <a:bodyPr wrap="square" lIns="0" tIns="0" rIns="0" bIns="0" rtlCol="0" anchor="t"/>
          <a:lstStyle/>
          <a:p>
            <a:pPr marL="0" indent="0">
              <a:buNone/>
            </a:pPr>
            <a:r>
              <a:rPr lang="en-US" sz="1800" b="1" dirty="0">
                <a:solidFill>
                  <a:schemeClr val="tx2"/>
                </a:solidFill>
              </a:rPr>
              <a:t>2. App: un alumno</a:t>
            </a:r>
            <a:endParaRPr lang="en-US" sz="1800" dirty="0"/>
          </a:p>
        </p:txBody>
      </p:sp>
      <p:sp>
        <p:nvSpPr>
          <p:cNvPr id="14" name="Text 9"/>
          <p:cNvSpPr txBox="1"/>
          <p:nvPr/>
        </p:nvSpPr>
        <p:spPr>
          <a:xfrm>
            <a:off x="1691640" y="3703320"/>
            <a:ext cx="3566160" cy="548640"/>
          </a:xfrm>
          <a:prstGeom prst="rect">
            <a:avLst/>
          </a:prstGeom>
          <a:noFill/>
          <a:ln/>
        </p:spPr>
        <p:txBody>
          <a:bodyPr wrap="square" lIns="0" tIns="0" rIns="0" bIns="0" rtlCol="0" anchor="t"/>
          <a:lstStyle/>
          <a:p>
            <a:pPr marL="0" indent="0">
              <a:buNone/>
            </a:pPr>
            <a:r>
              <a:rPr lang="en-US" sz="1300" dirty="0">
                <a:solidFill>
                  <a:schemeClr val="tx1"/>
                </a:solidFill>
              </a:rPr>
              <a:t>mover horas de estudio → nota, nodo y bits</a:t>
            </a:r>
            <a:endParaRPr lang="en-US" sz="1300" dirty="0"/>
          </a:p>
        </p:txBody>
      </p:sp>
      <p:sp>
        <p:nvSpPr>
          <p:cNvPr id="15" name="Shape 10"/>
          <p:cNvSpPr/>
          <p:nvPr/>
        </p:nvSpPr>
        <p:spPr>
          <a:xfrm>
            <a:off x="548640" y="4572000"/>
            <a:ext cx="4846320" cy="1261872"/>
          </a:xfrm>
          <a:prstGeom prst="roundRect">
            <a:avLst>
              <a:gd name="adj" fmla="val 869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6" name="Shape 11"/>
          <p:cNvSpPr/>
          <p:nvPr/>
        </p:nvSpPr>
        <p:spPr>
          <a:xfrm>
            <a:off x="777240" y="4846320"/>
            <a:ext cx="713232" cy="713232"/>
          </a:xfrm>
          <a:prstGeom prst="ellipse">
            <a:avLst/>
          </a:prstGeom>
          <a:solidFill>
            <a:schemeClr val="accent2"/>
          </a:solidFill>
          <a:ln/>
        </p:spPr>
        <p:txBody>
          <a:bodyPr/>
          <a:lstStyle/>
          <a:p>
            <a:endParaRPr lang="es-AR"/>
          </a:p>
        </p:txBody>
      </p:sp>
      <p:pic>
        <p:nvPicPr>
          <p:cNvPr id="17" name="Image 2" descr="preencoded.png"/>
          <p:cNvPicPr>
            <a:picLocks noChangeAspect="1"/>
          </p:cNvPicPr>
          <p:nvPr/>
        </p:nvPicPr>
        <p:blipFill>
          <a:blip r:embed="rId5"/>
          <a:stretch>
            <a:fillRect/>
          </a:stretch>
        </p:blipFill>
        <p:spPr>
          <a:xfrm>
            <a:off x="962680" y="5031760"/>
            <a:ext cx="342351" cy="342351"/>
          </a:xfrm>
          <a:prstGeom prst="rect">
            <a:avLst/>
          </a:prstGeom>
        </p:spPr>
      </p:pic>
      <p:sp>
        <p:nvSpPr>
          <p:cNvPr id="18" name="Text 12"/>
          <p:cNvSpPr txBox="1"/>
          <p:nvPr/>
        </p:nvSpPr>
        <p:spPr>
          <a:xfrm>
            <a:off x="1691640" y="4773168"/>
            <a:ext cx="3566160" cy="365760"/>
          </a:xfrm>
          <a:prstGeom prst="rect">
            <a:avLst/>
          </a:prstGeom>
          <a:noFill/>
          <a:ln/>
        </p:spPr>
        <p:txBody>
          <a:bodyPr wrap="square" lIns="0" tIns="0" rIns="0" bIns="0" rtlCol="0" anchor="t"/>
          <a:lstStyle/>
          <a:p>
            <a:pPr marL="0" indent="0">
              <a:buNone/>
            </a:pPr>
            <a:r>
              <a:rPr lang="en-US" sz="1800" b="1" dirty="0">
                <a:solidFill>
                  <a:schemeClr val="tx2"/>
                </a:solidFill>
              </a:rPr>
              <a:t>3. Error controlado</a:t>
            </a:r>
            <a:endParaRPr lang="en-US" sz="1800" dirty="0"/>
          </a:p>
        </p:txBody>
      </p:sp>
      <p:sp>
        <p:nvSpPr>
          <p:cNvPr id="19" name="Text 13"/>
          <p:cNvSpPr txBox="1"/>
          <p:nvPr/>
        </p:nvSpPr>
        <p:spPr>
          <a:xfrm>
            <a:off x="1691640" y="5166360"/>
            <a:ext cx="3566160" cy="548640"/>
          </a:xfrm>
          <a:prstGeom prst="rect">
            <a:avLst/>
          </a:prstGeom>
          <a:noFill/>
          <a:ln/>
        </p:spPr>
        <p:txBody>
          <a:bodyPr wrap="square" lIns="0" tIns="0" rIns="0" bIns="0" rtlCol="0" anchor="t"/>
          <a:lstStyle/>
          <a:p>
            <a:pPr marL="0" indent="0">
              <a:buNone/>
            </a:pPr>
            <a:r>
              <a:rPr lang="en-US" sz="1300" dirty="0">
                <a:solidFill>
                  <a:schemeClr val="tx1"/>
                </a:solidFill>
                <a:latin typeface="Courier New" pitchFamily="34" charset="0"/>
                <a:ea typeface="Courier New" pitchFamily="34" charset="-122"/>
                <a:cs typeface="Courier New" pitchFamily="34" charset="-120"/>
              </a:rPr>
              <a:t>--rho 3 → ERROR + man, código 2</a:t>
            </a:r>
            <a:endParaRPr lang="en-US" sz="1300" dirty="0"/>
          </a:p>
        </p:txBody>
      </p:sp>
      <p:pic>
        <p:nvPicPr>
          <p:cNvPr id="20" name="Image 3" descr="figuras_app/cli_eval.png"/>
          <p:cNvPicPr>
            <a:picLocks noChangeAspect="1"/>
          </p:cNvPicPr>
          <p:nvPr/>
        </p:nvPicPr>
        <p:blipFill>
          <a:blip r:embed="rId6"/>
          <a:stretch>
            <a:fillRect/>
          </a:stretch>
        </p:blipFill>
        <p:spPr>
          <a:xfrm>
            <a:off x="5760720" y="1645920"/>
            <a:ext cx="5897880" cy="3397179"/>
          </a:xfrm>
          <a:prstGeom prst="rect">
            <a:avLst/>
          </a:prstGeom>
        </p:spPr>
      </p:pic>
      <p:sp>
        <p:nvSpPr>
          <p:cNvPr id="21" name="Text 14"/>
          <p:cNvSpPr txBox="1"/>
          <p:nvPr/>
        </p:nvSpPr>
        <p:spPr>
          <a:xfrm>
            <a:off x="5760720" y="5806440"/>
            <a:ext cx="5897880" cy="274320"/>
          </a:xfrm>
          <a:prstGeom prst="rect">
            <a:avLst/>
          </a:prstGeom>
          <a:noFill/>
          <a:ln/>
        </p:spPr>
        <p:txBody>
          <a:bodyPr wrap="square" lIns="0" tIns="0" rIns="0" bIns="0" rtlCol="0" anchor="t"/>
          <a:lstStyle/>
          <a:p>
            <a:pPr marL="0" indent="0" algn="ctr">
              <a:buNone/>
            </a:pPr>
            <a:r>
              <a:rPr lang="en-US" sz="1200" dirty="0">
                <a:solidFill>
                  <a:srgbClr val="64748B"/>
                </a:solidFill>
              </a:rPr>
              <a:t>Salida real de --mode eval (dataset 1)</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Resultados: aprende más que las referencias</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2 · EVALUACIÓN EN EL 20% RESERVADO</a:t>
            </a:r>
            <a:endParaRPr lang="en-US" sz="1200" dirty="0"/>
          </a:p>
        </p:txBody>
      </p:sp>
      <p:sp>
        <p:nvSpPr>
          <p:cNvPr id="5" name="Shape 2"/>
          <p:cNvSpPr/>
          <p:nvPr/>
        </p:nvSpPr>
        <p:spPr>
          <a:xfrm>
            <a:off x="548640" y="1600200"/>
            <a:ext cx="2514600" cy="1691640"/>
          </a:xfrm>
          <a:prstGeom prst="roundRect">
            <a:avLst>
              <a:gd name="adj" fmla="val 648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6" name="Text 3"/>
          <p:cNvSpPr txBox="1"/>
          <p:nvPr/>
        </p:nvSpPr>
        <p:spPr>
          <a:xfrm>
            <a:off x="731520" y="1709928"/>
            <a:ext cx="2194560" cy="731520"/>
          </a:xfrm>
          <a:prstGeom prst="rect">
            <a:avLst/>
          </a:prstGeom>
          <a:noFill/>
          <a:ln/>
        </p:spPr>
        <p:txBody>
          <a:bodyPr wrap="square" lIns="0" tIns="0" rIns="0" bIns="0" rtlCol="0" anchor="t"/>
          <a:lstStyle/>
          <a:p>
            <a:pPr marL="0" indent="0">
              <a:buNone/>
            </a:pPr>
            <a:r>
              <a:rPr lang="en-US" sz="3800" b="1" dirty="0">
                <a:solidFill>
                  <a:schemeClr val="accent1"/>
                </a:solidFill>
              </a:rPr>
              <a:t>0,94</a:t>
            </a:r>
            <a:endParaRPr lang="en-US" sz="3800" dirty="0"/>
          </a:p>
        </p:txBody>
      </p:sp>
      <p:sp>
        <p:nvSpPr>
          <p:cNvPr id="7" name="Text 4"/>
          <p:cNvSpPr txBox="1"/>
          <p:nvPr/>
        </p:nvSpPr>
        <p:spPr>
          <a:xfrm>
            <a:off x="731520" y="2441448"/>
            <a:ext cx="2194560" cy="320040"/>
          </a:xfrm>
          <a:prstGeom prst="rect">
            <a:avLst/>
          </a:prstGeom>
          <a:noFill/>
          <a:ln/>
        </p:spPr>
        <p:txBody>
          <a:bodyPr wrap="square" lIns="0" tIns="0" rIns="0" bIns="0" rtlCol="0" anchor="t"/>
          <a:lstStyle/>
          <a:p>
            <a:pPr marL="0" indent="0">
              <a:buNone/>
            </a:pPr>
            <a:r>
              <a:rPr lang="en-US" sz="1400" b="1" dirty="0">
                <a:solidFill>
                  <a:schemeClr val="tx2"/>
                </a:solidFill>
              </a:rPr>
              <a:t>MAE sobre 10</a:t>
            </a:r>
            <a:endParaRPr lang="en-US" sz="1400" dirty="0"/>
          </a:p>
        </p:txBody>
      </p:sp>
      <p:sp>
        <p:nvSpPr>
          <p:cNvPr id="8" name="Text 5"/>
          <p:cNvSpPr txBox="1"/>
          <p:nvPr/>
        </p:nvSpPr>
        <p:spPr>
          <a:xfrm>
            <a:off x="731520" y="2788920"/>
            <a:ext cx="2194560" cy="320040"/>
          </a:xfrm>
          <a:prstGeom prst="rect">
            <a:avLst/>
          </a:prstGeom>
          <a:noFill/>
          <a:ln/>
        </p:spPr>
        <p:txBody>
          <a:bodyPr wrap="square" lIns="0" tIns="0" rIns="0" bIns="0" rtlCol="0" anchor="t"/>
          <a:lstStyle/>
          <a:p>
            <a:pPr marL="0" indent="0">
              <a:buNone/>
            </a:pPr>
            <a:r>
              <a:rPr lang="en-US" sz="1200" dirty="0">
                <a:solidFill>
                  <a:srgbClr val="64748B"/>
                </a:solidFill>
              </a:rPr>
              <a:t>predecir la media: 1,33</a:t>
            </a:r>
            <a:endParaRPr lang="en-US" sz="1200" dirty="0"/>
          </a:p>
        </p:txBody>
      </p:sp>
      <p:sp>
        <p:nvSpPr>
          <p:cNvPr id="9" name="Shape 6"/>
          <p:cNvSpPr/>
          <p:nvPr/>
        </p:nvSpPr>
        <p:spPr>
          <a:xfrm>
            <a:off x="3246120" y="1600200"/>
            <a:ext cx="2514600" cy="1691640"/>
          </a:xfrm>
          <a:prstGeom prst="roundRect">
            <a:avLst>
              <a:gd name="adj" fmla="val 648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0" name="Text 7"/>
          <p:cNvSpPr txBox="1"/>
          <p:nvPr/>
        </p:nvSpPr>
        <p:spPr>
          <a:xfrm>
            <a:off x="3429000" y="1709928"/>
            <a:ext cx="2194560" cy="731520"/>
          </a:xfrm>
          <a:prstGeom prst="rect">
            <a:avLst/>
          </a:prstGeom>
          <a:noFill/>
          <a:ln/>
        </p:spPr>
        <p:txBody>
          <a:bodyPr wrap="square" lIns="0" tIns="0" rIns="0" bIns="0" rtlCol="0" anchor="t"/>
          <a:lstStyle/>
          <a:p>
            <a:pPr marL="0" indent="0">
              <a:buNone/>
            </a:pPr>
            <a:r>
              <a:rPr lang="en-US" sz="3800" b="1" dirty="0">
                <a:solidFill>
                  <a:schemeClr val="accent3"/>
                </a:solidFill>
              </a:rPr>
              <a:t>−30%</a:t>
            </a:r>
            <a:endParaRPr lang="en-US" sz="3800" dirty="0"/>
          </a:p>
        </p:txBody>
      </p:sp>
      <p:sp>
        <p:nvSpPr>
          <p:cNvPr id="11" name="Text 8"/>
          <p:cNvSpPr txBox="1"/>
          <p:nvPr/>
        </p:nvSpPr>
        <p:spPr>
          <a:xfrm>
            <a:off x="3429000" y="2441448"/>
            <a:ext cx="2194560" cy="320040"/>
          </a:xfrm>
          <a:prstGeom prst="rect">
            <a:avLst/>
          </a:prstGeom>
          <a:noFill/>
          <a:ln/>
        </p:spPr>
        <p:txBody>
          <a:bodyPr wrap="square" lIns="0" tIns="0" rIns="0" bIns="0" rtlCol="0" anchor="t"/>
          <a:lstStyle/>
          <a:p>
            <a:pPr marL="0" indent="0">
              <a:buNone/>
            </a:pPr>
            <a:r>
              <a:rPr lang="en-US" sz="1400" b="1" dirty="0">
                <a:solidFill>
                  <a:schemeClr val="tx2"/>
                </a:solidFill>
              </a:rPr>
              <a:t>error frente a la media</a:t>
            </a:r>
            <a:endParaRPr lang="en-US" sz="1400" dirty="0"/>
          </a:p>
        </p:txBody>
      </p:sp>
      <p:sp>
        <p:nvSpPr>
          <p:cNvPr id="12" name="Text 9"/>
          <p:cNvSpPr txBox="1"/>
          <p:nvPr/>
        </p:nvSpPr>
        <p:spPr>
          <a:xfrm>
            <a:off x="3429000" y="2788920"/>
            <a:ext cx="2194560" cy="320040"/>
          </a:xfrm>
          <a:prstGeom prst="rect">
            <a:avLst/>
          </a:prstGeom>
          <a:noFill/>
          <a:ln/>
        </p:spPr>
        <p:txBody>
          <a:bodyPr wrap="square" lIns="0" tIns="0" rIns="0" bIns="0" rtlCol="0" anchor="t"/>
          <a:lstStyle/>
          <a:p>
            <a:pPr marL="0" indent="0">
              <a:buNone/>
            </a:pPr>
            <a:r>
              <a:rPr lang="en-US" sz="1200" dirty="0">
                <a:solidFill>
                  <a:srgbClr val="64748B"/>
                </a:solidFill>
              </a:rPr>
              <a:t>75% de la mejora supervisada</a:t>
            </a:r>
            <a:endParaRPr lang="en-US" sz="1200" dirty="0"/>
          </a:p>
        </p:txBody>
      </p:sp>
      <p:sp>
        <p:nvSpPr>
          <p:cNvPr id="13" name="Shape 10"/>
          <p:cNvSpPr/>
          <p:nvPr/>
        </p:nvSpPr>
        <p:spPr>
          <a:xfrm>
            <a:off x="548640" y="3474720"/>
            <a:ext cx="2514600" cy="1691640"/>
          </a:xfrm>
          <a:prstGeom prst="roundRect">
            <a:avLst>
              <a:gd name="adj" fmla="val 648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4" name="Text 11"/>
          <p:cNvSpPr txBox="1"/>
          <p:nvPr/>
        </p:nvSpPr>
        <p:spPr>
          <a:xfrm>
            <a:off x="731520" y="3584448"/>
            <a:ext cx="2194560" cy="731520"/>
          </a:xfrm>
          <a:prstGeom prst="rect">
            <a:avLst/>
          </a:prstGeom>
          <a:noFill/>
          <a:ln/>
        </p:spPr>
        <p:txBody>
          <a:bodyPr wrap="square" lIns="0" tIns="0" rIns="0" bIns="0" rtlCol="0" anchor="t"/>
          <a:lstStyle/>
          <a:p>
            <a:pPr marL="0" indent="0">
              <a:buNone/>
            </a:pPr>
            <a:r>
              <a:rPr lang="en-US" sz="3800" b="1" dirty="0">
                <a:solidFill>
                  <a:schemeClr val="accent6"/>
                </a:solidFill>
              </a:rPr>
              <a:t>57,2%</a:t>
            </a:r>
            <a:endParaRPr lang="en-US" sz="3800" dirty="0"/>
          </a:p>
        </p:txBody>
      </p:sp>
      <p:sp>
        <p:nvSpPr>
          <p:cNvPr id="15" name="Text 12"/>
          <p:cNvSpPr txBox="1"/>
          <p:nvPr/>
        </p:nvSpPr>
        <p:spPr>
          <a:xfrm>
            <a:off x="731520" y="4315968"/>
            <a:ext cx="2194560" cy="320040"/>
          </a:xfrm>
          <a:prstGeom prst="rect">
            <a:avLst/>
          </a:prstGeom>
          <a:noFill/>
          <a:ln/>
        </p:spPr>
        <p:txBody>
          <a:bodyPr wrap="square" lIns="0" tIns="0" rIns="0" bIns="0" rtlCol="0" anchor="t"/>
          <a:lstStyle/>
          <a:p>
            <a:pPr marL="0" indent="0">
              <a:buNone/>
            </a:pPr>
            <a:r>
              <a:rPr lang="en-US" sz="1400" b="1" dirty="0">
                <a:solidFill>
                  <a:schemeClr val="tx2"/>
                </a:solidFill>
              </a:rPr>
              <a:t>acierto de categoría</a:t>
            </a:r>
            <a:endParaRPr lang="en-US" sz="1400" dirty="0"/>
          </a:p>
        </p:txBody>
      </p:sp>
      <p:sp>
        <p:nvSpPr>
          <p:cNvPr id="16" name="Text 13"/>
          <p:cNvSpPr txBox="1"/>
          <p:nvPr/>
        </p:nvSpPr>
        <p:spPr>
          <a:xfrm>
            <a:off x="731520" y="4663440"/>
            <a:ext cx="2194560" cy="320040"/>
          </a:xfrm>
          <a:prstGeom prst="rect">
            <a:avLst/>
          </a:prstGeom>
          <a:noFill/>
          <a:ln/>
        </p:spPr>
        <p:txBody>
          <a:bodyPr wrap="square" lIns="0" tIns="0" rIns="0" bIns="0" rtlCol="0" anchor="t"/>
          <a:lstStyle/>
          <a:p>
            <a:pPr marL="0" indent="0">
              <a:buNone/>
            </a:pPr>
            <a:r>
              <a:rPr lang="en-US" sz="1200" dirty="0">
                <a:solidFill>
                  <a:srgbClr val="64748B"/>
                </a:solidFill>
              </a:rPr>
              <a:t>la más común: 43%</a:t>
            </a:r>
            <a:endParaRPr lang="en-US" sz="1200" dirty="0"/>
          </a:p>
        </p:txBody>
      </p:sp>
      <p:sp>
        <p:nvSpPr>
          <p:cNvPr id="17" name="Shape 14"/>
          <p:cNvSpPr/>
          <p:nvPr/>
        </p:nvSpPr>
        <p:spPr>
          <a:xfrm>
            <a:off x="3246120" y="3474720"/>
            <a:ext cx="2514600" cy="1691640"/>
          </a:xfrm>
          <a:prstGeom prst="roundRect">
            <a:avLst>
              <a:gd name="adj" fmla="val 648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8" name="Text 15"/>
          <p:cNvSpPr txBox="1"/>
          <p:nvPr/>
        </p:nvSpPr>
        <p:spPr>
          <a:xfrm>
            <a:off x="3429000" y="3584448"/>
            <a:ext cx="2194560" cy="731520"/>
          </a:xfrm>
          <a:prstGeom prst="rect">
            <a:avLst/>
          </a:prstGeom>
          <a:noFill/>
          <a:ln/>
        </p:spPr>
        <p:txBody>
          <a:bodyPr wrap="square" lIns="0" tIns="0" rIns="0" bIns="0" rtlCol="0" anchor="t"/>
          <a:lstStyle/>
          <a:p>
            <a:pPr marL="0" indent="0">
              <a:buNone/>
            </a:pPr>
            <a:r>
              <a:rPr lang="en-US" sz="3800" b="1" dirty="0">
                <a:solidFill>
                  <a:schemeClr val="accent5"/>
                </a:solidFill>
              </a:rPr>
              <a:t>98%</a:t>
            </a:r>
            <a:endParaRPr lang="en-US" sz="3800" dirty="0"/>
          </a:p>
        </p:txBody>
      </p:sp>
      <p:sp>
        <p:nvSpPr>
          <p:cNvPr id="19" name="Text 16"/>
          <p:cNvSpPr txBox="1"/>
          <p:nvPr/>
        </p:nvSpPr>
        <p:spPr>
          <a:xfrm>
            <a:off x="3429000" y="4315968"/>
            <a:ext cx="2194560" cy="320040"/>
          </a:xfrm>
          <a:prstGeom prst="rect">
            <a:avLst/>
          </a:prstGeom>
          <a:noFill/>
          <a:ln/>
        </p:spPr>
        <p:txBody>
          <a:bodyPr wrap="square" lIns="0" tIns="0" rIns="0" bIns="0" rtlCol="0" anchor="t"/>
          <a:lstStyle/>
          <a:p>
            <a:pPr marL="0" indent="0">
              <a:buNone/>
            </a:pPr>
            <a:r>
              <a:rPr lang="en-US" sz="1400" b="1" dirty="0">
                <a:solidFill>
                  <a:schemeClr val="tx2"/>
                </a:solidFill>
              </a:rPr>
              <a:t>en su categoría o la vecina</a:t>
            </a:r>
            <a:endParaRPr lang="en-US" sz="1400" dirty="0"/>
          </a:p>
        </p:txBody>
      </p:sp>
      <p:sp>
        <p:nvSpPr>
          <p:cNvPr id="20" name="Text 17"/>
          <p:cNvSpPr txBox="1"/>
          <p:nvPr/>
        </p:nvSpPr>
        <p:spPr>
          <a:xfrm>
            <a:off x="3429000" y="4663440"/>
            <a:ext cx="2194560" cy="320040"/>
          </a:xfrm>
          <a:prstGeom prst="rect">
            <a:avLst/>
          </a:prstGeom>
          <a:noFill/>
          <a:ln/>
        </p:spPr>
        <p:txBody>
          <a:bodyPr wrap="square" lIns="0" tIns="0" rIns="0" bIns="0" rtlCol="0" anchor="t"/>
          <a:lstStyle/>
          <a:p>
            <a:pPr marL="0" indent="0">
              <a:buNone/>
            </a:pPr>
            <a:r>
              <a:rPr lang="en-US" sz="1200" dirty="0">
                <a:solidFill>
                  <a:srgbClr val="64748B"/>
                </a:solidFill>
              </a:rPr>
              <a:t>dataset 1</a:t>
            </a:r>
            <a:endParaRPr lang="en-US" sz="1200" dirty="0"/>
          </a:p>
        </p:txBody>
      </p:sp>
      <p:graphicFrame>
        <p:nvGraphicFramePr>
          <p:cNvPr id="21" name="Chart 0"/>
          <p:cNvGraphicFramePr/>
          <p:nvPr/>
        </p:nvGraphicFramePr>
        <p:xfrm>
          <a:off x="5897880" y="1554480"/>
          <a:ext cx="576072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22" name="Shape 18"/>
          <p:cNvSpPr/>
          <p:nvPr/>
        </p:nvSpPr>
        <p:spPr>
          <a:xfrm>
            <a:off x="5897880" y="4846320"/>
            <a:ext cx="5760720" cy="1188720"/>
          </a:xfrm>
          <a:prstGeom prst="roundRect">
            <a:avLst>
              <a:gd name="adj" fmla="val 9231"/>
            </a:avLst>
          </a:prstGeom>
          <a:solidFill>
            <a:srgbClr val="FFF1E8"/>
          </a:solidFill>
          <a:ln/>
        </p:spPr>
        <p:txBody>
          <a:bodyPr/>
          <a:lstStyle/>
          <a:p>
            <a:endParaRPr lang="es-AR"/>
          </a:p>
        </p:txBody>
      </p:sp>
      <p:sp>
        <p:nvSpPr>
          <p:cNvPr id="23" name="Text 19"/>
          <p:cNvSpPr txBox="1"/>
          <p:nvPr/>
        </p:nvSpPr>
        <p:spPr>
          <a:xfrm>
            <a:off x="6080760" y="4892040"/>
            <a:ext cx="5440680" cy="1097280"/>
          </a:xfrm>
          <a:prstGeom prst="rect">
            <a:avLst/>
          </a:prstGeom>
          <a:noFill/>
          <a:ln/>
        </p:spPr>
        <p:txBody>
          <a:bodyPr wrap="square" lIns="0" tIns="0" rIns="0" bIns="0" rtlCol="0" anchor="ctr"/>
          <a:lstStyle/>
          <a:p>
            <a:pPr marL="0" indent="0">
              <a:buNone/>
            </a:pPr>
            <a:r>
              <a:rPr lang="en-US" sz="1400" b="1" dirty="0">
                <a:solidFill>
                  <a:srgbClr val="EA580C"/>
                </a:solidFill>
              </a:rPr>
              <a:t>Dataset 2: </a:t>
            </a:r>
            <a:r>
              <a:rPr lang="en-US" sz="1400" dirty="0">
                <a:solidFill>
                  <a:schemeClr val="tx1"/>
                </a:solidFill>
              </a:rPr>
              <a:t>MAE 0,23 contra 0,29 de la media, misma pureza (84,6%) y compresión (0,074). Su 98% de acierto es trivial: el 98% es Aprobado Regular.</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Alcance y limitaciones</a:t>
            </a:r>
            <a:endParaRPr lang="en-US" sz="3200" dirty="0"/>
          </a:p>
        </p:txBody>
      </p:sp>
      <p:sp>
        <p:nvSpPr>
          <p:cNvPr id="3" name="Text 1"/>
          <p:cNvSpPr txBox="1"/>
          <p:nvPr/>
        </p:nvSpPr>
        <p:spPr>
          <a:xfrm>
            <a:off x="548640" y="274320"/>
            <a:ext cx="8229600" cy="256032"/>
          </a:xfrm>
          <a:prstGeom prst="rect">
            <a:avLst/>
          </a:prstGeom>
          <a:noFill/>
          <a:ln/>
        </p:spPr>
        <p:txBody>
          <a:bodyPr wrap="square" lIns="0" tIns="0" rIns="0" bIns="0" rtlCol="0" anchor="ctr"/>
          <a:lstStyle/>
          <a:p>
            <a:pPr marL="0" indent="0">
              <a:buNone/>
            </a:pPr>
            <a:r>
              <a:rPr lang="en-US" sz="1200" b="1" kern="0" spc="200" dirty="0">
                <a:solidFill>
                  <a:schemeClr val="accent1"/>
                </a:solidFill>
              </a:rPr>
              <a:t>PARTE 2 · LO QUE EL SISTEMA HACE Y LO QUE NO</a:t>
            </a:r>
            <a:endParaRPr lang="en-US" sz="1200" dirty="0"/>
          </a:p>
        </p:txBody>
      </p:sp>
      <p:sp>
        <p:nvSpPr>
          <p:cNvPr id="5" name="Shape 2"/>
          <p:cNvSpPr/>
          <p:nvPr/>
        </p:nvSpPr>
        <p:spPr>
          <a:xfrm>
            <a:off x="548640" y="1600200"/>
            <a:ext cx="4206240" cy="2148840"/>
          </a:xfrm>
          <a:prstGeom prst="roundRect">
            <a:avLst>
              <a:gd name="adj" fmla="val 5106"/>
            </a:avLst>
          </a:prstGeom>
          <a:solidFill>
            <a:srgbClr val="E9F7EF"/>
          </a:solidFill>
          <a:ln/>
        </p:spPr>
        <p:txBody>
          <a:bodyPr/>
          <a:lstStyle/>
          <a:p>
            <a:endParaRPr lang="es-AR"/>
          </a:p>
        </p:txBody>
      </p:sp>
      <p:sp>
        <p:nvSpPr>
          <p:cNvPr id="6" name="Text 3"/>
          <p:cNvSpPr txBox="1"/>
          <p:nvPr/>
        </p:nvSpPr>
        <p:spPr>
          <a:xfrm>
            <a:off x="777240" y="1737360"/>
            <a:ext cx="3840480" cy="365760"/>
          </a:xfrm>
          <a:prstGeom prst="rect">
            <a:avLst/>
          </a:prstGeom>
          <a:noFill/>
          <a:ln/>
        </p:spPr>
        <p:txBody>
          <a:bodyPr wrap="square" lIns="0" tIns="0" rIns="0" bIns="0" rtlCol="0" anchor="t"/>
          <a:lstStyle/>
          <a:p>
            <a:pPr marL="0" indent="0">
              <a:buNone/>
            </a:pPr>
            <a:r>
              <a:rPr lang="en-US" sz="1700" b="1" dirty="0">
                <a:solidFill>
                  <a:schemeClr val="accent5"/>
                </a:solidFill>
              </a:rPr>
              <a:t>Dentro del alcance</a:t>
            </a:r>
            <a:endParaRPr lang="en-US" sz="1700" dirty="0"/>
          </a:p>
        </p:txBody>
      </p:sp>
      <p:sp>
        <p:nvSpPr>
          <p:cNvPr id="7" name="Text 4"/>
          <p:cNvSpPr txBox="1"/>
          <p:nvPr/>
        </p:nvSpPr>
        <p:spPr>
          <a:xfrm>
            <a:off x="777240" y="2148840"/>
            <a:ext cx="3840480" cy="15087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Nota esperada y categoría del próximo examen</a:t>
            </a:r>
            <a:endParaRPr lang="en-US" sz="1400" dirty="0"/>
          </a:p>
          <a:p>
            <a:pPr marL="342900" indent="-342900">
              <a:spcAft>
                <a:spcPts val="500"/>
              </a:spcAft>
              <a:buSzPct val="100000"/>
              <a:buChar char="•"/>
            </a:pPr>
            <a:r>
              <a:rPr lang="en-US" sz="1400" dirty="0">
                <a:solidFill>
                  <a:schemeClr val="tx1"/>
                </a:solidFill>
              </a:rPr>
              <a:t>5 variables; la nota nunca entra a la red</a:t>
            </a:r>
            <a:endParaRPr lang="en-US" sz="1400" dirty="0"/>
          </a:p>
          <a:p>
            <a:pPr marL="342900" indent="-342900">
              <a:spcAft>
                <a:spcPts val="500"/>
              </a:spcAft>
              <a:buSzPct val="100000"/>
              <a:buChar char="•"/>
            </a:pPr>
            <a:r>
              <a:rPr lang="en-US" sz="1400" dirty="0">
                <a:solidFill>
                  <a:schemeClr val="tx1"/>
                </a:solidFill>
              </a:rPr>
              <a:t>2 datasets · CLI y app · CSV</a:t>
            </a:r>
            <a:endParaRPr lang="en-US" sz="1400" dirty="0"/>
          </a:p>
        </p:txBody>
      </p:sp>
      <p:sp>
        <p:nvSpPr>
          <p:cNvPr id="8" name="Shape 5"/>
          <p:cNvSpPr/>
          <p:nvPr/>
        </p:nvSpPr>
        <p:spPr>
          <a:xfrm>
            <a:off x="548640" y="3931920"/>
            <a:ext cx="4206240" cy="2148840"/>
          </a:xfrm>
          <a:prstGeom prst="roundRect">
            <a:avLst>
              <a:gd name="adj" fmla="val 5106"/>
            </a:avLst>
          </a:prstGeom>
          <a:solidFill>
            <a:srgbClr val="FDECEC"/>
          </a:solidFill>
          <a:ln/>
        </p:spPr>
        <p:txBody>
          <a:bodyPr/>
          <a:lstStyle/>
          <a:p>
            <a:endParaRPr lang="es-AR"/>
          </a:p>
        </p:txBody>
      </p:sp>
      <p:sp>
        <p:nvSpPr>
          <p:cNvPr id="9" name="Text 6"/>
          <p:cNvSpPr txBox="1"/>
          <p:nvPr/>
        </p:nvSpPr>
        <p:spPr>
          <a:xfrm>
            <a:off x="777240" y="4069080"/>
            <a:ext cx="3840480" cy="365760"/>
          </a:xfrm>
          <a:prstGeom prst="rect">
            <a:avLst/>
          </a:prstGeom>
          <a:noFill/>
          <a:ln/>
        </p:spPr>
        <p:txBody>
          <a:bodyPr wrap="square" lIns="0" tIns="0" rIns="0" bIns="0" rtlCol="0" anchor="t"/>
          <a:lstStyle/>
          <a:p>
            <a:pPr marL="0" indent="0">
              <a:buNone/>
            </a:pPr>
            <a:r>
              <a:rPr lang="en-US" sz="1700" b="1" dirty="0">
                <a:solidFill>
                  <a:schemeClr val="accent4"/>
                </a:solidFill>
              </a:rPr>
              <a:t>Fuera del alcance</a:t>
            </a:r>
            <a:endParaRPr lang="en-US" sz="1700" dirty="0"/>
          </a:p>
        </p:txBody>
      </p:sp>
      <p:sp>
        <p:nvSpPr>
          <p:cNvPr id="10" name="Text 7"/>
          <p:cNvSpPr txBox="1"/>
          <p:nvPr/>
        </p:nvSpPr>
        <p:spPr>
          <a:xfrm>
            <a:off x="777240" y="4480560"/>
            <a:ext cx="3840480" cy="1508760"/>
          </a:xfrm>
          <a:prstGeom prst="rect">
            <a:avLst/>
          </a:prstGeom>
          <a:noFill/>
          <a:ln/>
        </p:spPr>
        <p:txBody>
          <a:bodyPr wrap="square" lIns="0" tIns="0" rIns="0" bIns="0" rtlCol="0" anchor="t"/>
          <a:lstStyle/>
          <a:p>
            <a:pPr marL="342900" indent="-342900">
              <a:spcAft>
                <a:spcPts val="500"/>
              </a:spcAft>
              <a:buSzPct val="100000"/>
              <a:buChar char="•"/>
            </a:pPr>
            <a:r>
              <a:rPr lang="en-US" sz="1400" dirty="0">
                <a:solidFill>
                  <a:schemeClr val="tx1"/>
                </a:solidFill>
              </a:rPr>
              <a:t>Alertas de deserción y recomendaciones</a:t>
            </a:r>
            <a:endParaRPr lang="en-US" sz="1400" dirty="0"/>
          </a:p>
          <a:p>
            <a:pPr marL="342900" indent="-342900">
              <a:spcAft>
                <a:spcPts val="500"/>
              </a:spcAft>
              <a:buSzPct val="100000"/>
              <a:buChar char="•"/>
            </a:pPr>
            <a:r>
              <a:rPr lang="en-US" sz="1400" dirty="0">
                <a:solidFill>
                  <a:schemeClr val="tx1"/>
                </a:solidFill>
              </a:rPr>
              <a:t>Alumnos reales de la facultad</a:t>
            </a:r>
            <a:endParaRPr lang="en-US" sz="1400" dirty="0"/>
          </a:p>
          <a:p>
            <a:pPr marL="342900" indent="-342900">
              <a:spcAft>
                <a:spcPts val="500"/>
              </a:spcAft>
              <a:buSzPct val="100000"/>
              <a:buChar char="•"/>
            </a:pPr>
            <a:r>
              <a:rPr lang="en-US" sz="1400" dirty="0">
                <a:solidFill>
                  <a:schemeClr val="tx1"/>
                </a:solidFill>
              </a:rPr>
              <a:t>Uso en producción · explicar causas</a:t>
            </a:r>
            <a:endParaRPr lang="en-US" sz="1400" dirty="0"/>
          </a:p>
        </p:txBody>
      </p:sp>
      <p:sp>
        <p:nvSpPr>
          <p:cNvPr id="16" name="Shape 12"/>
          <p:cNvSpPr/>
          <p:nvPr/>
        </p:nvSpPr>
        <p:spPr>
          <a:xfrm>
            <a:off x="5469147" y="1600200"/>
            <a:ext cx="5460522" cy="1325880"/>
          </a:xfrm>
          <a:prstGeom prst="roundRect">
            <a:avLst>
              <a:gd name="adj" fmla="val 827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17" name="Shape 13"/>
          <p:cNvSpPr/>
          <p:nvPr/>
        </p:nvSpPr>
        <p:spPr>
          <a:xfrm>
            <a:off x="7161581" y="1788601"/>
            <a:ext cx="502920" cy="502920"/>
          </a:xfrm>
          <a:prstGeom prst="ellipse">
            <a:avLst/>
          </a:prstGeom>
          <a:solidFill>
            <a:schemeClr val="accent2"/>
          </a:solidFill>
          <a:ln/>
        </p:spPr>
        <p:txBody>
          <a:bodyPr/>
          <a:lstStyle/>
          <a:p>
            <a:endParaRPr lang="es-AR"/>
          </a:p>
        </p:txBody>
      </p:sp>
      <p:pic>
        <p:nvPicPr>
          <p:cNvPr id="18" name="Image 1" descr="preencoded.png"/>
          <p:cNvPicPr>
            <a:picLocks noChangeAspect="1"/>
          </p:cNvPicPr>
          <p:nvPr/>
        </p:nvPicPr>
        <p:blipFill>
          <a:blip r:embed="rId3"/>
          <a:stretch>
            <a:fillRect/>
          </a:stretch>
        </p:blipFill>
        <p:spPr>
          <a:xfrm>
            <a:off x="7292340" y="1919360"/>
            <a:ext cx="241402" cy="241402"/>
          </a:xfrm>
          <a:prstGeom prst="rect">
            <a:avLst/>
          </a:prstGeom>
        </p:spPr>
      </p:pic>
      <p:sp>
        <p:nvSpPr>
          <p:cNvPr id="19" name="Text 14"/>
          <p:cNvSpPr txBox="1"/>
          <p:nvPr/>
        </p:nvSpPr>
        <p:spPr>
          <a:xfrm>
            <a:off x="7801661" y="1770313"/>
            <a:ext cx="2240280" cy="548640"/>
          </a:xfrm>
          <a:prstGeom prst="rect">
            <a:avLst/>
          </a:prstGeom>
          <a:noFill/>
          <a:ln/>
        </p:spPr>
        <p:txBody>
          <a:bodyPr wrap="square" lIns="0" tIns="0" rIns="0" bIns="0" rtlCol="0" anchor="ctr"/>
          <a:lstStyle/>
          <a:p>
            <a:pPr marL="0" indent="0">
              <a:buNone/>
            </a:pPr>
            <a:r>
              <a:rPr lang="en-US" sz="1500" b="1" dirty="0">
                <a:solidFill>
                  <a:schemeClr val="tx2"/>
                </a:solidFill>
              </a:rPr>
              <a:t>Perfiles superpuestos</a:t>
            </a:r>
            <a:endParaRPr lang="en-US" sz="1500" dirty="0"/>
          </a:p>
        </p:txBody>
      </p:sp>
      <p:sp>
        <p:nvSpPr>
          <p:cNvPr id="20" name="Text 15"/>
          <p:cNvSpPr txBox="1"/>
          <p:nvPr/>
        </p:nvSpPr>
        <p:spPr>
          <a:xfrm>
            <a:off x="7161581" y="2364673"/>
            <a:ext cx="2834640" cy="502920"/>
          </a:xfrm>
          <a:prstGeom prst="rect">
            <a:avLst/>
          </a:prstGeom>
          <a:noFill/>
          <a:ln/>
        </p:spPr>
        <p:txBody>
          <a:bodyPr wrap="square" lIns="0" tIns="0" rIns="0" bIns="0" rtlCol="0" anchor="t"/>
          <a:lstStyle/>
          <a:p>
            <a:pPr marL="0" indent="0">
              <a:buNone/>
            </a:pPr>
            <a:r>
              <a:rPr lang="en-US" sz="1200" dirty="0">
                <a:solidFill>
                  <a:schemeClr val="tx1"/>
                </a:solidFill>
              </a:rPr>
              <a:t>Silhouette 0,19 (meta 0,40).</a:t>
            </a:r>
            <a:endParaRPr lang="en-US" sz="1200" dirty="0"/>
          </a:p>
        </p:txBody>
      </p:sp>
      <p:sp>
        <p:nvSpPr>
          <p:cNvPr id="21" name="Shape 16"/>
          <p:cNvSpPr/>
          <p:nvPr/>
        </p:nvSpPr>
        <p:spPr>
          <a:xfrm>
            <a:off x="5029200" y="3108960"/>
            <a:ext cx="3154680" cy="1325880"/>
          </a:xfrm>
          <a:prstGeom prst="roundRect">
            <a:avLst>
              <a:gd name="adj" fmla="val 827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22" name="Shape 17"/>
          <p:cNvSpPr/>
          <p:nvPr/>
        </p:nvSpPr>
        <p:spPr>
          <a:xfrm>
            <a:off x="5212080" y="3310128"/>
            <a:ext cx="502920" cy="502920"/>
          </a:xfrm>
          <a:prstGeom prst="ellipse">
            <a:avLst/>
          </a:prstGeom>
          <a:solidFill>
            <a:schemeClr val="accent2"/>
          </a:solidFill>
          <a:ln/>
        </p:spPr>
        <p:txBody>
          <a:bodyPr/>
          <a:lstStyle/>
          <a:p>
            <a:endParaRPr lang="es-AR"/>
          </a:p>
        </p:txBody>
      </p:sp>
      <p:pic>
        <p:nvPicPr>
          <p:cNvPr id="23" name="Image 2" descr="preencoded.png"/>
          <p:cNvPicPr>
            <a:picLocks noChangeAspect="1"/>
          </p:cNvPicPr>
          <p:nvPr/>
        </p:nvPicPr>
        <p:blipFill>
          <a:blip r:embed="rId4"/>
          <a:stretch>
            <a:fillRect/>
          </a:stretch>
        </p:blipFill>
        <p:spPr>
          <a:xfrm>
            <a:off x="5342839" y="3440887"/>
            <a:ext cx="241402" cy="241402"/>
          </a:xfrm>
          <a:prstGeom prst="rect">
            <a:avLst/>
          </a:prstGeom>
        </p:spPr>
      </p:pic>
      <p:sp>
        <p:nvSpPr>
          <p:cNvPr id="24" name="Text 18"/>
          <p:cNvSpPr txBox="1"/>
          <p:nvPr/>
        </p:nvSpPr>
        <p:spPr>
          <a:xfrm>
            <a:off x="5852160" y="3291840"/>
            <a:ext cx="2240280" cy="548640"/>
          </a:xfrm>
          <a:prstGeom prst="rect">
            <a:avLst/>
          </a:prstGeom>
          <a:noFill/>
          <a:ln/>
        </p:spPr>
        <p:txBody>
          <a:bodyPr wrap="square" lIns="0" tIns="0" rIns="0" bIns="0" rtlCol="0" anchor="ctr"/>
          <a:lstStyle/>
          <a:p>
            <a:pPr marL="0" indent="0">
              <a:buNone/>
            </a:pPr>
            <a:r>
              <a:rPr lang="en-US" sz="1500" b="1" dirty="0">
                <a:solidFill>
                  <a:schemeClr val="tx2"/>
                </a:solidFill>
              </a:rPr>
              <a:t>Extremos suavizados</a:t>
            </a:r>
            <a:endParaRPr lang="en-US" sz="1500" dirty="0"/>
          </a:p>
        </p:txBody>
      </p:sp>
      <p:sp>
        <p:nvSpPr>
          <p:cNvPr id="25" name="Text 19"/>
          <p:cNvSpPr txBox="1"/>
          <p:nvPr/>
        </p:nvSpPr>
        <p:spPr>
          <a:xfrm>
            <a:off x="5212080" y="3886200"/>
            <a:ext cx="2834640" cy="502920"/>
          </a:xfrm>
          <a:prstGeom prst="rect">
            <a:avLst/>
          </a:prstGeom>
          <a:noFill/>
          <a:ln/>
        </p:spPr>
        <p:txBody>
          <a:bodyPr wrap="square" lIns="0" tIns="0" rIns="0" bIns="0" rtlCol="0" anchor="t"/>
          <a:lstStyle/>
          <a:p>
            <a:pPr marL="0" indent="0">
              <a:buNone/>
            </a:pPr>
            <a:r>
              <a:rPr lang="en-US" sz="1200" dirty="0">
                <a:solidFill>
                  <a:schemeClr val="tx1"/>
                </a:solidFill>
              </a:rPr>
              <a:t>Detecta 87 de 291 Promoción y 31 de 161 Desaprobado.</a:t>
            </a:r>
            <a:endParaRPr lang="en-US" sz="1200" dirty="0"/>
          </a:p>
        </p:txBody>
      </p:sp>
      <p:sp>
        <p:nvSpPr>
          <p:cNvPr id="26" name="Shape 20"/>
          <p:cNvSpPr/>
          <p:nvPr/>
        </p:nvSpPr>
        <p:spPr>
          <a:xfrm>
            <a:off x="8366760" y="3108960"/>
            <a:ext cx="3154680" cy="1325880"/>
          </a:xfrm>
          <a:prstGeom prst="roundRect">
            <a:avLst>
              <a:gd name="adj" fmla="val 827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27" name="Shape 21"/>
          <p:cNvSpPr/>
          <p:nvPr/>
        </p:nvSpPr>
        <p:spPr>
          <a:xfrm>
            <a:off x="8549640" y="3310128"/>
            <a:ext cx="502920" cy="502920"/>
          </a:xfrm>
          <a:prstGeom prst="ellipse">
            <a:avLst/>
          </a:prstGeom>
          <a:solidFill>
            <a:schemeClr val="accent2"/>
          </a:solidFill>
          <a:ln/>
        </p:spPr>
        <p:txBody>
          <a:bodyPr/>
          <a:lstStyle/>
          <a:p>
            <a:endParaRPr lang="es-AR"/>
          </a:p>
        </p:txBody>
      </p:sp>
      <p:pic>
        <p:nvPicPr>
          <p:cNvPr id="28" name="Image 3" descr="preencoded.png"/>
          <p:cNvPicPr>
            <a:picLocks noChangeAspect="1"/>
          </p:cNvPicPr>
          <p:nvPr/>
        </p:nvPicPr>
        <p:blipFill>
          <a:blip r:embed="rId5"/>
          <a:stretch>
            <a:fillRect/>
          </a:stretch>
        </p:blipFill>
        <p:spPr>
          <a:xfrm>
            <a:off x="8680399" y="3440887"/>
            <a:ext cx="241402" cy="241402"/>
          </a:xfrm>
          <a:prstGeom prst="rect">
            <a:avLst/>
          </a:prstGeom>
        </p:spPr>
      </p:pic>
      <p:sp>
        <p:nvSpPr>
          <p:cNvPr id="29" name="Text 22"/>
          <p:cNvSpPr txBox="1"/>
          <p:nvPr/>
        </p:nvSpPr>
        <p:spPr>
          <a:xfrm>
            <a:off x="9189720" y="3291840"/>
            <a:ext cx="2240280" cy="548640"/>
          </a:xfrm>
          <a:prstGeom prst="rect">
            <a:avLst/>
          </a:prstGeom>
          <a:noFill/>
          <a:ln/>
        </p:spPr>
        <p:txBody>
          <a:bodyPr wrap="square" lIns="0" tIns="0" rIns="0" bIns="0" rtlCol="0" anchor="ctr"/>
          <a:lstStyle/>
          <a:p>
            <a:pPr marL="0" indent="0">
              <a:buNone/>
            </a:pPr>
            <a:r>
              <a:rPr lang="en-US" sz="1500" b="1" dirty="0">
                <a:solidFill>
                  <a:schemeClr val="tx2"/>
                </a:solidFill>
              </a:rPr>
              <a:t>Nota no monótona (D-17)</a:t>
            </a:r>
            <a:endParaRPr lang="en-US" sz="1500" dirty="0"/>
          </a:p>
        </p:txBody>
      </p:sp>
      <p:sp>
        <p:nvSpPr>
          <p:cNvPr id="30" name="Text 23"/>
          <p:cNvSpPr txBox="1"/>
          <p:nvPr/>
        </p:nvSpPr>
        <p:spPr>
          <a:xfrm>
            <a:off x="8549640" y="3886200"/>
            <a:ext cx="2834640" cy="502920"/>
          </a:xfrm>
          <a:prstGeom prst="rect">
            <a:avLst/>
          </a:prstGeom>
          <a:noFill/>
          <a:ln/>
        </p:spPr>
        <p:txBody>
          <a:bodyPr wrap="square" lIns="0" tIns="0" rIns="0" bIns="0" rtlCol="0" anchor="t"/>
          <a:lstStyle/>
          <a:p>
            <a:pPr marL="0" indent="0">
              <a:buNone/>
            </a:pPr>
            <a:r>
              <a:rPr lang="en-US" sz="1200" dirty="0">
                <a:solidFill>
                  <a:schemeClr val="tx1"/>
                </a:solidFill>
              </a:rPr>
              <a:t>17,7%: mejorar un hábito baja la nota &gt; 0,3.</a:t>
            </a:r>
            <a:endParaRPr lang="en-US" sz="1200" dirty="0"/>
          </a:p>
        </p:txBody>
      </p:sp>
      <p:sp>
        <p:nvSpPr>
          <p:cNvPr id="31" name="Shape 24"/>
          <p:cNvSpPr/>
          <p:nvPr/>
        </p:nvSpPr>
        <p:spPr>
          <a:xfrm>
            <a:off x="5029200" y="4617720"/>
            <a:ext cx="3154680" cy="1325880"/>
          </a:xfrm>
          <a:prstGeom prst="roundRect">
            <a:avLst>
              <a:gd name="adj" fmla="val 827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32" name="Shape 25"/>
          <p:cNvSpPr/>
          <p:nvPr/>
        </p:nvSpPr>
        <p:spPr>
          <a:xfrm>
            <a:off x="5212080" y="4818888"/>
            <a:ext cx="502920" cy="502920"/>
          </a:xfrm>
          <a:prstGeom prst="ellipse">
            <a:avLst/>
          </a:prstGeom>
          <a:solidFill>
            <a:schemeClr val="accent2"/>
          </a:solidFill>
          <a:ln/>
        </p:spPr>
        <p:txBody>
          <a:bodyPr/>
          <a:lstStyle/>
          <a:p>
            <a:endParaRPr lang="es-AR"/>
          </a:p>
        </p:txBody>
      </p:sp>
      <p:pic>
        <p:nvPicPr>
          <p:cNvPr id="33" name="Image 4" descr="preencoded.png"/>
          <p:cNvPicPr>
            <a:picLocks noChangeAspect="1"/>
          </p:cNvPicPr>
          <p:nvPr/>
        </p:nvPicPr>
        <p:blipFill>
          <a:blip r:embed="rId6"/>
          <a:stretch>
            <a:fillRect/>
          </a:stretch>
        </p:blipFill>
        <p:spPr>
          <a:xfrm>
            <a:off x="5342839" y="4949647"/>
            <a:ext cx="241402" cy="241402"/>
          </a:xfrm>
          <a:prstGeom prst="rect">
            <a:avLst/>
          </a:prstGeom>
        </p:spPr>
      </p:pic>
      <p:sp>
        <p:nvSpPr>
          <p:cNvPr id="34" name="Text 26"/>
          <p:cNvSpPr txBox="1"/>
          <p:nvPr/>
        </p:nvSpPr>
        <p:spPr>
          <a:xfrm>
            <a:off x="5852160" y="4800600"/>
            <a:ext cx="2240280" cy="548640"/>
          </a:xfrm>
          <a:prstGeom prst="rect">
            <a:avLst/>
          </a:prstGeom>
          <a:noFill/>
          <a:ln/>
        </p:spPr>
        <p:txBody>
          <a:bodyPr wrap="square" lIns="0" tIns="0" rIns="0" bIns="0" rtlCol="0" anchor="ctr"/>
          <a:lstStyle/>
          <a:p>
            <a:pPr marL="0" indent="0">
              <a:buNone/>
            </a:pPr>
            <a:r>
              <a:rPr lang="en-US" sz="1500" b="1" dirty="0">
                <a:solidFill>
                  <a:schemeClr val="tx2"/>
                </a:solidFill>
              </a:rPr>
              <a:t>Nodos chicos</a:t>
            </a:r>
            <a:endParaRPr lang="en-US" sz="1500" dirty="0"/>
          </a:p>
        </p:txBody>
      </p:sp>
      <p:sp>
        <p:nvSpPr>
          <p:cNvPr id="35" name="Text 27"/>
          <p:cNvSpPr txBox="1"/>
          <p:nvPr/>
        </p:nvSpPr>
        <p:spPr>
          <a:xfrm>
            <a:off x="5212080" y="5394960"/>
            <a:ext cx="2834640" cy="502920"/>
          </a:xfrm>
          <a:prstGeom prst="rect">
            <a:avLst/>
          </a:prstGeom>
          <a:noFill/>
          <a:ln/>
        </p:spPr>
        <p:txBody>
          <a:bodyPr wrap="square" lIns="0" tIns="0" rIns="0" bIns="0" rtlCol="0" anchor="t"/>
          <a:lstStyle/>
          <a:p>
            <a:pPr marL="0" indent="0">
              <a:buNone/>
            </a:pPr>
            <a:r>
              <a:rPr lang="en-US" sz="1200" dirty="0">
                <a:solidFill>
                  <a:schemeClr val="tx1"/>
                </a:solidFill>
              </a:rPr>
              <a:t>399 de 847 nodos con menos de 5 alumnos.</a:t>
            </a:r>
            <a:endParaRPr lang="en-US" sz="1200" dirty="0"/>
          </a:p>
        </p:txBody>
      </p:sp>
      <p:sp>
        <p:nvSpPr>
          <p:cNvPr id="36" name="Shape 28"/>
          <p:cNvSpPr/>
          <p:nvPr/>
        </p:nvSpPr>
        <p:spPr>
          <a:xfrm>
            <a:off x="8366760" y="4617720"/>
            <a:ext cx="3154680" cy="1325880"/>
          </a:xfrm>
          <a:prstGeom prst="roundRect">
            <a:avLst>
              <a:gd name="adj" fmla="val 8276"/>
            </a:avLst>
          </a:prstGeom>
          <a:solidFill>
            <a:schemeClr val="bg1"/>
          </a:solidFill>
          <a:ln w="9525">
            <a:solidFill>
              <a:srgbClr val="CBD5E1"/>
            </a:solidFill>
            <a:prstDash val="solid"/>
          </a:ln>
          <a:effectLst>
            <a:outerShdw blurRad="101600" dist="25400" dir="5400000" algn="bl" rotWithShape="0">
              <a:srgbClr val="0B1F3A">
                <a:alpha val="12000"/>
              </a:srgbClr>
            </a:outerShdw>
          </a:effectLst>
        </p:spPr>
        <p:txBody>
          <a:bodyPr/>
          <a:lstStyle/>
          <a:p>
            <a:endParaRPr lang="es-AR"/>
          </a:p>
        </p:txBody>
      </p:sp>
      <p:sp>
        <p:nvSpPr>
          <p:cNvPr id="37" name="Shape 29"/>
          <p:cNvSpPr/>
          <p:nvPr/>
        </p:nvSpPr>
        <p:spPr>
          <a:xfrm>
            <a:off x="8549640" y="4818888"/>
            <a:ext cx="502920" cy="502920"/>
          </a:xfrm>
          <a:prstGeom prst="ellipse">
            <a:avLst/>
          </a:prstGeom>
          <a:solidFill>
            <a:schemeClr val="accent2"/>
          </a:solidFill>
          <a:ln/>
        </p:spPr>
        <p:txBody>
          <a:bodyPr/>
          <a:lstStyle/>
          <a:p>
            <a:endParaRPr lang="es-AR"/>
          </a:p>
        </p:txBody>
      </p:sp>
      <p:pic>
        <p:nvPicPr>
          <p:cNvPr id="38" name="Image 5" descr="preencoded.png"/>
          <p:cNvPicPr>
            <a:picLocks noChangeAspect="1"/>
          </p:cNvPicPr>
          <p:nvPr/>
        </p:nvPicPr>
        <p:blipFill>
          <a:blip r:embed="rId7"/>
          <a:stretch>
            <a:fillRect/>
          </a:stretch>
        </p:blipFill>
        <p:spPr>
          <a:xfrm>
            <a:off x="8680399" y="4949647"/>
            <a:ext cx="241402" cy="241402"/>
          </a:xfrm>
          <a:prstGeom prst="rect">
            <a:avLst/>
          </a:prstGeom>
        </p:spPr>
      </p:pic>
      <p:sp>
        <p:nvSpPr>
          <p:cNvPr id="39" name="Text 30"/>
          <p:cNvSpPr txBox="1"/>
          <p:nvPr/>
        </p:nvSpPr>
        <p:spPr>
          <a:xfrm>
            <a:off x="9189720" y="4800600"/>
            <a:ext cx="2240280" cy="548640"/>
          </a:xfrm>
          <a:prstGeom prst="rect">
            <a:avLst/>
          </a:prstGeom>
          <a:noFill/>
          <a:ln/>
        </p:spPr>
        <p:txBody>
          <a:bodyPr wrap="square" lIns="0" tIns="0" rIns="0" bIns="0" rtlCol="0" anchor="ctr"/>
          <a:lstStyle/>
          <a:p>
            <a:pPr marL="0" indent="0">
              <a:buNone/>
            </a:pPr>
            <a:r>
              <a:rPr lang="en-US" sz="1500" b="1" dirty="0">
                <a:solidFill>
                  <a:schemeClr val="tx2"/>
                </a:solidFill>
              </a:rPr>
              <a:t>Tareas mezcladas (D-03)</a:t>
            </a:r>
            <a:endParaRPr lang="en-US" sz="1500" dirty="0"/>
          </a:p>
        </p:txBody>
      </p:sp>
      <p:sp>
        <p:nvSpPr>
          <p:cNvPr id="40" name="Text 31"/>
          <p:cNvSpPr txBox="1"/>
          <p:nvPr/>
        </p:nvSpPr>
        <p:spPr>
          <a:xfrm>
            <a:off x="8549640" y="5394960"/>
            <a:ext cx="2834640" cy="502920"/>
          </a:xfrm>
          <a:prstGeom prst="rect">
            <a:avLst/>
          </a:prstGeom>
          <a:noFill/>
          <a:ln/>
        </p:spPr>
        <p:txBody>
          <a:bodyPr wrap="square" lIns="0" tIns="0" rIns="0" bIns="0" rtlCol="0" anchor="t"/>
          <a:lstStyle/>
          <a:p>
            <a:pPr marL="0" indent="0">
              <a:buNone/>
            </a:pPr>
            <a:r>
              <a:rPr lang="en-US" sz="1200" dirty="0">
                <a:solidFill>
                  <a:schemeClr val="tx1"/>
                </a:solidFill>
              </a:rPr>
              <a:t>Una sola variable: el dataset no las separa.</a:t>
            </a:r>
            <a:endParaRPr lang="en-US" sz="1200" dirty="0"/>
          </a:p>
        </p:txBody>
      </p:sp>
      <p:sp>
        <p:nvSpPr>
          <p:cNvPr id="4"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502920"/>
            <a:ext cx="10881360" cy="731520"/>
          </a:xfrm>
          <a:prstGeom prst="rect">
            <a:avLst/>
          </a:prstGeom>
          <a:noFill/>
          <a:ln/>
        </p:spPr>
        <p:txBody>
          <a:bodyPr wrap="square" lIns="0" tIns="0" rIns="0" bIns="0" rtlCol="0" anchor="t"/>
          <a:lstStyle/>
          <a:p>
            <a:pPr marL="0" indent="0" algn="l">
              <a:buNone/>
            </a:pPr>
            <a:r>
              <a:rPr lang="en-US" sz="3200" b="1" dirty="0" err="1">
                <a:solidFill>
                  <a:schemeClr val="bg1"/>
                </a:solidFill>
              </a:rPr>
              <a:t>Conclusiones</a:t>
            </a:r>
            <a:endParaRPr lang="en-US" sz="3200" dirty="0"/>
          </a:p>
        </p:txBody>
      </p:sp>
      <p:sp>
        <p:nvSpPr>
          <p:cNvPr id="3" name="Text 1"/>
          <p:cNvSpPr txBox="1"/>
          <p:nvPr/>
        </p:nvSpPr>
        <p:spPr>
          <a:xfrm>
            <a:off x="640080" y="274320"/>
            <a:ext cx="8229600" cy="256032"/>
          </a:xfrm>
          <a:prstGeom prst="rect">
            <a:avLst/>
          </a:prstGeom>
          <a:noFill/>
          <a:ln/>
        </p:spPr>
        <p:txBody>
          <a:bodyPr wrap="square" lIns="0" tIns="0" rIns="0" bIns="0" rtlCol="0" anchor="ctr"/>
          <a:lstStyle/>
          <a:p>
            <a:pPr marL="0" indent="0">
              <a:buNone/>
            </a:pPr>
            <a:r>
              <a:rPr lang="en-US" sz="1200" b="1" kern="0" spc="200" dirty="0">
                <a:solidFill>
                  <a:srgbClr val="5EEAD4"/>
                </a:solidFill>
              </a:rPr>
              <a:t>CIERRE</a:t>
            </a:r>
            <a:endParaRPr lang="en-US" sz="1200" dirty="0"/>
          </a:p>
        </p:txBody>
      </p:sp>
      <p:sp>
        <p:nvSpPr>
          <p:cNvPr id="5" name="Shape 2"/>
          <p:cNvSpPr/>
          <p:nvPr/>
        </p:nvSpPr>
        <p:spPr>
          <a:xfrm>
            <a:off x="640079" y="1554480"/>
            <a:ext cx="5665829" cy="3448841"/>
          </a:xfrm>
          <a:prstGeom prst="roundRect">
            <a:avLst>
              <a:gd name="adj" fmla="val 2449"/>
            </a:avLst>
          </a:prstGeom>
          <a:noFill/>
          <a:ln w="15875">
            <a:solidFill>
              <a:srgbClr val="5EEAD4"/>
            </a:solidFill>
            <a:prstDash val="solid"/>
          </a:ln>
        </p:spPr>
        <p:txBody>
          <a:bodyPr/>
          <a:lstStyle/>
          <a:p>
            <a:endParaRPr lang="es-AR"/>
          </a:p>
        </p:txBody>
      </p:sp>
      <p:sp>
        <p:nvSpPr>
          <p:cNvPr id="6" name="Text 3"/>
          <p:cNvSpPr txBox="1"/>
          <p:nvPr/>
        </p:nvSpPr>
        <p:spPr>
          <a:xfrm>
            <a:off x="960120" y="1783080"/>
            <a:ext cx="4663440" cy="457200"/>
          </a:xfrm>
          <a:prstGeom prst="rect">
            <a:avLst/>
          </a:prstGeom>
          <a:noFill/>
          <a:ln/>
        </p:spPr>
        <p:txBody>
          <a:bodyPr wrap="square" lIns="0" tIns="0" rIns="0" bIns="0" rtlCol="0" anchor="t"/>
          <a:lstStyle/>
          <a:p>
            <a:pPr marL="0" indent="0">
              <a:buNone/>
            </a:pPr>
            <a:r>
              <a:rPr lang="en-US" sz="2400" b="1" dirty="0">
                <a:solidFill>
                  <a:srgbClr val="5EEAD4"/>
                </a:solidFill>
              </a:rPr>
              <a:t>Conclusiones</a:t>
            </a:r>
            <a:endParaRPr lang="en-US" sz="2400" dirty="0"/>
          </a:p>
        </p:txBody>
      </p:sp>
      <p:sp>
        <p:nvSpPr>
          <p:cNvPr id="7" name="Text 4"/>
          <p:cNvSpPr txBox="1"/>
          <p:nvPr/>
        </p:nvSpPr>
        <p:spPr>
          <a:xfrm>
            <a:off x="960120" y="2468880"/>
            <a:ext cx="4663440" cy="3383280"/>
          </a:xfrm>
          <a:prstGeom prst="rect">
            <a:avLst/>
          </a:prstGeom>
          <a:noFill/>
          <a:ln/>
        </p:spPr>
        <p:txBody>
          <a:bodyPr wrap="square" lIns="0" tIns="0" rIns="0" bIns="0" rtlCol="0" anchor="t"/>
          <a:lstStyle/>
          <a:p>
            <a:pPr marL="342900" indent="-342900">
              <a:spcAft>
                <a:spcPts val="1200"/>
              </a:spcAft>
              <a:buSzPct val="100000"/>
              <a:buChar char="•"/>
            </a:pPr>
            <a:r>
              <a:rPr lang="en-US" sz="1700" dirty="0">
                <a:solidFill>
                  <a:srgbClr val="E2E8F0"/>
                </a:solidFill>
              </a:rPr>
              <a:t>El híbrido funciona: EM descubre perfiles y ART 1 los aprende en bits</a:t>
            </a:r>
            <a:endParaRPr lang="en-US" sz="1700" dirty="0"/>
          </a:p>
          <a:p>
            <a:pPr marL="342900" indent="-342900">
              <a:spcAft>
                <a:spcPts val="1200"/>
              </a:spcAft>
              <a:buSzPct val="100000"/>
              <a:buChar char="•"/>
            </a:pPr>
            <a:r>
              <a:rPr lang="en-US" sz="1700" dirty="0">
                <a:solidFill>
                  <a:srgbClr val="E2E8F0"/>
                </a:solidFill>
              </a:rPr>
              <a:t>Portable: K = 4 y ρ = 0,65 cumplen las metas en los dos datasets</a:t>
            </a:r>
            <a:endParaRPr lang="en-US" sz="1700" dirty="0"/>
          </a:p>
          <a:p>
            <a:pPr marL="342900" indent="-342900">
              <a:spcAft>
                <a:spcPts val="1200"/>
              </a:spcAft>
              <a:buSzPct val="100000"/>
              <a:buChar char="•"/>
            </a:pPr>
            <a:r>
              <a:rPr lang="en-US" sz="1700" dirty="0">
                <a:solidFill>
                  <a:srgbClr val="E2E8F0"/>
                </a:solidFill>
              </a:rPr>
              <a:t>Error menor a 1 punto y 30% mejor que la media (dataset 1)</a:t>
            </a:r>
            <a:endParaRPr lang="en-US" sz="1700" dirty="0"/>
          </a:p>
          <a:p>
            <a:pPr marL="342900" indent="-342900">
              <a:spcAft>
                <a:spcPts val="1200"/>
              </a:spcAft>
              <a:buSzPct val="100000"/>
              <a:buChar char="•"/>
            </a:pPr>
            <a:r>
              <a:rPr lang="en-US" sz="1700" dirty="0">
                <a:solidFill>
                  <a:srgbClr val="E2E8F0"/>
                </a:solidFill>
              </a:rPr>
              <a:t>Los límites vienen de ART 1: bits sin magnitud</a:t>
            </a:r>
            <a:endParaRPr lang="en-US" sz="17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4A3B8"/>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566928"/>
            <a:ext cx="10241280" cy="685800"/>
          </a:xfrm>
          <a:prstGeom prst="rect">
            <a:avLst/>
          </a:prstGeom>
          <a:noFill/>
          <a:ln/>
        </p:spPr>
        <p:txBody>
          <a:bodyPr wrap="square" lIns="0" tIns="0" rIns="0" bIns="0" rtlCol="0" anchor="t"/>
          <a:lstStyle/>
          <a:p>
            <a:pPr marL="0" indent="0" algn="l">
              <a:buNone/>
            </a:pPr>
            <a:r>
              <a:rPr lang="en-US" sz="3200" b="1" dirty="0">
                <a:solidFill>
                  <a:schemeClr val="tx2"/>
                </a:solidFill>
              </a:rPr>
              <a:t>Referencias</a:t>
            </a:r>
            <a:endParaRPr lang="en-US" sz="3200" dirty="0"/>
          </a:p>
        </p:txBody>
      </p:sp>
      <p:sp>
        <p:nvSpPr>
          <p:cNvPr id="4" name="Text 1"/>
          <p:cNvSpPr txBox="1"/>
          <p:nvPr/>
        </p:nvSpPr>
        <p:spPr>
          <a:xfrm>
            <a:off x="548640" y="1554480"/>
            <a:ext cx="11064240" cy="4663440"/>
          </a:xfrm>
          <a:prstGeom prst="rect">
            <a:avLst/>
          </a:prstGeom>
          <a:noFill/>
          <a:ln/>
        </p:spPr>
        <p:txBody>
          <a:bodyPr wrap="square" lIns="0" tIns="0" rIns="0" bIns="0" rtlCol="0" anchor="t"/>
          <a:lstStyle/>
          <a:p>
            <a:pPr marL="0" indent="0">
              <a:spcAft>
                <a:spcPts val="1000"/>
              </a:spcAft>
              <a:buNone/>
            </a:pPr>
            <a:r>
              <a:rPr lang="en-US" sz="1600" dirty="0">
                <a:solidFill>
                  <a:schemeClr val="tx1"/>
                </a:solidFill>
              </a:rPr>
              <a:t>Carpenter, G. A., &amp; Grossberg, S. (1987). A massively parallel architecture for a self-organizing neural pattern recognition machine. Computer Vision, Graphics, and Image Processing, 37(1), 54–115.</a:t>
            </a:r>
            <a:endParaRPr lang="en-US" sz="1600" dirty="0"/>
          </a:p>
          <a:p>
            <a:pPr marL="0" indent="0">
              <a:spcAft>
                <a:spcPts val="1000"/>
              </a:spcAft>
              <a:buNone/>
            </a:pPr>
            <a:r>
              <a:rPr lang="en-US" sz="1600" dirty="0">
                <a:solidFill>
                  <a:schemeClr val="tx1"/>
                </a:solidFill>
              </a:rPr>
              <a:t>Lau, C. (Ed.). (1992). Neural Networks: Theoretical Foundations and Analysis. IEEE Press. Red Carpenter-Grossberg (Box 3), pp. 5–14.</a:t>
            </a:r>
            <a:endParaRPr lang="en-US" sz="1600" dirty="0"/>
          </a:p>
          <a:p>
            <a:pPr marL="0" indent="0">
              <a:spcAft>
                <a:spcPts val="1000"/>
              </a:spcAft>
              <a:buNone/>
            </a:pPr>
            <a:r>
              <a:rPr lang="en-US" sz="1600" dirty="0">
                <a:solidFill>
                  <a:schemeClr val="tx1"/>
                </a:solidFill>
              </a:rPr>
              <a:t>Dempster, A. P., Laird, N. M., &amp; Rubin, D. B. (1977). Maximum likelihood from incomplete data via the EM algorithm. JRSS Series B, 39(1), 1–38.</a:t>
            </a:r>
            <a:endParaRPr lang="en-US" sz="1600" dirty="0"/>
          </a:p>
          <a:p>
            <a:pPr marL="0" indent="0">
              <a:spcAft>
                <a:spcPts val="1000"/>
              </a:spcAft>
              <a:buNone/>
            </a:pPr>
            <a:r>
              <a:rPr lang="en-US" sz="1600" dirty="0">
                <a:solidFill>
                  <a:schemeClr val="tx1"/>
                </a:solidFill>
              </a:rPr>
              <a:t>Schwarz, G. (1978). Estimating the dimension of a model. The Annals of Statistics, 6(2), 461–464.</a:t>
            </a:r>
            <a:endParaRPr lang="en-US" sz="1600" dirty="0"/>
          </a:p>
          <a:p>
            <a:pPr marL="0" indent="0">
              <a:spcAft>
                <a:spcPts val="1000"/>
              </a:spcAft>
              <a:buNone/>
            </a:pPr>
            <a:r>
              <a:rPr lang="en-US" sz="1600" dirty="0">
                <a:solidFill>
                  <a:schemeClr val="tx1"/>
                </a:solidFill>
              </a:rPr>
              <a:t>Akaike, H. (1974). A new look at the statistical model identification. IEEE Transactions on Automatic Control, 19(6), 716–723.</a:t>
            </a:r>
            <a:endParaRPr lang="en-US" sz="1600" dirty="0"/>
          </a:p>
          <a:p>
            <a:pPr marL="0" indent="0">
              <a:spcAft>
                <a:spcPts val="1000"/>
              </a:spcAft>
              <a:buNone/>
            </a:pPr>
            <a:r>
              <a:rPr lang="en-US" sz="1600" dirty="0">
                <a:solidFill>
                  <a:schemeClr val="tx1"/>
                </a:solidFill>
              </a:rPr>
              <a:t>Rousseeuw, P. J. (1987). Silhouettes: a graphical aid to the interpretation and validation of cluster analysis. J. Comput. Appl. Math., 20, 53–65.</a:t>
            </a:r>
            <a:endParaRPr lang="en-US" sz="1600" dirty="0"/>
          </a:p>
          <a:p>
            <a:pPr marL="0" indent="0">
              <a:spcAft>
                <a:spcPts val="1000"/>
              </a:spcAft>
              <a:buNone/>
            </a:pPr>
            <a:r>
              <a:rPr lang="en-US" sz="1600" dirty="0">
                <a:solidFill>
                  <a:schemeClr val="tx1"/>
                </a:solidFill>
              </a:rPr>
              <a:t>Pedregosa, F., et al. (2011). Scikit-learn: Machine Learning in Python. JMLR, 12, 2825–2830.</a:t>
            </a:r>
            <a:endParaRPr lang="en-US" sz="1600" dirty="0"/>
          </a:p>
          <a:p>
            <a:pPr marL="0" indent="0">
              <a:spcAft>
                <a:spcPts val="1000"/>
              </a:spcAft>
              <a:buNone/>
            </a:pPr>
            <a:r>
              <a:rPr lang="en-US" sz="1600" dirty="0">
                <a:solidFill>
                  <a:schemeClr val="tx1"/>
                </a:solidFill>
              </a:rPr>
              <a:t>Lai Nguyen (2024). Student Performance Factors [dataset]. Kaggle.</a:t>
            </a:r>
            <a:endParaRPr lang="en-US" sz="16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64748B"/>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640080" y="1874520"/>
            <a:ext cx="6035040" cy="2103120"/>
          </a:xfrm>
          <a:prstGeom prst="rect">
            <a:avLst/>
          </a:prstGeom>
          <a:noFill/>
          <a:ln/>
        </p:spPr>
        <p:txBody>
          <a:bodyPr wrap="square" lIns="0" tIns="0" rIns="0" bIns="0" rtlCol="0" anchor="t"/>
          <a:lstStyle/>
          <a:p>
            <a:pPr marL="0" indent="0" algn="l">
              <a:buNone/>
            </a:pPr>
            <a:r>
              <a:rPr lang="en-US" sz="4200" b="1" dirty="0">
                <a:solidFill>
                  <a:schemeClr val="bg1"/>
                </a:solidFill>
              </a:rPr>
              <a:t>¡Gracias! ¿Preguntas?</a:t>
            </a:r>
            <a:endParaRPr lang="en-US" sz="4200" dirty="0"/>
          </a:p>
        </p:txBody>
      </p:sp>
      <p:sp>
        <p:nvSpPr>
          <p:cNvPr id="4" name="Text 1"/>
          <p:cNvSpPr txBox="1"/>
          <p:nvPr/>
        </p:nvSpPr>
        <p:spPr>
          <a:xfrm>
            <a:off x="640080" y="3291840"/>
            <a:ext cx="6400800" cy="365760"/>
          </a:xfrm>
          <a:prstGeom prst="rect">
            <a:avLst/>
          </a:prstGeom>
          <a:noFill/>
          <a:ln/>
        </p:spPr>
        <p:txBody>
          <a:bodyPr wrap="square" lIns="0" tIns="0" rIns="0" bIns="0" rtlCol="0" anchor="t"/>
          <a:lstStyle/>
          <a:p>
            <a:pPr marL="0" indent="0">
              <a:buNone/>
            </a:pPr>
            <a:r>
              <a:rPr lang="en-US" sz="1800" dirty="0">
                <a:solidFill>
                  <a:srgbClr val="CBD5E1"/>
                </a:solidFill>
              </a:rPr>
              <a:t>Predictor híbrido EM + ART 1 · TFI Inteligencia Artificial</a:t>
            </a:r>
            <a:endParaRPr lang="en-US" sz="1800" dirty="0"/>
          </a:p>
        </p:txBody>
      </p:sp>
      <p:sp>
        <p:nvSpPr>
          <p:cNvPr id="5" name="Text 2"/>
          <p:cNvSpPr txBox="1"/>
          <p:nvPr/>
        </p:nvSpPr>
        <p:spPr>
          <a:xfrm>
            <a:off x="640080" y="3749040"/>
            <a:ext cx="6400800" cy="365760"/>
          </a:xfrm>
          <a:prstGeom prst="rect">
            <a:avLst/>
          </a:prstGeom>
          <a:noFill/>
          <a:ln/>
        </p:spPr>
        <p:txBody>
          <a:bodyPr wrap="square" lIns="0" tIns="0" rIns="0" bIns="0" rtlCol="0" anchor="t"/>
          <a:lstStyle/>
          <a:p>
            <a:pPr marL="0" indent="0">
              <a:buNone/>
            </a:pPr>
            <a:r>
              <a:rPr lang="en-US" sz="1400" dirty="0">
                <a:solidFill>
                  <a:srgbClr val="5EEAD4"/>
                </a:solidFill>
              </a:rPr>
              <a:t>Código: github.com/juan-mrtn/tfi-ia-prediccion-examenes</a:t>
            </a:r>
            <a:endParaRPr lang="en-US" sz="1400" dirty="0"/>
          </a:p>
        </p:txBody>
      </p:sp>
    </p:spTree>
  </p:cSld>
  <p:clrMapOvr>
    <a:masterClrMapping/>
  </p:clrMapOvr>
</p:sld>
</file>

<file path=ppt/theme/theme1.xml><?xml version="1.0" encoding="utf-8"?>
<a:theme xmlns:a="http://schemas.openxmlformats.org/drawingml/2006/main" name="TFI Red Neuronal">
  <a:themeElements>
    <a:clrScheme name="TFI Red Neuronal">
      <a:dk1>
        <a:srgbClr val="1E293B"/>
      </a:dk1>
      <a:lt1>
        <a:srgbClr val="FFFFFF"/>
      </a:lt1>
      <a:dk2>
        <a:srgbClr val="0B1F3A"/>
      </a:dk2>
      <a:lt2>
        <a:srgbClr val="EEF3F9"/>
      </a:lt2>
      <a:accent1>
        <a:srgbClr val="0EA5A4"/>
      </a:accent1>
      <a:accent2>
        <a:srgbClr val="F59E0B"/>
      </a:accent2>
      <a:accent3>
        <a:srgbClr val="6366F1"/>
      </a:accent3>
      <a:accent4>
        <a:srgbClr val="E5484D"/>
      </a:accent4>
      <a:accent5>
        <a:srgbClr val="16A34A"/>
      </a:accent5>
      <a:accent6>
        <a:srgbClr val="2563EB"/>
      </a:accent6>
      <a:hlink>
        <a:srgbClr val="2563EB"/>
      </a:hlink>
      <a:folHlink>
        <a:srgbClr val="6366F1"/>
      </a:folHlink>
    </a:clrScheme>
    <a:fontScheme name="TFI Red Neuronal">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21</TotalTime>
  <Words>5197</Words>
  <Application>Microsoft Office PowerPoint</Application>
  <PresentationFormat>Widescreen</PresentationFormat>
  <Paragraphs>401</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Arial</vt:lpstr>
      <vt:lpstr>Calibri</vt:lpstr>
      <vt:lpstr>Cambria</vt:lpstr>
      <vt:lpstr>Courier New</vt:lpstr>
      <vt:lpstr>TFI Red Neuronal</vt:lpstr>
      <vt:lpstr>Predictor híbrido EM + ART 1 del próximo examen</vt:lpstr>
      <vt:lpstr>Hoja de ruta</vt:lpstr>
      <vt:lpstr>ART 1: una red que aprende sin olvidar</vt:lpstr>
      <vt:lpstr>Cómo aprende: el algoritmo del Box 3 (Lau, 1992)</vt:lpstr>
      <vt:lpstr>Características y para qué se usa</vt:lpstr>
      <vt:lpstr>Pros, contras y limitaciones</vt:lpstr>
      <vt:lpstr>ART 1 frente a otras redes</vt:lpstr>
      <vt:lpstr>Qué predice nuestro sistema</vt:lpstr>
      <vt:lpstr>Dos datasets, la misma configuración</vt:lpstr>
      <vt:lpstr>Arquitectura: siete etapas en un pipeline</vt:lpstr>
      <vt:lpstr>Decisiones que tomamos</vt:lpstr>
      <vt:lpstr>EM: descubrir cuatro perfiles de alumnos</vt:lpstr>
      <vt:lpstr>Codificador: de números a 20 bits</vt:lpstr>
      <vt:lpstr>ART 1 en nuestro sistema</vt:lpstr>
      <vt:lpstr>El parámetro de vigilancia ρ: por qué 0,65</vt:lpstr>
      <vt:lpstr>Manual rápido: CLI y app visual</vt:lpstr>
      <vt:lpstr>Demo en vivo</vt:lpstr>
      <vt:lpstr>Resultados: aprende más que las referencias</vt:lpstr>
      <vt:lpstr>Alcance y limitaciones</vt:lpstr>
      <vt:lpstr>Conclusiones</vt:lpstr>
      <vt:lpstr>Referencias</vt:lpstr>
      <vt:lpstr>¡Gracias! ¿Preguntas?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Predictor híbrido EM + ART 1 del próximo examen</dc:title>
  <dc:subject>Trabajo Final Integrador · Inteligencia Artificial</dc:subject>
  <dc:creator>Equipo TFI · UADER FCyT</dc:creator>
  <cp:lastModifiedBy>Juan Acuña</cp:lastModifiedBy>
  <cp:revision>2</cp:revision>
  <dcterms:created xsi:type="dcterms:W3CDTF">2026-10-29T21:41:05Z</dcterms:created>
  <dcterms:modified xsi:type="dcterms:W3CDTF">2026-10-29T22:05:35Z</dcterms:modified>
</cp:coreProperties>
</file>